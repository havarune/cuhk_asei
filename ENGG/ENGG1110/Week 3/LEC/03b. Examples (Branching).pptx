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97" r:id="rId3"/>
    <p:sldId id="299" r:id="rId4"/>
    <p:sldId id="298" r:id="rId5"/>
    <p:sldId id="294" r:id="rId6"/>
    <p:sldId id="295" r:id="rId7"/>
    <p:sldId id="296" r:id="rId8"/>
    <p:sldId id="300" r:id="rId9"/>
    <p:sldId id="288" r:id="rId10"/>
    <p:sldId id="289" r:id="rId11"/>
    <p:sldId id="290" r:id="rId12"/>
    <p:sldId id="291" r:id="rId13"/>
  </p:sldIdLst>
  <p:sldSz cx="9144000" cy="6858000" type="screen4x3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3187" autoAdjust="0"/>
    <p:restoredTop sz="59633" autoAdjust="0"/>
  </p:normalViewPr>
  <p:slideViewPr>
    <p:cSldViewPr>
      <p:cViewPr varScale="1">
        <p:scale>
          <a:sx n="69" d="100"/>
          <a:sy n="69" d="100"/>
        </p:scale>
        <p:origin x="3594" y="78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-4770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Hui (IEG)" userId="S::kyhui@cuhk.edu.hk::07728535-8fdc-4325-b24f-20cc4d58a3a3" providerId="AD" clId="Web-{537C599E-3904-C1B5-B6CB-5B1B960E73C4}"/>
    <pc:docChg chg="modSld">
      <pc:chgData name="William Hui (IEG)" userId="S::kyhui@cuhk.edu.hk::07728535-8fdc-4325-b24f-20cc4d58a3a3" providerId="AD" clId="Web-{537C599E-3904-C1B5-B6CB-5B1B960E73C4}" dt="2019-08-24T10:22:45.474" v="1" actId="20577"/>
      <pc:docMkLst>
        <pc:docMk/>
      </pc:docMkLst>
      <pc:sldChg chg="modSp">
        <pc:chgData name="William Hui (IEG)" userId="S::kyhui@cuhk.edu.hk::07728535-8fdc-4325-b24f-20cc4d58a3a3" providerId="AD" clId="Web-{537C599E-3904-C1B5-B6CB-5B1B960E73C4}" dt="2019-08-24T10:22:45.474" v="1" actId="20577"/>
        <pc:sldMkLst>
          <pc:docMk/>
          <pc:sldMk cId="3559631930" sldId="298"/>
        </pc:sldMkLst>
        <pc:spChg chg="mod">
          <ac:chgData name="William Hui (IEG)" userId="S::kyhui@cuhk.edu.hk::07728535-8fdc-4325-b24f-20cc4d58a3a3" providerId="AD" clId="Web-{537C599E-3904-C1B5-B6CB-5B1B960E73C4}" dt="2019-08-24T10:22:45.474" v="1" actId="20577"/>
          <ac:spMkLst>
            <pc:docMk/>
            <pc:sldMk cId="3559631930" sldId="298"/>
            <ac:spMk id="22532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E8D06A93-B794-6C88-83C4-C770830B7FEC}"/>
    <pc:docChg chg="modSld">
      <pc:chgData name="William Hui (IEG)" userId="S::kyhui@cuhk.edu.hk::07728535-8fdc-4325-b24f-20cc4d58a3a3" providerId="AD" clId="Web-{E8D06A93-B794-6C88-83C4-C770830B7FEC}" dt="2019-08-23T14:08:06.965" v="4" actId="20577"/>
      <pc:docMkLst>
        <pc:docMk/>
      </pc:docMkLst>
      <pc:sldChg chg="modSp">
        <pc:chgData name="William Hui (IEG)" userId="S::kyhui@cuhk.edu.hk::07728535-8fdc-4325-b24f-20cc4d58a3a3" providerId="AD" clId="Web-{E8D06A93-B794-6C88-83C4-C770830B7FEC}" dt="2019-08-23T14:08:06.793" v="2" actId="20577"/>
        <pc:sldMkLst>
          <pc:docMk/>
          <pc:sldMk cId="1529351138" sldId="297"/>
        </pc:sldMkLst>
        <pc:spChg chg="mod">
          <ac:chgData name="William Hui (IEG)" userId="S::kyhui@cuhk.edu.hk::07728535-8fdc-4325-b24f-20cc4d58a3a3" providerId="AD" clId="Web-{E8D06A93-B794-6C88-83C4-C770830B7FEC}" dt="2019-08-23T14:08:06.793" v="2" actId="20577"/>
          <ac:spMkLst>
            <pc:docMk/>
            <pc:sldMk cId="1529351138" sldId="297"/>
            <ac:spMk id="2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FC3FF0B6-0E96-D43E-35E2-9D5E04EE11F3}"/>
    <pc:docChg chg="modSld">
      <pc:chgData name="William Hui (IEG)" userId="S::kyhui@cuhk.edu.hk::07728535-8fdc-4325-b24f-20cc4d58a3a3" providerId="AD" clId="Web-{FC3FF0B6-0E96-D43E-35E2-9D5E04EE11F3}" dt="2019-08-23T08:01:36.115" v="16" actId="20577"/>
      <pc:docMkLst>
        <pc:docMk/>
      </pc:docMkLst>
      <pc:sldChg chg="modSp">
        <pc:chgData name="William Hui (IEG)" userId="S::kyhui@cuhk.edu.hk::07728535-8fdc-4325-b24f-20cc4d58a3a3" providerId="AD" clId="Web-{FC3FF0B6-0E96-D43E-35E2-9D5E04EE11F3}" dt="2019-08-23T08:01:36.115" v="16" actId="20577"/>
        <pc:sldMkLst>
          <pc:docMk/>
          <pc:sldMk cId="2898673084" sldId="289"/>
        </pc:sldMkLst>
        <pc:spChg chg="mod">
          <ac:chgData name="William Hui (IEG)" userId="S::kyhui@cuhk.edu.hk::07728535-8fdc-4325-b24f-20cc4d58a3a3" providerId="AD" clId="Web-{FC3FF0B6-0E96-D43E-35E2-9D5E04EE11F3}" dt="2019-08-23T08:01:36.115" v="16" actId="20577"/>
          <ac:spMkLst>
            <pc:docMk/>
            <pc:sldMk cId="2898673084" sldId="289"/>
            <ac:spMk id="31748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FC3FF0B6-0E96-D43E-35E2-9D5E04EE11F3}" dt="2019-08-23T08:01:05.630" v="5" actId="20577"/>
        <pc:sldMkLst>
          <pc:docMk/>
          <pc:sldMk cId="3792615375" sldId="296"/>
        </pc:sldMkLst>
        <pc:spChg chg="mod">
          <ac:chgData name="William Hui (IEG)" userId="S::kyhui@cuhk.edu.hk::07728535-8fdc-4325-b24f-20cc4d58a3a3" providerId="AD" clId="Web-{FC3FF0B6-0E96-D43E-35E2-9D5E04EE11F3}" dt="2019-08-23T08:01:05.630" v="5" actId="20577"/>
          <ac:spMkLst>
            <pc:docMk/>
            <pc:sldMk cId="3792615375" sldId="296"/>
            <ac:spMk id="23556" creationId="{00000000-0000-0000-0000-000000000000}"/>
          </ac:spMkLst>
        </pc:spChg>
      </pc:sldChg>
    </pc:docChg>
  </pc:docChgLst>
  <pc:docChgLst>
    <pc:chgData name="Chuck jee Chau (CSD)" userId="7aa7a09e-983f-4214-9e5a-071cbb678e81" providerId="ADAL" clId="{42431C93-4FF5-374B-BC94-A3F7C4F8EC98}"/>
    <pc:docChg chg="undo redo custSel modSld">
      <pc:chgData name="Chuck jee Chau (CSD)" userId="7aa7a09e-983f-4214-9e5a-071cbb678e81" providerId="ADAL" clId="{42431C93-4FF5-374B-BC94-A3F7C4F8EC98}" dt="2019-09-07T10:15:36.377" v="165" actId="20577"/>
      <pc:docMkLst>
        <pc:docMk/>
      </pc:docMkLst>
      <pc:sldChg chg="modSp">
        <pc:chgData name="Chuck jee Chau (CSD)" userId="7aa7a09e-983f-4214-9e5a-071cbb678e81" providerId="ADAL" clId="{42431C93-4FF5-374B-BC94-A3F7C4F8EC98}" dt="2019-09-07T10:06:39.808" v="0" actId="20577"/>
        <pc:sldMkLst>
          <pc:docMk/>
          <pc:sldMk cId="0" sldId="256"/>
        </pc:sldMkLst>
        <pc:spChg chg="mod">
          <ac:chgData name="Chuck jee Chau (CSD)" userId="7aa7a09e-983f-4214-9e5a-071cbb678e81" providerId="ADAL" clId="{42431C93-4FF5-374B-BC94-A3F7C4F8EC98}" dt="2019-09-07T10:06:39.808" v="0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Chuck jee Chau (CSD)" userId="7aa7a09e-983f-4214-9e5a-071cbb678e81" providerId="ADAL" clId="{42431C93-4FF5-374B-BC94-A3F7C4F8EC98}" dt="2019-09-07T10:12:06.055" v="93" actId="20577"/>
        <pc:sldMkLst>
          <pc:docMk/>
          <pc:sldMk cId="324670354" sldId="288"/>
        </pc:sldMkLst>
        <pc:spChg chg="mod">
          <ac:chgData name="Chuck jee Chau (CSD)" userId="7aa7a09e-983f-4214-9e5a-071cbb678e81" providerId="ADAL" clId="{42431C93-4FF5-374B-BC94-A3F7C4F8EC98}" dt="2019-09-07T10:12:06.055" v="93" actId="20577"/>
          <ac:spMkLst>
            <pc:docMk/>
            <pc:sldMk cId="324670354" sldId="288"/>
            <ac:spMk id="30724" creationId="{00000000-0000-0000-0000-000000000000}"/>
          </ac:spMkLst>
        </pc:spChg>
      </pc:sldChg>
      <pc:sldChg chg="modSp">
        <pc:chgData name="Chuck jee Chau (CSD)" userId="7aa7a09e-983f-4214-9e5a-071cbb678e81" providerId="ADAL" clId="{42431C93-4FF5-374B-BC94-A3F7C4F8EC98}" dt="2019-09-07T10:15:33.981" v="164" actId="20577"/>
        <pc:sldMkLst>
          <pc:docMk/>
          <pc:sldMk cId="2898673084" sldId="289"/>
        </pc:sldMkLst>
        <pc:spChg chg="mod">
          <ac:chgData name="Chuck jee Chau (CSD)" userId="7aa7a09e-983f-4214-9e5a-071cbb678e81" providerId="ADAL" clId="{42431C93-4FF5-374B-BC94-A3F7C4F8EC98}" dt="2019-09-07T10:15:33.981" v="164" actId="20577"/>
          <ac:spMkLst>
            <pc:docMk/>
            <pc:sldMk cId="2898673084" sldId="289"/>
            <ac:spMk id="31747" creationId="{00000000-0000-0000-0000-000000000000}"/>
          </ac:spMkLst>
        </pc:spChg>
      </pc:sldChg>
      <pc:sldChg chg="modSp">
        <pc:chgData name="Chuck jee Chau (CSD)" userId="7aa7a09e-983f-4214-9e5a-071cbb678e81" providerId="ADAL" clId="{42431C93-4FF5-374B-BC94-A3F7C4F8EC98}" dt="2019-09-07T10:15:36.377" v="165" actId="20577"/>
        <pc:sldMkLst>
          <pc:docMk/>
          <pc:sldMk cId="1460705981" sldId="290"/>
        </pc:sldMkLst>
        <pc:spChg chg="mod">
          <ac:chgData name="Chuck jee Chau (CSD)" userId="7aa7a09e-983f-4214-9e5a-071cbb678e81" providerId="ADAL" clId="{42431C93-4FF5-374B-BC94-A3F7C4F8EC98}" dt="2019-09-07T10:14:28.280" v="158" actId="20577"/>
          <ac:spMkLst>
            <pc:docMk/>
            <pc:sldMk cId="1460705981" sldId="290"/>
            <ac:spMk id="9" creationId="{00000000-0000-0000-0000-000000000000}"/>
          </ac:spMkLst>
        </pc:spChg>
        <pc:spChg chg="mod">
          <ac:chgData name="Chuck jee Chau (CSD)" userId="7aa7a09e-983f-4214-9e5a-071cbb678e81" providerId="ADAL" clId="{42431C93-4FF5-374B-BC94-A3F7C4F8EC98}" dt="2019-09-07T10:15:36.377" v="165" actId="20577"/>
          <ac:spMkLst>
            <pc:docMk/>
            <pc:sldMk cId="1460705981" sldId="290"/>
            <ac:spMk id="32771" creationId="{00000000-0000-0000-0000-000000000000}"/>
          </ac:spMkLst>
        </pc:spChg>
      </pc:sldChg>
      <pc:sldChg chg="modSp">
        <pc:chgData name="Chuck jee Chau (CSD)" userId="7aa7a09e-983f-4214-9e5a-071cbb678e81" providerId="ADAL" clId="{42431C93-4FF5-374B-BC94-A3F7C4F8EC98}" dt="2019-09-07T10:14:52.108" v="163" actId="20577"/>
        <pc:sldMkLst>
          <pc:docMk/>
          <pc:sldMk cId="3506324765" sldId="291"/>
        </pc:sldMkLst>
        <pc:spChg chg="mod">
          <ac:chgData name="Chuck jee Chau (CSD)" userId="7aa7a09e-983f-4214-9e5a-071cbb678e81" providerId="ADAL" clId="{42431C93-4FF5-374B-BC94-A3F7C4F8EC98}" dt="2019-09-07T10:14:52.108" v="163" actId="20577"/>
          <ac:spMkLst>
            <pc:docMk/>
            <pc:sldMk cId="3506324765" sldId="291"/>
            <ac:spMk id="33796" creationId="{00000000-0000-0000-0000-000000000000}"/>
          </ac:spMkLst>
        </pc:spChg>
      </pc:sldChg>
      <pc:sldChg chg="modSp">
        <pc:chgData name="Chuck jee Chau (CSD)" userId="7aa7a09e-983f-4214-9e5a-071cbb678e81" providerId="ADAL" clId="{42431C93-4FF5-374B-BC94-A3F7C4F8EC98}" dt="2019-09-07T10:12:39.279" v="95" actId="403"/>
        <pc:sldMkLst>
          <pc:docMk/>
          <pc:sldMk cId="19202591" sldId="294"/>
        </pc:sldMkLst>
        <pc:spChg chg="mod">
          <ac:chgData name="Chuck jee Chau (CSD)" userId="7aa7a09e-983f-4214-9e5a-071cbb678e81" providerId="ADAL" clId="{42431C93-4FF5-374B-BC94-A3F7C4F8EC98}" dt="2019-09-07T10:12:39.279" v="95" actId="403"/>
          <ac:spMkLst>
            <pc:docMk/>
            <pc:sldMk cId="19202591" sldId="294"/>
            <ac:spMk id="21507" creationId="{00000000-0000-0000-0000-000000000000}"/>
          </ac:spMkLst>
        </pc:spChg>
        <pc:spChg chg="mod">
          <ac:chgData name="Chuck jee Chau (CSD)" userId="7aa7a09e-983f-4214-9e5a-071cbb678e81" providerId="ADAL" clId="{42431C93-4FF5-374B-BC94-A3F7C4F8EC98}" dt="2019-09-07T10:09:44.650" v="53" actId="20577"/>
          <ac:spMkLst>
            <pc:docMk/>
            <pc:sldMk cId="19202591" sldId="294"/>
            <ac:spMk id="21508" creationId="{00000000-0000-0000-0000-000000000000}"/>
          </ac:spMkLst>
        </pc:spChg>
      </pc:sldChg>
      <pc:sldChg chg="modSp">
        <pc:chgData name="Chuck jee Chau (CSD)" userId="7aa7a09e-983f-4214-9e5a-071cbb678e81" providerId="ADAL" clId="{42431C93-4FF5-374B-BC94-A3F7C4F8EC98}" dt="2019-09-07T10:10:24.343" v="58" actId="20577"/>
        <pc:sldMkLst>
          <pc:docMk/>
          <pc:sldMk cId="3792615375" sldId="296"/>
        </pc:sldMkLst>
        <pc:spChg chg="mod">
          <ac:chgData name="Chuck jee Chau (CSD)" userId="7aa7a09e-983f-4214-9e5a-071cbb678e81" providerId="ADAL" clId="{42431C93-4FF5-374B-BC94-A3F7C4F8EC98}" dt="2019-09-07T10:10:24.343" v="58" actId="20577"/>
          <ac:spMkLst>
            <pc:docMk/>
            <pc:sldMk cId="3792615375" sldId="296"/>
            <ac:spMk id="23556" creationId="{00000000-0000-0000-0000-000000000000}"/>
          </ac:spMkLst>
        </pc:spChg>
      </pc:sldChg>
      <pc:sldChg chg="modSp">
        <pc:chgData name="Chuck jee Chau (CSD)" userId="7aa7a09e-983f-4214-9e5a-071cbb678e81" providerId="ADAL" clId="{42431C93-4FF5-374B-BC94-A3F7C4F8EC98}" dt="2019-09-07T10:07:07.731" v="15" actId="20577"/>
        <pc:sldMkLst>
          <pc:docMk/>
          <pc:sldMk cId="1529351138" sldId="297"/>
        </pc:sldMkLst>
        <pc:spChg chg="mod">
          <ac:chgData name="Chuck jee Chau (CSD)" userId="7aa7a09e-983f-4214-9e5a-071cbb678e81" providerId="ADAL" clId="{42431C93-4FF5-374B-BC94-A3F7C4F8EC98}" dt="2019-09-07T10:07:07.731" v="15" actId="20577"/>
          <ac:spMkLst>
            <pc:docMk/>
            <pc:sldMk cId="1529351138" sldId="297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42431C93-4FF5-374B-BC94-A3F7C4F8EC98}" dt="2019-09-07T10:08:44.845" v="31" actId="20577"/>
        <pc:sldMkLst>
          <pc:docMk/>
          <pc:sldMk cId="3559631930" sldId="298"/>
        </pc:sldMkLst>
        <pc:spChg chg="mod">
          <ac:chgData name="Chuck jee Chau (CSD)" userId="7aa7a09e-983f-4214-9e5a-071cbb678e81" providerId="ADAL" clId="{42431C93-4FF5-374B-BC94-A3F7C4F8EC98}" dt="2019-09-07T10:08:13.792" v="25" actId="2711"/>
          <ac:spMkLst>
            <pc:docMk/>
            <pc:sldMk cId="3559631930" sldId="298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42431C93-4FF5-374B-BC94-A3F7C4F8EC98}" dt="2019-09-07T10:08:44.845" v="31" actId="20577"/>
          <ac:spMkLst>
            <pc:docMk/>
            <pc:sldMk cId="3559631930" sldId="298"/>
            <ac:spMk id="22532" creationId="{00000000-0000-0000-0000-000000000000}"/>
          </ac:spMkLst>
        </pc:spChg>
      </pc:sldChg>
      <pc:sldChg chg="modSp">
        <pc:chgData name="Chuck jee Chau (CSD)" userId="7aa7a09e-983f-4214-9e5a-071cbb678e81" providerId="ADAL" clId="{42431C93-4FF5-374B-BC94-A3F7C4F8EC98}" dt="2019-09-07T10:12:33.223" v="94" actId="403"/>
        <pc:sldMkLst>
          <pc:docMk/>
          <pc:sldMk cId="2533165902" sldId="299"/>
        </pc:sldMkLst>
        <pc:spChg chg="mod">
          <ac:chgData name="Chuck jee Chau (CSD)" userId="7aa7a09e-983f-4214-9e5a-071cbb678e81" providerId="ADAL" clId="{42431C93-4FF5-374B-BC94-A3F7C4F8EC98}" dt="2019-09-07T10:12:33.223" v="94" actId="403"/>
          <ac:spMkLst>
            <pc:docMk/>
            <pc:sldMk cId="2533165902" sldId="299"/>
            <ac:spMk id="21507" creationId="{00000000-0000-0000-0000-000000000000}"/>
          </ac:spMkLst>
        </pc:spChg>
      </pc:sldChg>
      <pc:sldChg chg="modSp">
        <pc:chgData name="Chuck jee Chau (CSD)" userId="7aa7a09e-983f-4214-9e5a-071cbb678e81" providerId="ADAL" clId="{42431C93-4FF5-374B-BC94-A3F7C4F8EC98}" dt="2019-09-07T10:11:04.728" v="62" actId="113"/>
        <pc:sldMkLst>
          <pc:docMk/>
          <pc:sldMk cId="1859073869" sldId="300"/>
        </pc:sldMkLst>
        <pc:spChg chg="mod">
          <ac:chgData name="Chuck jee Chau (CSD)" userId="7aa7a09e-983f-4214-9e5a-071cbb678e81" providerId="ADAL" clId="{42431C93-4FF5-374B-BC94-A3F7C4F8EC98}" dt="2019-09-07T10:10:47.054" v="59" actId="20577"/>
          <ac:spMkLst>
            <pc:docMk/>
            <pc:sldMk cId="1859073869" sldId="300"/>
            <ac:spMk id="30723" creationId="{00000000-0000-0000-0000-000000000000}"/>
          </ac:spMkLst>
        </pc:spChg>
        <pc:spChg chg="mod">
          <ac:chgData name="Chuck jee Chau (CSD)" userId="7aa7a09e-983f-4214-9e5a-071cbb678e81" providerId="ADAL" clId="{42431C93-4FF5-374B-BC94-A3F7C4F8EC98}" dt="2019-09-07T10:11:04.728" v="62" actId="113"/>
          <ac:spMkLst>
            <pc:docMk/>
            <pc:sldMk cId="1859073869" sldId="300"/>
            <ac:spMk id="3072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2023-01-26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2023-01-26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14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18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03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20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98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24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32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57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032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91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52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382000" cy="1470025"/>
          </a:xfrm>
        </p:spPr>
        <p:txBody>
          <a:bodyPr>
            <a:normAutofit/>
          </a:bodyPr>
          <a:lstStyle/>
          <a:p>
            <a:r>
              <a:rPr lang="en-US" b="1" dirty="0"/>
              <a:t>Examples</a:t>
            </a:r>
            <a:br>
              <a:rPr lang="en-US" b="1" dirty="0"/>
            </a:br>
            <a:r>
              <a:rPr lang="en-US" b="1" dirty="0" smtClean="0"/>
              <a:t>using </a:t>
            </a:r>
            <a:r>
              <a:rPr lang="en-US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if-else</a:t>
            </a:r>
            <a:endParaRPr lang="en-US" altLang="zh-TW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Example 1: </a:t>
            </a:r>
            <a:r>
              <a:rPr lang="en-US" dirty="0" smtClean="0"/>
              <a:t>Computing the square root</a:t>
            </a:r>
            <a:endParaRPr lang="en-US" dirty="0"/>
          </a:p>
          <a:p>
            <a:endParaRPr lang="en-US" b="1" dirty="0"/>
          </a:p>
          <a:p>
            <a:r>
              <a:rPr lang="en-US" b="1" dirty="0" smtClean="0"/>
              <a:t>Example 2</a:t>
            </a:r>
            <a:r>
              <a:rPr lang="en-US" dirty="0" smtClean="0"/>
              <a:t>: Finding the number of real roots of a quadratic equation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smtClean="0"/>
              <a:t>Example 3</a:t>
            </a:r>
            <a:r>
              <a:rPr lang="en-US" dirty="0" smtClean="0"/>
              <a:t>: Outputting three numbers in a non-descending order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5113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FC9AF29-6558-42F2-9959-8C49E1C8CDCB}" type="slidenum">
              <a:rPr lang="zh-TW" altLang="en-US" b="0" smtClean="0"/>
              <a:pPr/>
              <a:t>3</a:t>
            </a:fld>
            <a:endParaRPr lang="en-US" altLang="zh-TW" b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65100"/>
            <a:ext cx="86106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b="1" dirty="0" smtClean="0">
                <a:ea typeface="新細明體" pitchFamily="18" charset="-120"/>
              </a:rPr>
              <a:t>Example 1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75" y="1066799"/>
            <a:ext cx="8526463" cy="543401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b="1" dirty="0">
                <a:ea typeface="新細明體" pitchFamily="18" charset="-120"/>
              </a:rPr>
              <a:t>Objective</a:t>
            </a:r>
            <a:r>
              <a:rPr lang="en-US" altLang="zh-TW" sz="2800" b="1" dirty="0" smtClean="0">
                <a:ea typeface="新細明體" pitchFamily="18" charset="-120"/>
              </a:rPr>
              <a:t>:</a:t>
            </a:r>
            <a:r>
              <a:rPr lang="en-US" altLang="zh-TW" sz="2800" dirty="0" smtClean="0">
                <a:ea typeface="新細明體" pitchFamily="18" charset="-120"/>
              </a:rPr>
              <a:t> To write a program to output the square root of a number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 smtClean="0">
                <a:ea typeface="新細明體" pitchFamily="18" charset="-120"/>
                <a:sym typeface="Wingdings" pitchFamily="2" charset="2"/>
              </a:rPr>
              <a:t>This example illustrates also how to use a pre-defined function to compute the square root of a number</a:t>
            </a:r>
            <a:r>
              <a:rPr lang="en-US" altLang="zh-TW" sz="2800" dirty="0">
                <a:ea typeface="新細明體" pitchFamily="18" charset="-120"/>
                <a:sym typeface="Wingdings" pitchFamily="2" charset="2"/>
              </a:rPr>
              <a:t>.</a:t>
            </a:r>
            <a:endParaRPr lang="en-US" altLang="zh-TW" sz="2400" dirty="0">
              <a:ea typeface="新細明體" pitchFamily="18" charset="-120"/>
              <a:sym typeface="Wingdings" pitchFamily="2" charset="2"/>
            </a:endParaRPr>
          </a:p>
          <a:p>
            <a:pPr lvl="1" eaLnBrk="1" hangingPunct="1"/>
            <a:endParaRPr lang="en-US" altLang="zh-TW" sz="24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3316590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ED4B686-00EA-4C38-8A2C-77A86B82115D}" type="slidenum">
              <a:rPr lang="zh-TW" altLang="en-US" b="0" smtClean="0"/>
              <a:pPr/>
              <a:t>4</a:t>
            </a:fld>
            <a:endParaRPr lang="en-US" altLang="zh-TW" b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498475"/>
          </a:xfrm>
        </p:spPr>
        <p:txBody>
          <a:bodyPr>
            <a:noAutofit/>
          </a:bodyPr>
          <a:lstStyle/>
          <a:p>
            <a:r>
              <a:rPr lang="en-US" altLang="zh-TW" sz="4000" dirty="0" smtClean="0">
                <a:ea typeface="新細明體" pitchFamily="18" charset="-120"/>
              </a:rPr>
              <a:t>Example 1: Solution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732682"/>
            <a:ext cx="8682037" cy="551571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</a:t>
            </a:r>
            <a:r>
              <a:rPr lang="en-US" altLang="zh-TW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include &lt;</a:t>
            </a:r>
            <a:r>
              <a:rPr lang="en-US" altLang="zh-TW" b="0" dirty="0" err="1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stdio.h</a:t>
            </a:r>
            <a:r>
              <a:rPr lang="en-US" altLang="zh-TW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339933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#</a:t>
            </a:r>
            <a:r>
              <a:rPr lang="en-US" altLang="zh-TW" b="0" dirty="0" smtClean="0">
                <a:solidFill>
                  <a:srgbClr val="339933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include &lt;</a:t>
            </a:r>
            <a:r>
              <a:rPr lang="en-US" altLang="zh-TW" b="0" dirty="0" err="1">
                <a:solidFill>
                  <a:srgbClr val="339933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math.h</a:t>
            </a:r>
            <a:r>
              <a:rPr lang="en-US" altLang="zh-TW" b="0" dirty="0" smtClean="0">
                <a:solidFill>
                  <a:srgbClr val="339933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&gt; </a:t>
            </a:r>
            <a:r>
              <a:rPr lang="en-US" altLang="zh-TW" b="0" dirty="0" smtClean="0">
                <a:solidFill>
                  <a:srgbClr val="339933"/>
                </a:solidFill>
                <a:latin typeface="Consolas"/>
                <a:ea typeface="新細明體"/>
                <a:cs typeface="Consolas" panose="020B0609020204030204" pitchFamily="49" charset="0"/>
              </a:rPr>
              <a:t>            </a:t>
            </a:r>
            <a:r>
              <a:rPr lang="en-US" altLang="zh-TW" dirty="0" smtClean="0">
                <a:solidFill>
                  <a:srgbClr val="339933"/>
                </a:solidFill>
                <a:latin typeface="Consolas"/>
                <a:ea typeface="新細明體"/>
                <a:cs typeface="Consolas" panose="020B0609020204030204" pitchFamily="49" charset="0"/>
              </a:rPr>
              <a:t>// You need this line to use </a:t>
            </a:r>
            <a:r>
              <a:rPr lang="en-US" altLang="zh-TW" dirty="0" err="1" smtClean="0">
                <a:solidFill>
                  <a:srgbClr val="339933"/>
                </a:solidFill>
                <a:latin typeface="Consolas"/>
                <a:ea typeface="新細明體"/>
                <a:cs typeface="Consolas" panose="020B0609020204030204" pitchFamily="49" charset="0"/>
              </a:rPr>
              <a:t>sqrt</a:t>
            </a:r>
            <a:r>
              <a:rPr lang="en-US" altLang="zh-TW" dirty="0">
                <a:solidFill>
                  <a:srgbClr val="339933"/>
                </a:solidFill>
                <a:latin typeface="Consolas"/>
                <a:ea typeface="新細明體"/>
                <a:cs typeface="Consolas" panose="020B0609020204030204" pitchFamily="49" charset="0"/>
              </a:rPr>
              <a:t>()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main(</a:t>
            </a:r>
            <a:r>
              <a:rPr lang="en-US" altLang="zh-TW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    double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, result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"%lf</a:t>
            </a:r>
            <a:r>
              <a:rPr lang="en-US" altLang="zh-TW" b="0" dirty="0" smtClean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, &amp;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num);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if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&gt;= </a:t>
            </a:r>
            <a:r>
              <a:rPr lang="en-US" altLang="zh-TW" b="0" dirty="0" smtClean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  <a:endParaRPr lang="en-US" altLang="zh-TW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       result = </a:t>
            </a:r>
            <a:r>
              <a:rPr lang="en-US" altLang="zh-TW" dirty="0" err="1" smtClean="0">
                <a:solidFill>
                  <a:srgbClr val="FF0000"/>
                </a:solidFill>
                <a:latin typeface="Consolas"/>
                <a:ea typeface="新細明體"/>
                <a:cs typeface="Consolas" panose="020B0609020204030204" pitchFamily="49" charset="0"/>
              </a:rPr>
              <a:t>sqrt</a:t>
            </a:r>
            <a:r>
              <a:rPr lang="en-US" altLang="zh-TW" dirty="0" smtClean="0">
                <a:solidFill>
                  <a:srgbClr val="FF000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dirty="0">
                <a:solidFill>
                  <a:srgbClr val="FF0000"/>
                </a:solidFill>
                <a:latin typeface="Consolas"/>
                <a:ea typeface="新細明體"/>
                <a:cs typeface="Consolas" panose="020B0609020204030204" pitchFamily="49" charset="0"/>
              </a:rPr>
              <a:t>)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      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</a:t>
            </a:r>
            <a:r>
              <a:rPr lang="en-US" altLang="zh-TW" b="0" dirty="0" smtClean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The square root of %.4f is %.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4f.\n</a:t>
            </a:r>
            <a:r>
              <a:rPr lang="en-US" altLang="zh-TW" b="0" dirty="0" smtClean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, result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Can't compute square root for negative number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.\n"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741363"/>
            <a:ext cx="461963" cy="55070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18</a:t>
            </a:r>
          </a:p>
        </p:txBody>
      </p:sp>
      <p:sp>
        <p:nvSpPr>
          <p:cNvPr id="7" name="Rectangle 23"/>
          <p:cNvSpPr txBox="1">
            <a:spLocks noChangeArrowheads="1"/>
          </p:cNvSpPr>
          <p:nvPr/>
        </p:nvSpPr>
        <p:spPr bwMode="auto">
          <a:xfrm>
            <a:off x="4724401" y="1981200"/>
            <a:ext cx="4114800" cy="16002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>
              <a:spcBef>
                <a:spcPct val="0"/>
              </a:spcBef>
              <a:defRPr kumimoji="1" sz="2000" i="1">
                <a:ea typeface="新細明體" pitchFamily="18" charset="-120"/>
                <a:cs typeface="Times New Roman" pitchFamily="18" charset="0"/>
              </a:defRPr>
            </a:lvl1pPr>
          </a:lstStyle>
          <a:p>
            <a:r>
              <a:rPr lang="en-US" altLang="zh-TW" sz="2800" b="1" i="0" dirty="0" err="1">
                <a:latin typeface="Consolas" panose="020B0609020204030204" pitchFamily="49" charset="0"/>
                <a:cs typeface="Consolas" panose="020B0609020204030204" pitchFamily="49" charset="0"/>
              </a:rPr>
              <a:t>sqrt</a:t>
            </a:r>
            <a:r>
              <a:rPr lang="en-US" altLang="zh-TW" sz="2800" b="1" i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sz="2800" i="0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altLang="zh-TW" sz="2800" b="1" i="0" dirty="0" smtClean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zh-TW" sz="2800" i="0" dirty="0" smtClean="0"/>
              <a:t> computes the square root of </a:t>
            </a:r>
            <a:r>
              <a:rPr lang="en-US" altLang="zh-TW" sz="2800" i="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altLang="zh-TW" sz="2800" i="0" dirty="0" smtClean="0"/>
              <a:t> and yields the result as a value of type </a:t>
            </a:r>
            <a:r>
              <a:rPr lang="en-US" altLang="zh-TW" sz="2800" i="0" dirty="0" smtClean="0"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altLang="zh-TW" sz="2800" i="0" dirty="0"/>
              <a:t>.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3810000" y="2781300"/>
            <a:ext cx="914401" cy="70924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63193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FC9AF29-6558-42F2-9959-8C49E1C8CDCB}" type="slidenum">
              <a:rPr lang="zh-TW" altLang="en-US" b="0" smtClean="0"/>
              <a:pPr/>
              <a:t>5</a:t>
            </a:fld>
            <a:endParaRPr lang="en-US" altLang="zh-TW" b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65100"/>
            <a:ext cx="86106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b="1" dirty="0" smtClean="0">
                <a:ea typeface="新細明體" pitchFamily="18" charset="-120"/>
              </a:rPr>
              <a:t>Example 2</a:t>
            </a:r>
            <a:endParaRPr lang="en-US" altLang="zh-TW" sz="4000" dirty="0"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8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69875" y="1066799"/>
                <a:ext cx="8526463" cy="5434013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zh-TW" sz="2800" b="1" dirty="0">
                    <a:ea typeface="新細明體" pitchFamily="18" charset="-120"/>
                  </a:rPr>
                  <a:t>Objective</a:t>
                </a:r>
                <a:r>
                  <a:rPr lang="en-US" altLang="zh-TW" sz="2800" b="1" dirty="0" smtClean="0">
                    <a:ea typeface="新細明體" pitchFamily="18" charset="-120"/>
                  </a:rPr>
                  <a:t>:</a:t>
                </a:r>
                <a:r>
                  <a:rPr lang="en-US" altLang="zh-TW" sz="2800" dirty="0" smtClean="0">
                    <a:ea typeface="新細明體" pitchFamily="18" charset="-120"/>
                  </a:rPr>
                  <a:t> Write the code segment to output the number of real number solutions of a quadratic equation in the form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新細明體" pitchFamily="18" charset="-120"/>
                      </a:rPr>
                      <m:t>𝑎</m:t>
                    </m:r>
                    <m:sSup>
                      <m:sSup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𝑥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2</m:t>
                        </m:r>
                      </m:sup>
                    </m:sSup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新細明體" pitchFamily="18" charset="-120"/>
                      </a:rPr>
                      <m:t>+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新細明體" pitchFamily="18" charset="-120"/>
                      </a:rPr>
                      <m:t>𝑏𝑥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新細明體" pitchFamily="18" charset="-120"/>
                      </a:rPr>
                      <m:t>+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新細明體" pitchFamily="18" charset="-120"/>
                      </a:rPr>
                      <m:t>𝑐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新細明體" pitchFamily="18" charset="-120"/>
                      </a:rPr>
                      <m:t>=0</m:t>
                    </m:r>
                  </m:oMath>
                </a14:m>
                <a:r>
                  <a:rPr lang="en-US" altLang="zh-TW" sz="2800" dirty="0" smtClean="0">
                    <a:ea typeface="新細明體" pitchFamily="18" charset="-120"/>
                  </a:rPr>
                  <a:t>. The code will read </a:t>
                </a:r>
                <a:r>
                  <a:rPr lang="en-US" altLang="zh-TW" sz="2800" i="1" dirty="0" smtClean="0">
                    <a:latin typeface="Times New Roman" pitchFamily="18" charset="0"/>
                    <a:ea typeface="新細明體" pitchFamily="18" charset="-120"/>
                  </a:rPr>
                  <a:t>a</a:t>
                </a:r>
                <a:r>
                  <a:rPr lang="en-US" altLang="zh-TW" sz="2800" dirty="0" smtClean="0">
                    <a:ea typeface="新細明體" pitchFamily="18" charset="-120"/>
                  </a:rPr>
                  <a:t>, </a:t>
                </a:r>
                <a:r>
                  <a:rPr lang="en-US" altLang="zh-TW" sz="2800" i="1" dirty="0" smtClean="0">
                    <a:latin typeface="Times New Roman" pitchFamily="18" charset="0"/>
                    <a:ea typeface="新細明體" pitchFamily="18" charset="-120"/>
                  </a:rPr>
                  <a:t>b</a:t>
                </a:r>
                <a:r>
                  <a:rPr lang="en-US" altLang="zh-TW" sz="2800" dirty="0" smtClean="0">
                    <a:ea typeface="新細明體" pitchFamily="18" charset="-120"/>
                  </a:rPr>
                  <a:t>, and </a:t>
                </a:r>
                <a:r>
                  <a:rPr lang="en-US" altLang="zh-TW" sz="2800" i="1" dirty="0" smtClean="0">
                    <a:latin typeface="Times New Roman" pitchFamily="18" charset="0"/>
                    <a:ea typeface="新細明體" pitchFamily="18" charset="-120"/>
                  </a:rPr>
                  <a:t>c </a:t>
                </a:r>
                <a:r>
                  <a:rPr lang="en-US" altLang="zh-TW" sz="2800" dirty="0" smtClean="0">
                    <a:ea typeface="新細明體" pitchFamily="18" charset="-120"/>
                  </a:rPr>
                  <a:t>from the user. We assume </a:t>
                </a:r>
                <a:r>
                  <a:rPr lang="en-US" altLang="zh-TW" sz="2800" i="1" dirty="0" smtClean="0">
                    <a:latin typeface="Times New Roman" pitchFamily="18" charset="0"/>
                    <a:ea typeface="新細明體" pitchFamily="18" charset="-120"/>
                  </a:rPr>
                  <a:t>a ≠ </a:t>
                </a:r>
                <a:r>
                  <a:rPr lang="en-US" altLang="zh-TW" sz="2800" dirty="0" smtClean="0">
                    <a:latin typeface="Times New Roman" pitchFamily="18" charset="0"/>
                    <a:ea typeface="新細明體" pitchFamily="18" charset="-120"/>
                  </a:rPr>
                  <a:t>0</a:t>
                </a:r>
                <a:r>
                  <a:rPr lang="en-US" altLang="zh-TW" sz="2800" dirty="0">
                    <a:latin typeface="Times New Roman" pitchFamily="18" charset="0"/>
                    <a:ea typeface="新細明體" pitchFamily="18" charset="-120"/>
                  </a:rPr>
                  <a:t>.</a:t>
                </a:r>
                <a:endParaRPr lang="en-US" altLang="zh-TW" sz="2800" dirty="0">
                  <a:ea typeface="新細明體" pitchFamily="18" charset="-120"/>
                </a:endParaRPr>
              </a:p>
              <a:p>
                <a:pPr eaLnBrk="1" hangingPunct="1"/>
                <a:endParaRPr lang="en-US" altLang="zh-TW" sz="2800" dirty="0">
                  <a:ea typeface="新細明體" pitchFamily="18" charset="-120"/>
                </a:endParaRPr>
              </a:p>
              <a:p>
                <a:pPr eaLnBrk="1" hangingPunct="1"/>
                <a:r>
                  <a:rPr lang="en-US" altLang="zh-TW" sz="2800" b="1" dirty="0">
                    <a:ea typeface="新細明體" pitchFamily="18" charset="-120"/>
                  </a:rPr>
                  <a:t>Approach:</a:t>
                </a:r>
              </a:p>
              <a:p>
                <a:pPr lvl="1" eaLnBrk="1" hangingPunct="1"/>
                <a:r>
                  <a:rPr lang="en-US" altLang="zh-TW" sz="2400" dirty="0" smtClean="0">
                    <a:ea typeface="新細明體" pitchFamily="18" charset="-120"/>
                    <a:sym typeface="Wingdings" pitchFamily="2" charset="2"/>
                  </a:rPr>
                  <a:t>Compute discriminant as </a:t>
                </a:r>
                <a:r>
                  <a:rPr lang="en-US" altLang="zh-TW" sz="2400" i="1" dirty="0" smtClean="0">
                    <a:latin typeface="Times New Roman" pitchFamily="18" charset="0"/>
                    <a:ea typeface="新細明體" pitchFamily="18" charset="-120"/>
                    <a:sym typeface="Wingdings" pitchFamily="2" charset="2"/>
                  </a:rPr>
                  <a:t>b</a:t>
                </a:r>
                <a:r>
                  <a:rPr lang="en-US" altLang="zh-TW" sz="2400" baseline="30000" dirty="0" smtClean="0">
                    <a:latin typeface="Times New Roman" pitchFamily="18" charset="0"/>
                    <a:ea typeface="新細明體" pitchFamily="18" charset="-120"/>
                    <a:sym typeface="Wingdings" pitchFamily="2" charset="2"/>
                  </a:rPr>
                  <a:t>2</a:t>
                </a:r>
                <a:r>
                  <a:rPr lang="en-US" altLang="zh-TW" sz="2400" i="1" dirty="0" smtClean="0">
                    <a:latin typeface="Times New Roman" pitchFamily="18" charset="0"/>
                    <a:ea typeface="新細明體" pitchFamily="18" charset="-120"/>
                    <a:sym typeface="Wingdings" pitchFamily="2" charset="2"/>
                  </a:rPr>
                  <a:t> - </a:t>
                </a:r>
                <a:r>
                  <a:rPr lang="en-US" altLang="zh-TW" sz="2400" dirty="0" smtClean="0">
                    <a:latin typeface="Times New Roman" pitchFamily="18" charset="0"/>
                    <a:ea typeface="新細明體" pitchFamily="18" charset="-120"/>
                    <a:sym typeface="Wingdings" pitchFamily="2" charset="2"/>
                  </a:rPr>
                  <a:t>4</a:t>
                </a:r>
                <a:r>
                  <a:rPr lang="en-US" altLang="zh-TW" sz="2400" i="1" dirty="0" smtClean="0">
                    <a:latin typeface="Times New Roman" pitchFamily="18" charset="0"/>
                    <a:ea typeface="新細明體" pitchFamily="18" charset="-120"/>
                    <a:sym typeface="Wingdings" pitchFamily="2" charset="2"/>
                  </a:rPr>
                  <a:t>ac</a:t>
                </a:r>
                <a:endParaRPr lang="en-US" altLang="zh-TW" sz="2400" i="1" dirty="0">
                  <a:latin typeface="Times New Roman" pitchFamily="18" charset="0"/>
                  <a:ea typeface="新細明體" pitchFamily="18" charset="-120"/>
                  <a:sym typeface="Wingdings" pitchFamily="2" charset="2"/>
                </a:endParaRPr>
              </a:p>
              <a:p>
                <a:pPr lvl="1" eaLnBrk="1" hangingPunct="1"/>
                <a:r>
                  <a:rPr lang="en-US" altLang="zh-TW" sz="2400" dirty="0" smtClean="0">
                    <a:ea typeface="新細明體" pitchFamily="18" charset="-120"/>
                    <a:sym typeface="Wingdings" pitchFamily="2" charset="2"/>
                  </a:rPr>
                  <a:t>discriminant &gt; 0  2 real number solutions</a:t>
                </a:r>
                <a:endParaRPr lang="en-US" altLang="zh-TW" sz="2400" dirty="0">
                  <a:ea typeface="新細明體" pitchFamily="18" charset="-120"/>
                  <a:sym typeface="Wingdings" pitchFamily="2" charset="2"/>
                </a:endParaRPr>
              </a:p>
              <a:p>
                <a:pPr lvl="1" eaLnBrk="1" hangingPunct="1"/>
                <a:r>
                  <a:rPr lang="en-US" altLang="zh-TW" sz="2400" dirty="0" smtClean="0">
                    <a:ea typeface="新細明體" pitchFamily="18" charset="-120"/>
                    <a:sym typeface="Wingdings" pitchFamily="2" charset="2"/>
                  </a:rPr>
                  <a:t>discriminant = 0  1 real number solution</a:t>
                </a:r>
                <a:endParaRPr lang="en-US" altLang="zh-TW" sz="2400" dirty="0">
                  <a:ea typeface="新細明體" pitchFamily="18" charset="-120"/>
                  <a:sym typeface="Wingdings" pitchFamily="2" charset="2"/>
                </a:endParaRPr>
              </a:p>
              <a:p>
                <a:pPr lvl="1" eaLnBrk="1" hangingPunct="1"/>
                <a:r>
                  <a:rPr lang="en-US" altLang="zh-TW" sz="2400" dirty="0" smtClean="0">
                    <a:ea typeface="新細明體" pitchFamily="18" charset="-120"/>
                    <a:sym typeface="Wingdings" pitchFamily="2" charset="2"/>
                  </a:rPr>
                  <a:t>discriminant &lt; 0  0 real number solutions</a:t>
                </a:r>
                <a:endParaRPr lang="en-US" altLang="zh-TW" sz="2400" dirty="0">
                  <a:ea typeface="新細明體" pitchFamily="18" charset="-120"/>
                  <a:sym typeface="Wingdings" pitchFamily="2" charset="2"/>
                </a:endParaRPr>
              </a:p>
              <a:p>
                <a:pPr lvl="1" eaLnBrk="1" hangingPunct="1"/>
                <a:endParaRPr lang="en-US" altLang="zh-TW" sz="2400" dirty="0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150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69875" y="1066799"/>
                <a:ext cx="8526463" cy="5434013"/>
              </a:xfrm>
              <a:blipFill>
                <a:blip r:embed="rId3"/>
                <a:stretch>
                  <a:fillRect l="-1287" t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0259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ED4B686-00EA-4C38-8A2C-77A86B82115D}" type="slidenum">
              <a:rPr lang="zh-TW" altLang="en-US" b="0" smtClean="0"/>
              <a:pPr/>
              <a:t>6</a:t>
            </a:fld>
            <a:endParaRPr lang="en-US" altLang="zh-TW" b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461963" y="165100"/>
            <a:ext cx="8229600" cy="498475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dirty="0" smtClean="0">
                <a:ea typeface="新細明體" pitchFamily="18" charset="-120"/>
              </a:rPr>
              <a:t>Example 2: Solution #</a:t>
            </a:r>
            <a:r>
              <a:rPr lang="en-US" altLang="zh-TW" sz="4000" dirty="0">
                <a:ea typeface="新細明體" pitchFamily="18" charset="-120"/>
              </a:rPr>
              <a:t>1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732682"/>
            <a:ext cx="8682037" cy="4876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a, b, c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				</a:t>
            </a: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To store the coefficients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lf%lf%lf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(b * b – 4 * a * c &gt; 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"# of real number solutions: 2\n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(b * b – 4 * a * c == 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"# of real number solutions: 1\n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(b * b – 4 * a * c &lt; 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"# of real number solutions: 0\n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741363"/>
            <a:ext cx="461963" cy="4876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</p:txBody>
      </p:sp>
      <p:sp>
        <p:nvSpPr>
          <p:cNvPr id="9" name="Rectangle 23"/>
          <p:cNvSpPr txBox="1">
            <a:spLocks noChangeArrowheads="1"/>
          </p:cNvSpPr>
          <p:nvPr/>
        </p:nvSpPr>
        <p:spPr bwMode="auto">
          <a:xfrm>
            <a:off x="457200" y="5694363"/>
            <a:ext cx="8229600" cy="998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altLang="zh-TW" sz="2800" b="0" kern="0" dirty="0">
              <a:latin typeface="+mn-lt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965143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000B055F-8DB4-432A-94E1-F73315860A94}" type="slidenum">
              <a:rPr lang="zh-TW" altLang="en-US" b="0" smtClean="0"/>
              <a:pPr/>
              <a:t>7</a:t>
            </a:fld>
            <a:endParaRPr lang="en-US" altLang="zh-TW" b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61963" y="165100"/>
            <a:ext cx="8229600" cy="498475"/>
          </a:xfrm>
        </p:spPr>
        <p:txBody>
          <a:bodyPr>
            <a:noAutofit/>
          </a:bodyPr>
          <a:lstStyle/>
          <a:p>
            <a:r>
              <a:rPr lang="en-US" altLang="zh-TW" sz="4000" dirty="0" smtClean="0">
                <a:ea typeface="新細明體" pitchFamily="18" charset="-120"/>
              </a:rPr>
              <a:t>Example 2: Solution #</a:t>
            </a:r>
            <a:r>
              <a:rPr lang="en-US" altLang="zh-TW" sz="4000" dirty="0">
                <a:ea typeface="新細明體" pitchFamily="18" charset="-120"/>
              </a:rPr>
              <a:t>2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461963" y="741363"/>
            <a:ext cx="8682037" cy="545306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a, b, c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			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The coefficients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 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dis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	</a:t>
            </a: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The discriminant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 smtClean="0">
                <a:latin typeface="Consolas"/>
                <a:ea typeface="新細明體"/>
                <a:cs typeface="Consolas" panose="020B0609020204030204" pitchFamily="49" charset="0"/>
              </a:rPr>
              <a:t>sol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	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	</a:t>
            </a:r>
            <a:r>
              <a:rPr lang="en-US" altLang="zh-TW" sz="2000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             </a:t>
            </a:r>
            <a:r>
              <a:rPr lang="en-US" altLang="zh-TW" sz="2000" b="0" dirty="0" smtClean="0">
                <a:solidFill>
                  <a:srgbClr val="339933"/>
                </a:solidFill>
                <a:latin typeface="Consolas"/>
                <a:ea typeface="新細明體"/>
                <a:cs typeface="Consolas" panose="020B0609020204030204" pitchFamily="49" charset="0"/>
              </a:rPr>
              <a:t>// # of real number solutions</a:t>
            </a:r>
            <a:endParaRPr lang="en-US" altLang="zh-TW" sz="2000" b="0" dirty="0">
              <a:solidFill>
                <a:srgbClr val="339933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lf%lf%lf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sz="2000" b="0" dirty="0" smtClean="0">
                <a:latin typeface="Consolas"/>
                <a:ea typeface="新細明體"/>
                <a:cs typeface="Consolas" panose="020B0609020204030204" pitchFamily="49" charset="0"/>
              </a:rPr>
              <a:t>&amp;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a</a:t>
            </a:r>
            <a:r>
              <a:rPr lang="en-US" altLang="zh-TW" sz="2000" b="0" dirty="0" smtClean="0">
                <a:latin typeface="Consolas"/>
                <a:ea typeface="新細明體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b</a:t>
            </a:r>
            <a:r>
              <a:rPr lang="en-US" altLang="zh-TW" sz="2000" b="0" dirty="0" smtClean="0">
                <a:latin typeface="Consolas"/>
                <a:ea typeface="新細明體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c);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dis = b * b – 4 * a * c;  </a:t>
            </a: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Compute discriminant only once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(dis &gt; 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sol = 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else if</a:t>
            </a:r>
            <a:r>
              <a:rPr lang="en-US" altLang="zh-TW" sz="2000" b="0" dirty="0" smtClean="0">
                <a:latin typeface="Consolas"/>
                <a:ea typeface="新細明體"/>
                <a:cs typeface="Consolas" panose="020B0609020204030204" pitchFamily="49" charset="0"/>
              </a:rPr>
              <a:t> (dis == 0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sol = 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        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</a:t>
            </a: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Otherwise dis &lt; 0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sol = 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"# of real number solutions: %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d\n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sol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0" y="741363"/>
            <a:ext cx="461963" cy="545306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79261537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1D83C41-7877-4B8A-8BDC-24780E7BD308}" type="slidenum">
              <a:rPr lang="zh-TW" altLang="en-US" b="0" smtClean="0"/>
              <a:pPr/>
              <a:t>8</a:t>
            </a:fld>
            <a:endParaRPr lang="en-US" altLang="zh-TW" b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65100"/>
            <a:ext cx="86868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dirty="0" smtClean="0">
                <a:ea typeface="新細明體" pitchFamily="18" charset="-120"/>
              </a:rPr>
              <a:t>Notes about Example 2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75" y="1066799"/>
            <a:ext cx="8526463" cy="5181601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  <a:defRPr/>
            </a:pPr>
            <a:r>
              <a:rPr lang="en-US" altLang="zh-TW" sz="2800" kern="0" dirty="0" smtClean="0">
                <a:ea typeface="新細明體" pitchFamily="18" charset="-120"/>
              </a:rPr>
              <a:t>In solution #</a:t>
            </a:r>
            <a:r>
              <a:rPr lang="en-US" altLang="zh-TW" sz="2800" kern="0" dirty="0">
                <a:ea typeface="新細明體" pitchFamily="18" charset="-120"/>
              </a:rPr>
              <a:t>2</a:t>
            </a:r>
            <a:r>
              <a:rPr lang="en-US" altLang="zh-TW" sz="2800" kern="0" dirty="0" smtClean="0">
                <a:ea typeface="新細明體" pitchFamily="18" charset="-120"/>
              </a:rPr>
              <a:t>, </a:t>
            </a:r>
            <a:r>
              <a:rPr lang="en-US" altLang="zh-TW" sz="2800" b="1" kern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b*b-4*a*c</a:t>
            </a:r>
            <a:r>
              <a:rPr lang="en-US" altLang="zh-TW" sz="2800" kern="0" dirty="0" smtClean="0">
                <a:ea typeface="新細明體" pitchFamily="18" charset="-120"/>
              </a:rPr>
              <a:t> is only evaluated once, and thus the amount of computation is reduced</a:t>
            </a:r>
            <a:r>
              <a:rPr lang="en-US" altLang="zh-TW" sz="2800" kern="0" dirty="0">
                <a:ea typeface="新細明體" pitchFamily="18" charset="-120"/>
              </a:rPr>
              <a:t>.</a:t>
            </a:r>
          </a:p>
          <a:p>
            <a:pPr>
              <a:buClr>
                <a:schemeClr val="accent1"/>
              </a:buClr>
              <a:defRPr/>
            </a:pPr>
            <a:endParaRPr lang="en-US" altLang="zh-TW" sz="2800" kern="0" dirty="0">
              <a:ea typeface="新細明體" pitchFamily="18" charset="-120"/>
            </a:endParaRPr>
          </a:p>
          <a:p>
            <a:pPr>
              <a:buClr>
                <a:schemeClr val="accent1"/>
              </a:buClr>
              <a:defRPr/>
            </a:pPr>
            <a:r>
              <a:rPr lang="en-US" altLang="zh-TW" sz="2800" kern="0" dirty="0" smtClean="0">
                <a:ea typeface="新細明體" pitchFamily="18" charset="-120"/>
              </a:rPr>
              <a:t>Solution #2 uses one </a:t>
            </a:r>
            <a:r>
              <a:rPr lang="en-US" altLang="zh-TW" sz="2800" kern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800" kern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 sz="2800" kern="0" dirty="0" smtClean="0">
                <a:ea typeface="新細明體" pitchFamily="18" charset="-120"/>
              </a:rPr>
              <a:t> to output the result. The advantage is, if we need to change the output format, we only need to change one </a:t>
            </a:r>
            <a:r>
              <a:rPr lang="en-US" altLang="zh-TW" sz="2800" kern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800" kern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 sz="2800" kern="0" dirty="0" smtClean="0">
                <a:ea typeface="新細明體" pitchFamily="18" charset="-120"/>
              </a:rPr>
              <a:t> statement</a:t>
            </a:r>
            <a:r>
              <a:rPr lang="en-US" altLang="zh-TW" sz="2800" kern="0" dirty="0">
                <a:ea typeface="新細明體" pitchFamily="18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907386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1D83C41-7877-4B8A-8BDC-24780E7BD308}" type="slidenum">
              <a:rPr lang="zh-TW" altLang="en-US" b="0" smtClean="0"/>
              <a:pPr/>
              <a:t>9</a:t>
            </a:fld>
            <a:endParaRPr lang="en-US" altLang="zh-TW" b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65100"/>
            <a:ext cx="86868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b="1" dirty="0" smtClean="0">
                <a:ea typeface="新細明體" pitchFamily="18" charset="-120"/>
              </a:rPr>
              <a:t>Example 3</a:t>
            </a:r>
            <a:endParaRPr lang="en-US" altLang="zh-TW" sz="4000" b="1" dirty="0">
              <a:ea typeface="新細明體" pitchFamily="18" charset="-120"/>
            </a:endParaRP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75" y="1066799"/>
            <a:ext cx="8526463" cy="518160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b="1" dirty="0">
                <a:ea typeface="新細明體" pitchFamily="18" charset="-120"/>
              </a:rPr>
              <a:t>Objective</a:t>
            </a:r>
            <a:r>
              <a:rPr lang="en-US" altLang="zh-TW" sz="2800" b="1" dirty="0" smtClean="0">
                <a:ea typeface="新細明體" pitchFamily="18" charset="-120"/>
              </a:rPr>
              <a:t>:</a:t>
            </a:r>
            <a:r>
              <a:rPr lang="en-US" altLang="zh-TW" sz="2800" dirty="0" smtClean="0">
                <a:ea typeface="新細明體" pitchFamily="18" charset="-120"/>
              </a:rPr>
              <a:t> Write the code segment to read three integers from a user and output them in a non-descending order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  <a:p>
            <a:pPr lvl="1" eaLnBrk="1" hangingPunct="1"/>
            <a:r>
              <a:rPr lang="en-US" altLang="zh-TW" sz="2400" dirty="0" smtClean="0">
                <a:ea typeface="新細明體" pitchFamily="18" charset="-120"/>
              </a:rPr>
              <a:t>Assume the values are stored in variables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400" dirty="0" smtClean="0">
                <a:ea typeface="新細明體" pitchFamily="18" charset="-120"/>
              </a:rPr>
              <a:t>,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400" dirty="0" smtClean="0">
                <a:ea typeface="新細明體" pitchFamily="18" charset="-120"/>
              </a:rPr>
              <a:t>, and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endParaRPr lang="en-US" altLang="zh-TW" sz="2400" b="1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endParaRPr lang="en-US" altLang="zh-TW" sz="18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 smtClean="0">
                <a:ea typeface="新細明體" pitchFamily="18" charset="-120"/>
              </a:rPr>
              <a:t>Approach #</a:t>
            </a:r>
            <a:r>
              <a:rPr lang="en-US" altLang="zh-TW" sz="2800" dirty="0">
                <a:ea typeface="新細明體" pitchFamily="18" charset="-120"/>
              </a:rPr>
              <a:t>1:</a:t>
            </a:r>
          </a:p>
          <a:p>
            <a:pPr lvl="1" eaLnBrk="1" hangingPunct="1"/>
            <a:r>
              <a:rPr lang="en-US" altLang="zh-TW" sz="2400" dirty="0" smtClean="0">
                <a:ea typeface="新細明體" pitchFamily="18" charset="-120"/>
                <a:sym typeface="Wingdings" pitchFamily="2" charset="2"/>
              </a:rPr>
              <a:t>For each of the six possible arrangements, output the result accordingly: (</a:t>
            </a:r>
            <a:r>
              <a:rPr lang="en-US" altLang="zh-TW" sz="2400" dirty="0">
                <a:ea typeface="新細明體" pitchFamily="18" charset="-120"/>
                <a:sym typeface="Wingdings" pitchFamily="2" charset="2"/>
              </a:rPr>
              <a:t>1</a:t>
            </a:r>
            <a:r>
              <a:rPr lang="en-US" altLang="zh-TW" sz="2400" dirty="0" smtClean="0">
                <a:ea typeface="新細明體" pitchFamily="18" charset="-120"/>
                <a:sym typeface="Wingdings" pitchFamily="2" charset="2"/>
              </a:rPr>
              <a:t>)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x</a:t>
            </a:r>
            <a:r>
              <a:rPr lang="en-US" altLang="zh-TW" sz="2400" dirty="0" smtClean="0">
                <a:ea typeface="新細明體" pitchFamily="18" charset="-120"/>
              </a:rPr>
              <a:t> ≤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400" dirty="0" smtClean="0">
                <a:ea typeface="新細明體" pitchFamily="18" charset="-120"/>
              </a:rPr>
              <a:t> ≤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sz="2400" dirty="0" smtClean="0">
                <a:ea typeface="新細明體" pitchFamily="18" charset="-120"/>
                <a:sym typeface="Wingdings" pitchFamily="2" charset="2"/>
              </a:rPr>
              <a:t>, (</a:t>
            </a:r>
            <a:r>
              <a:rPr lang="en-US" altLang="zh-TW" sz="2400" dirty="0">
                <a:ea typeface="新細明體" pitchFamily="18" charset="-120"/>
                <a:sym typeface="Wingdings" pitchFamily="2" charset="2"/>
              </a:rPr>
              <a:t>2</a:t>
            </a:r>
            <a:r>
              <a:rPr lang="en-US" altLang="zh-TW" sz="2400" dirty="0" smtClean="0">
                <a:ea typeface="新細明體" pitchFamily="18" charset="-120"/>
                <a:sym typeface="Wingdings" pitchFamily="2" charset="2"/>
              </a:rPr>
              <a:t>)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400" dirty="0" smtClean="0">
                <a:ea typeface="新細明體" pitchFamily="18" charset="-120"/>
              </a:rPr>
              <a:t> ≤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sz="2400" dirty="0" smtClean="0">
                <a:ea typeface="新細明體" pitchFamily="18" charset="-120"/>
              </a:rPr>
              <a:t> ≤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400" dirty="0" smtClean="0">
                <a:ea typeface="新細明體" pitchFamily="18" charset="-120"/>
                <a:sym typeface="Wingdings" pitchFamily="2" charset="2"/>
              </a:rPr>
              <a:t>, (</a:t>
            </a:r>
            <a:r>
              <a:rPr lang="en-US" altLang="zh-TW" sz="2400" dirty="0">
                <a:ea typeface="新細明體" pitchFamily="18" charset="-120"/>
                <a:sym typeface="Wingdings" pitchFamily="2" charset="2"/>
              </a:rPr>
              <a:t>3</a:t>
            </a:r>
            <a:r>
              <a:rPr lang="en-US" altLang="zh-TW" sz="2400" dirty="0" smtClean="0">
                <a:ea typeface="新細明體" pitchFamily="18" charset="-120"/>
                <a:sym typeface="Wingdings" pitchFamily="2" charset="2"/>
              </a:rPr>
              <a:t>)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sym typeface="Wingdings" pitchFamily="2" charset="2"/>
              </a:rPr>
              <a:t>y</a:t>
            </a:r>
            <a:r>
              <a:rPr lang="en-US" altLang="zh-TW" sz="2400" dirty="0" smtClean="0">
                <a:ea typeface="新細明體" pitchFamily="18" charset="-120"/>
              </a:rPr>
              <a:t> ≤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400" dirty="0" smtClean="0">
                <a:ea typeface="新細明體" pitchFamily="18" charset="-120"/>
              </a:rPr>
              <a:t> ≤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sz="2400" dirty="0" smtClean="0">
                <a:ea typeface="新細明體" pitchFamily="18" charset="-120"/>
                <a:sym typeface="Wingdings" pitchFamily="2" charset="2"/>
              </a:rPr>
              <a:t> , (</a:t>
            </a:r>
            <a:r>
              <a:rPr lang="en-US" altLang="zh-TW" sz="2400" dirty="0">
                <a:ea typeface="新細明體" pitchFamily="18" charset="-120"/>
                <a:sym typeface="Wingdings" pitchFamily="2" charset="2"/>
              </a:rPr>
              <a:t>4</a:t>
            </a:r>
            <a:r>
              <a:rPr lang="en-US" altLang="zh-TW" sz="2400" dirty="0" smtClean="0">
                <a:ea typeface="新細明體" pitchFamily="18" charset="-120"/>
                <a:sym typeface="Wingdings" pitchFamily="2" charset="2"/>
              </a:rPr>
              <a:t>)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sym typeface="Wingdings" pitchFamily="2" charset="2"/>
              </a:rPr>
              <a:t>y</a:t>
            </a:r>
            <a:r>
              <a:rPr lang="en-US" altLang="zh-TW" sz="2400" dirty="0" smtClean="0">
                <a:ea typeface="新細明體" pitchFamily="18" charset="-120"/>
              </a:rPr>
              <a:t> ≤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sz="2400" dirty="0" smtClean="0">
                <a:ea typeface="新細明體" pitchFamily="18" charset="-120"/>
              </a:rPr>
              <a:t> ≤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400" dirty="0" smtClean="0">
                <a:ea typeface="新細明體" pitchFamily="18" charset="-120"/>
                <a:sym typeface="Wingdings" pitchFamily="2" charset="2"/>
              </a:rPr>
              <a:t>, (</a:t>
            </a:r>
            <a:r>
              <a:rPr lang="en-US" altLang="zh-TW" sz="2400" dirty="0">
                <a:ea typeface="新細明體" pitchFamily="18" charset="-120"/>
                <a:sym typeface="Wingdings" pitchFamily="2" charset="2"/>
              </a:rPr>
              <a:t>5</a:t>
            </a:r>
            <a:r>
              <a:rPr lang="en-US" altLang="zh-TW" sz="2400" dirty="0" smtClean="0">
                <a:ea typeface="新細明體" pitchFamily="18" charset="-120"/>
                <a:sym typeface="Wingdings" pitchFamily="2" charset="2"/>
              </a:rPr>
              <a:t>)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z</a:t>
            </a:r>
            <a:r>
              <a:rPr lang="en-US" altLang="zh-TW" sz="2400" dirty="0" smtClean="0">
                <a:ea typeface="新細明體" pitchFamily="18" charset="-120"/>
              </a:rPr>
              <a:t> ≤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400" dirty="0" smtClean="0">
                <a:ea typeface="新細明體" pitchFamily="18" charset="-120"/>
              </a:rPr>
              <a:t> ≤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400" dirty="0" smtClean="0">
                <a:ea typeface="新細明體" pitchFamily="18" charset="-120"/>
                <a:sym typeface="Wingdings" pitchFamily="2" charset="2"/>
              </a:rPr>
              <a:t>, (</a:t>
            </a:r>
            <a:r>
              <a:rPr lang="en-US" altLang="zh-TW" sz="2400" dirty="0">
                <a:ea typeface="新細明體" pitchFamily="18" charset="-120"/>
                <a:sym typeface="Wingdings" pitchFamily="2" charset="2"/>
              </a:rPr>
              <a:t>6</a:t>
            </a:r>
            <a:r>
              <a:rPr lang="en-US" altLang="zh-TW" sz="2400" dirty="0" smtClean="0">
                <a:ea typeface="新細明體" pitchFamily="18" charset="-120"/>
                <a:sym typeface="Wingdings" pitchFamily="2" charset="2"/>
              </a:rPr>
              <a:t>)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sym typeface="Wingdings" pitchFamily="2" charset="2"/>
              </a:rPr>
              <a:t>z</a:t>
            </a:r>
            <a:r>
              <a:rPr lang="en-US" altLang="zh-TW" sz="2400" dirty="0" smtClean="0">
                <a:ea typeface="新細明體" pitchFamily="18" charset="-120"/>
              </a:rPr>
              <a:t> ≤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400" dirty="0" smtClean="0">
                <a:ea typeface="新細明體" pitchFamily="18" charset="-120"/>
              </a:rPr>
              <a:t> ≤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endParaRPr lang="en-US" altLang="zh-TW" sz="2400" dirty="0">
              <a:ea typeface="新細明體" pitchFamily="18" charset="-120"/>
              <a:sym typeface="Wingdings" pitchFamily="2" charset="2"/>
            </a:endParaRPr>
          </a:p>
          <a:p>
            <a:pPr eaLnBrk="1" hangingPunct="1"/>
            <a:endParaRPr lang="en-US" altLang="zh-TW" sz="18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 smtClean="0">
                <a:ea typeface="新細明體" pitchFamily="18" charset="-120"/>
              </a:rPr>
              <a:t>Approach #</a:t>
            </a:r>
            <a:r>
              <a:rPr lang="en-US" altLang="zh-TW" sz="2800" dirty="0">
                <a:ea typeface="新細明體" pitchFamily="18" charset="-120"/>
              </a:rPr>
              <a:t>2:</a:t>
            </a:r>
          </a:p>
          <a:p>
            <a:pPr lvl="1" eaLnBrk="1" hangingPunct="1"/>
            <a:r>
              <a:rPr lang="en-US" altLang="zh-TW" sz="2400" dirty="0" smtClean="0">
                <a:ea typeface="新細明體" pitchFamily="18" charset="-120"/>
              </a:rPr>
              <a:t>Sort the values of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400" dirty="0" smtClean="0">
                <a:ea typeface="新細明體" pitchFamily="18" charset="-120"/>
              </a:rPr>
              <a:t>,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400" dirty="0" smtClean="0">
                <a:ea typeface="新細明體" pitchFamily="18" charset="-120"/>
              </a:rPr>
              <a:t>, and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sz="2400" dirty="0" smtClean="0">
                <a:ea typeface="新細明體" pitchFamily="18" charset="-120"/>
              </a:rPr>
              <a:t> so that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400" dirty="0" smtClean="0">
                <a:ea typeface="新細明體" pitchFamily="18" charset="-120"/>
              </a:rPr>
              <a:t> ≤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400" dirty="0" smtClean="0">
                <a:ea typeface="新細明體" pitchFamily="18" charset="-120"/>
              </a:rPr>
              <a:t> ≤ </a:t>
            </a:r>
            <a:r>
              <a:rPr lang="en-US" altLang="zh-TW" sz="2400" b="1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67035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E6D7E39-36E5-4326-A96A-99B52BB108A5}" type="slidenum">
              <a:rPr lang="zh-TW" altLang="en-US" b="0" smtClean="0"/>
              <a:pPr/>
              <a:t>10</a:t>
            </a:fld>
            <a:endParaRPr lang="en-US" altLang="zh-TW" b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461963" y="165100"/>
            <a:ext cx="8229600" cy="498475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dirty="0" smtClean="0">
                <a:ea typeface="新細明體" pitchFamily="18" charset="-120"/>
              </a:rPr>
              <a:t>Example 3: Solution #</a:t>
            </a:r>
            <a:r>
              <a:rPr lang="en-US" altLang="zh-TW" sz="4000" dirty="0">
                <a:ea typeface="新細明體" pitchFamily="18" charset="-120"/>
              </a:rPr>
              <a:t>1a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461963" y="741363"/>
            <a:ext cx="8682037" cy="545226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 smtClean="0">
                <a:latin typeface="Consolas"/>
                <a:ea typeface="新細明體"/>
                <a:cs typeface="Consolas" panose="020B0609020204030204" pitchFamily="49" charset="0"/>
              </a:rPr>
              <a:t> x, y, z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;				</a:t>
            </a:r>
            <a:r>
              <a:rPr lang="en-US" altLang="zh-TW" sz="2000" b="0" dirty="0" smtClean="0">
                <a:solidFill>
                  <a:srgbClr val="339933"/>
                </a:solidFill>
                <a:latin typeface="Consolas"/>
                <a:ea typeface="新細明體"/>
                <a:cs typeface="Consolas" panose="020B0609020204030204" pitchFamily="49" charset="0"/>
              </a:rPr>
              <a:t>// To store input values</a:t>
            </a:r>
            <a:endParaRPr lang="en-US" altLang="zh-TW" sz="2000" b="0" dirty="0">
              <a:solidFill>
                <a:srgbClr val="339933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d%d%d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z);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&lt;= y &amp;&amp; y &lt;= z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 %d %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d\n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x, y, z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else if</a:t>
            </a:r>
            <a:r>
              <a:rPr lang="en-US" altLang="zh-TW" sz="2000" b="0" dirty="0" smtClean="0">
                <a:latin typeface="Consolas"/>
                <a:ea typeface="新細明體"/>
                <a:cs typeface="Consolas" panose="020B0609020204030204" pitchFamily="49" charset="0"/>
              </a:rPr>
              <a:t> (x &lt;= z &amp;&amp; z &lt;= y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</a:t>
            </a:r>
            <a:endParaRPr lang="en-US" altLang="zh-TW" sz="2000" b="0" dirty="0">
              <a:latin typeface="Consolas"/>
              <a:ea typeface="新細明體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 %d %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d\n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x, z, y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 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(y &lt;= x &amp;&amp; x &lt;= z)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y, x, z);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 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(y &lt;= z &amp;&amp; z &lt;= x)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y, z, x);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else if</a:t>
            </a:r>
            <a:r>
              <a:rPr lang="en-US" altLang="zh-TW" sz="2000" b="0" dirty="0" smtClean="0">
                <a:latin typeface="Consolas"/>
                <a:ea typeface="新細明體"/>
                <a:cs typeface="Consolas" panose="020B0609020204030204" pitchFamily="49" charset="0"/>
              </a:rPr>
              <a:t> (z &lt;= x &amp;&amp; x &lt;= y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</a:t>
            </a:r>
            <a:endParaRPr lang="en-US" dirty="0">
              <a:latin typeface="Consolas"/>
              <a:ea typeface="新細明體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 %d %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d\n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z, x, y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 %d %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d\n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z, y, x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0" y="741363"/>
            <a:ext cx="461963" cy="545226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89867308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EA38AE94-3EE3-4D08-BE7D-DB9C05868FC7}" type="slidenum">
              <a:rPr lang="zh-TW" altLang="en-US" b="0" smtClean="0"/>
              <a:pPr/>
              <a:t>11</a:t>
            </a:fld>
            <a:endParaRPr lang="en-US" altLang="zh-TW" b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65100"/>
            <a:ext cx="8839200" cy="498475"/>
          </a:xfrm>
        </p:spPr>
        <p:txBody>
          <a:bodyPr>
            <a:noAutofit/>
          </a:bodyPr>
          <a:lstStyle/>
          <a:p>
            <a:r>
              <a:rPr lang="en-US" altLang="zh-TW" sz="3200" dirty="0" smtClean="0">
                <a:solidFill>
                  <a:prstClr val="black"/>
                </a:solidFill>
                <a:ea typeface="新細明體" pitchFamily="18" charset="-120"/>
              </a:rPr>
              <a:t>Example 3: Solution #1b (Broken implementation</a:t>
            </a:r>
            <a:r>
              <a:rPr lang="en-US" altLang="zh-TW" sz="3200" dirty="0">
                <a:solidFill>
                  <a:prstClr val="black"/>
                </a:solidFill>
                <a:ea typeface="新細明體" pitchFamily="18" charset="-120"/>
              </a:rPr>
              <a:t>)</a:t>
            </a:r>
            <a:endParaRPr lang="en-US" altLang="zh-TW" sz="1600" dirty="0">
              <a:ea typeface="新細明體" pitchFamily="18" charset="-120"/>
            </a:endParaRP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461963" y="741362"/>
            <a:ext cx="8682037" cy="550703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x, y, z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				</a:t>
            </a: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To store input values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d%d%d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z);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&lt;= y &amp;&amp; y &lt;= z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 %d %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d\n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x, y, z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&lt;= z &amp;&amp; z &lt;= y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 %d %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d\n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x, z, y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(y &lt;= x &amp;&amp; x &lt;= z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 %d %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d\n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y, x, z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(y &lt;= z &amp;&amp; z &lt;= x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 %d %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d\n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y, z, x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(z &lt;= x &amp;&amp; x &lt;= y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 %d %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d\n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z, x, y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(z &lt;= y &amp;&amp; y &lt;= x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 %d %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d\n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z, y, x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0" y="741363"/>
            <a:ext cx="461963" cy="550703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</p:txBody>
      </p:sp>
      <p:sp>
        <p:nvSpPr>
          <p:cNvPr id="9" name="Rectangle 23"/>
          <p:cNvSpPr txBox="1">
            <a:spLocks noChangeArrowheads="1"/>
          </p:cNvSpPr>
          <p:nvPr/>
        </p:nvSpPr>
        <p:spPr bwMode="auto">
          <a:xfrm>
            <a:off x="5562600" y="1752600"/>
            <a:ext cx="3429000" cy="36576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>
              <a:spcBef>
                <a:spcPct val="0"/>
              </a:spcBef>
              <a:defRPr kumimoji="1" sz="2800" b="1" i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defRPr>
            </a:lvl1pPr>
          </a:lstStyle>
          <a:p>
            <a:r>
              <a:rPr lang="en-US" altLang="zh-TW" b="0" dirty="0" smtClean="0">
                <a:latin typeface="+mn-lt"/>
              </a:rPr>
              <a:t>Without using </a:t>
            </a:r>
            <a:r>
              <a:rPr lang="en-US" altLang="zh-TW" dirty="0" smtClean="0"/>
              <a:t>else</a:t>
            </a:r>
            <a:r>
              <a:rPr lang="en-US" altLang="zh-TW" b="0" dirty="0" smtClean="0">
                <a:latin typeface="+mn-lt"/>
              </a:rPr>
              <a:t>, this implementation would produce multiple output when two or more input variables share the same value</a:t>
            </a:r>
            <a:r>
              <a:rPr lang="en-US" altLang="zh-TW" b="0" dirty="0">
                <a:latin typeface="+mn-lt"/>
              </a:rPr>
              <a:t>.</a:t>
            </a:r>
          </a:p>
          <a:p>
            <a:endParaRPr lang="en-US" altLang="zh-TW" b="0" dirty="0">
              <a:latin typeface="+mn-lt"/>
            </a:endParaRPr>
          </a:p>
          <a:p>
            <a:r>
              <a:rPr lang="en-US" altLang="zh-TW" b="0" dirty="0">
                <a:latin typeface="+mn-lt"/>
              </a:rPr>
              <a:t>e.g</a:t>
            </a:r>
            <a:r>
              <a:rPr lang="en-US" altLang="zh-TW" b="0" dirty="0" smtClean="0">
                <a:latin typeface="+mn-lt"/>
              </a:rPr>
              <a:t>., when </a:t>
            </a:r>
            <a:r>
              <a:rPr lang="en-US" altLang="zh-TW" dirty="0" smtClean="0"/>
              <a:t>x</a:t>
            </a:r>
            <a:r>
              <a:rPr lang="en-US" altLang="zh-TW" b="0" dirty="0" smtClean="0">
                <a:latin typeface="+mn-lt"/>
              </a:rPr>
              <a:t>, </a:t>
            </a:r>
            <a:r>
              <a:rPr lang="en-US" altLang="zh-TW" dirty="0" smtClean="0"/>
              <a:t>y</a:t>
            </a:r>
            <a:r>
              <a:rPr lang="en-US" altLang="zh-TW" b="0" dirty="0" smtClean="0">
                <a:latin typeface="+mn-lt"/>
              </a:rPr>
              <a:t>, </a:t>
            </a:r>
            <a:r>
              <a:rPr lang="en-US" altLang="zh-TW" dirty="0" smtClean="0"/>
              <a:t>z</a:t>
            </a:r>
            <a:r>
              <a:rPr lang="en-US" altLang="zh-TW" b="0" dirty="0" smtClean="0">
                <a:latin typeface="+mn-lt"/>
              </a:rPr>
              <a:t> are all 6, the output "6 6 6" would appear six times</a:t>
            </a:r>
            <a:r>
              <a:rPr lang="en-US" altLang="zh-TW" b="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070598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696E923A-809A-4E63-875F-31D354D618CD}" type="slidenum">
              <a:rPr lang="zh-TW" altLang="en-US" b="0" smtClean="0"/>
              <a:pPr/>
              <a:t>12</a:t>
            </a:fld>
            <a:endParaRPr lang="en-US" altLang="zh-TW" b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461963" y="165100"/>
            <a:ext cx="8229600" cy="498475"/>
          </a:xfrm>
        </p:spPr>
        <p:txBody>
          <a:bodyPr>
            <a:noAutofit/>
          </a:bodyPr>
          <a:lstStyle/>
          <a:p>
            <a:r>
              <a:rPr lang="en-US" altLang="zh-TW" sz="4000" dirty="0" smtClean="0">
                <a:solidFill>
                  <a:prstClr val="black"/>
                </a:solidFill>
                <a:ea typeface="新細明體" pitchFamily="18" charset="-120"/>
              </a:rPr>
              <a:t>Example 3: Solution #</a:t>
            </a:r>
            <a:r>
              <a:rPr lang="en-US" altLang="zh-TW" sz="4000" dirty="0">
                <a:solidFill>
                  <a:prstClr val="black"/>
                </a:solidFill>
                <a:ea typeface="新細明體" pitchFamily="18" charset="-120"/>
              </a:rPr>
              <a:t>2</a:t>
            </a:r>
            <a:endParaRPr lang="en-US" altLang="zh-TW" sz="2000" dirty="0">
              <a:ea typeface="新細明體" pitchFamily="18" charset="-120"/>
            </a:endParaRP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461963" y="741363"/>
            <a:ext cx="8682037" cy="57594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x, y, z,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d%d%d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z);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First, make sure that x holds the smallest value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&gt; y) {                   </a:t>
            </a: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If y is smaller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x; x = y; y =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</a:t>
            </a: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swap x and y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&gt; z) {                   </a:t>
            </a: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If z is even smaller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x; x = z; z =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</a:t>
            </a: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swap x and z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Next, make sure y &lt;= z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(y &gt; z) {                   </a:t>
            </a: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If z is smaller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y; y = z; z = </a:t>
            </a:r>
            <a:r>
              <a:rPr lang="en-US" altLang="zh-TW" sz="2000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</a:t>
            </a:r>
            <a:r>
              <a:rPr lang="en-US" altLang="zh-TW" sz="2000" b="0" dirty="0" smtClean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swap y and z 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 %d %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d\n</a:t>
            </a:r>
            <a:r>
              <a:rPr lang="en-US" altLang="zh-TW" sz="2000" b="0" dirty="0" smtClean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x, y, z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0" y="741363"/>
            <a:ext cx="461963" cy="57594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50632476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5078</TotalTime>
  <Words>771</Words>
  <PresentationFormat>On-screen Show (4:3)</PresentationFormat>
  <Paragraphs>252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 Math</vt:lpstr>
      <vt:lpstr>Consolas</vt:lpstr>
      <vt:lpstr>新細明體</vt:lpstr>
      <vt:lpstr>Times New Roman</vt:lpstr>
      <vt:lpstr>Wingdings</vt:lpstr>
      <vt:lpstr>Office Theme</vt:lpstr>
      <vt:lpstr>Examples using if-else</vt:lpstr>
      <vt:lpstr>Outline</vt:lpstr>
      <vt:lpstr>Example 1</vt:lpstr>
      <vt:lpstr>Example 1: Solution</vt:lpstr>
      <vt:lpstr>Example 2</vt:lpstr>
      <vt:lpstr>Example 2: Solution #1</vt:lpstr>
      <vt:lpstr>Example 2: Solution #2</vt:lpstr>
      <vt:lpstr>Notes about Example 2</vt:lpstr>
      <vt:lpstr>Example 3</vt:lpstr>
      <vt:lpstr>Example 3: Solution #1a</vt:lpstr>
      <vt:lpstr>Example 3: Solution #1b (Broken implementation)</vt:lpstr>
      <vt:lpstr>Example 3: Solution #2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cp:keywords/>
  <dc:description/>
  <dcterms:created xsi:type="dcterms:W3CDTF">2011-07-19T12:51:33Z</dcterms:created>
  <dcterms:modified xsi:type="dcterms:W3CDTF">2023-01-26T08:59:26Z</dcterms:modified>
  <cp:category/>
</cp:coreProperties>
</file>