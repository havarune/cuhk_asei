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304" r:id="rId3"/>
    <p:sldId id="270" r:id="rId4"/>
    <p:sldId id="273" r:id="rId5"/>
    <p:sldId id="305" r:id="rId6"/>
    <p:sldId id="310" r:id="rId7"/>
    <p:sldId id="312" r:id="rId8"/>
    <p:sldId id="314" r:id="rId9"/>
    <p:sldId id="309" r:id="rId10"/>
    <p:sldId id="303" r:id="rId11"/>
    <p:sldId id="308" r:id="rId12"/>
  </p:sldIdLst>
  <p:sldSz cx="9144000" cy="6858000" type="screen4x3"/>
  <p:notesSz cx="6807200" cy="9939338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2" clrIdx="0">
    <p:extLst>
      <p:ext uri="{19B8F6BF-5375-455C-9EA6-DF929625EA0E}">
        <p15:presenceInfo xmlns:p15="http://schemas.microsoft.com/office/powerpoint/2012/main" userId="Chuck-jee Ch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3" autoAdjust="0"/>
    <p:restoredTop sz="69856" autoAdjust="0"/>
  </p:normalViewPr>
  <p:slideViewPr>
    <p:cSldViewPr>
      <p:cViewPr varScale="1">
        <p:scale>
          <a:sx n="45" d="100"/>
          <a:sy n="45" d="100"/>
        </p:scale>
        <p:origin x="120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708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3131"/>
        <p:guide pos="214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06f431c5-cc1a-4439-a61b-5f3af947c103" providerId="ADAL" clId="{DF6D2480-F1CD-4412-9123-04EBBDD4C584}"/>
    <pc:docChg chg="undo custSel addSld delSld modSld sldOrd">
      <pc:chgData name="Yim Pan Chui, Dr. (CSD)" userId="06f431c5-cc1a-4439-a61b-5f3af947c103" providerId="ADAL" clId="{DF6D2480-F1CD-4412-9123-04EBBDD4C584}" dt="2023-07-06T02:00:12.604" v="27"/>
      <pc:docMkLst>
        <pc:docMk/>
      </pc:docMkLst>
      <pc:sldChg chg="modSp">
        <pc:chgData name="Yim Pan Chui, Dr. (CSD)" userId="06f431c5-cc1a-4439-a61b-5f3af947c103" providerId="ADAL" clId="{DF6D2480-F1CD-4412-9123-04EBBDD4C584}" dt="2023-07-06T01:41:03.803" v="25" actId="20577"/>
        <pc:sldMkLst>
          <pc:docMk/>
          <pc:sldMk cId="0" sldId="303"/>
        </pc:sldMkLst>
        <pc:spChg chg="mod">
          <ac:chgData name="Yim Pan Chui, Dr. (CSD)" userId="06f431c5-cc1a-4439-a61b-5f3af947c103" providerId="ADAL" clId="{DF6D2480-F1CD-4412-9123-04EBBDD4C584}" dt="2023-07-06T01:41:03.803" v="25" actId="20577"/>
          <ac:spMkLst>
            <pc:docMk/>
            <pc:sldMk cId="0" sldId="303"/>
            <ac:spMk id="3" creationId="{00000000-0000-0000-0000-000000000000}"/>
          </ac:spMkLst>
        </pc:spChg>
      </pc:sldChg>
      <pc:sldChg chg="ord modTransition modNotes">
        <pc:chgData name="Yim Pan Chui, Dr. (CSD)" userId="06f431c5-cc1a-4439-a61b-5f3af947c103" providerId="ADAL" clId="{DF6D2480-F1CD-4412-9123-04EBBDD4C584}" dt="2023-07-06T02:00:12.604" v="27"/>
        <pc:sldMkLst>
          <pc:docMk/>
          <pc:sldMk cId="1364257196" sldId="309"/>
        </pc:sldMkLst>
      </pc:sldChg>
      <pc:sldChg chg="modSp add">
        <pc:chgData name="Yim Pan Chui, Dr. (CSD)" userId="06f431c5-cc1a-4439-a61b-5f3af947c103" providerId="ADAL" clId="{DF6D2480-F1CD-4412-9123-04EBBDD4C584}" dt="2023-07-06T01:39:30.246" v="19" actId="20577"/>
        <pc:sldMkLst>
          <pc:docMk/>
          <pc:sldMk cId="2422563223" sldId="311"/>
        </pc:sldMkLst>
        <pc:spChg chg="mod">
          <ac:chgData name="Yim Pan Chui, Dr. (CSD)" userId="06f431c5-cc1a-4439-a61b-5f3af947c103" providerId="ADAL" clId="{DF6D2480-F1CD-4412-9123-04EBBDD4C584}" dt="2023-07-06T01:39:30.246" v="19" actId="20577"/>
          <ac:spMkLst>
            <pc:docMk/>
            <pc:sldMk cId="2422563223" sldId="311"/>
            <ac:spMk id="2" creationId="{00000000-0000-0000-0000-000000000000}"/>
          </ac:spMkLst>
        </pc:spChg>
      </pc:sldChg>
      <pc:sldChg chg="modSp del">
        <pc:chgData name="Yim Pan Chui, Dr. (CSD)" userId="06f431c5-cc1a-4439-a61b-5f3af947c103" providerId="ADAL" clId="{DF6D2480-F1CD-4412-9123-04EBBDD4C584}" dt="2023-07-06T01:38:08.700" v="7" actId="2696"/>
        <pc:sldMkLst>
          <pc:docMk/>
          <pc:sldMk cId="1301570531" sldId="316"/>
        </pc:sldMkLst>
        <pc:spChg chg="mod">
          <ac:chgData name="Yim Pan Chui, Dr. (CSD)" userId="06f431c5-cc1a-4439-a61b-5f3af947c103" providerId="ADAL" clId="{DF6D2480-F1CD-4412-9123-04EBBDD4C584}" dt="2023-07-06T01:34:19.862" v="4" actId="6549"/>
          <ac:spMkLst>
            <pc:docMk/>
            <pc:sldMk cId="1301570531" sldId="316"/>
            <ac:spMk id="3" creationId="{00000000-0000-0000-0000-000000000000}"/>
          </ac:spMkLst>
        </pc:spChg>
      </pc:sldChg>
      <pc:sldChg chg="del">
        <pc:chgData name="Yim Pan Chui, Dr. (CSD)" userId="06f431c5-cc1a-4439-a61b-5f3af947c103" providerId="ADAL" clId="{DF6D2480-F1CD-4412-9123-04EBBDD4C584}" dt="2023-07-06T01:37:58.026" v="6" actId="2696"/>
        <pc:sldMkLst>
          <pc:docMk/>
          <pc:sldMk cId="1870741616" sldId="317"/>
        </pc:sldMkLst>
      </pc:sldChg>
    </pc:docChg>
  </pc:docChgLst>
  <pc:docChgLst>
    <pc:chgData name="Yim Pan Chui, Dr. (CSD)" userId="06f431c5-cc1a-4439-a61b-5f3af947c103" providerId="ADAL" clId="{937CB38F-C6FB-40D0-A800-5A248195D926}"/>
    <pc:docChg chg="delSld modSld sldOrd">
      <pc:chgData name="Yim Pan Chui, Dr. (CSD)" userId="06f431c5-cc1a-4439-a61b-5f3af947c103" providerId="ADAL" clId="{937CB38F-C6FB-40D0-A800-5A248195D926}" dt="2024-08-29T05:08:41.577" v="82" actId="20577"/>
      <pc:docMkLst>
        <pc:docMk/>
      </pc:docMkLst>
      <pc:sldChg chg="modSp mod ord modShow">
        <pc:chgData name="Yim Pan Chui, Dr. (CSD)" userId="06f431c5-cc1a-4439-a61b-5f3af947c103" providerId="ADAL" clId="{937CB38F-C6FB-40D0-A800-5A248195D926}" dt="2024-08-29T05:08:41.577" v="82" actId="20577"/>
        <pc:sldMkLst>
          <pc:docMk/>
          <pc:sldMk cId="1364257196" sldId="309"/>
        </pc:sldMkLst>
        <pc:spChg chg="mod">
          <ac:chgData name="Yim Pan Chui, Dr. (CSD)" userId="06f431c5-cc1a-4439-a61b-5f3af947c103" providerId="ADAL" clId="{937CB38F-C6FB-40D0-A800-5A248195D926}" dt="2024-08-27T07:43:03.950" v="9" actId="20577"/>
          <ac:spMkLst>
            <pc:docMk/>
            <pc:sldMk cId="1364257196" sldId="309"/>
            <ac:spMk id="2" creationId="{00000000-0000-0000-0000-000000000000}"/>
          </ac:spMkLst>
        </pc:spChg>
        <pc:spChg chg="mod">
          <ac:chgData name="Yim Pan Chui, Dr. (CSD)" userId="06f431c5-cc1a-4439-a61b-5f3af947c103" providerId="ADAL" clId="{937CB38F-C6FB-40D0-A800-5A248195D926}" dt="2024-08-29T05:08:41.577" v="82" actId="20577"/>
          <ac:spMkLst>
            <pc:docMk/>
            <pc:sldMk cId="1364257196" sldId="309"/>
            <ac:spMk id="3" creationId="{00000000-0000-0000-0000-000000000000}"/>
          </ac:spMkLst>
        </pc:spChg>
      </pc:sldChg>
      <pc:sldChg chg="del mod ord modShow">
        <pc:chgData name="Yim Pan Chui, Dr. (CSD)" userId="06f431c5-cc1a-4439-a61b-5f3af947c103" providerId="ADAL" clId="{937CB38F-C6FB-40D0-A800-5A248195D926}" dt="2024-08-27T07:43:09.909" v="10" actId="47"/>
        <pc:sldMkLst>
          <pc:docMk/>
          <pc:sldMk cId="2422563223" sldId="311"/>
        </pc:sldMkLst>
      </pc:sldChg>
    </pc:docChg>
  </pc:docChgLst>
  <pc:docChgLst>
    <pc:chgData name="Ho Chuen Kam (CSD)" userId="d211cd2f-93d8-4bb4-a04c-87bdee3b4bb2" providerId="ADAL" clId="{9FCAA21B-CD53-4A71-AD67-7610CA8F3713}"/>
    <pc:docChg chg="modNotesMaster modHandout">
      <pc:chgData name="Ho Chuen Kam (CSD)" userId="d211cd2f-93d8-4bb4-a04c-87bdee3b4bb2" providerId="ADAL" clId="{9FCAA21B-CD53-4A71-AD67-7610CA8F3713}" dt="2023-08-31T05:48:46.411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70462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2300" tIns="46150" rIns="92300" bIns="4615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EC5EDE-53FA-4264-9538-FC0707D3E50B}" type="slidenum">
              <a:rPr lang="zh-TW" altLang="en-US"/>
              <a:pPr/>
              <a:t>2</a:t>
            </a:fld>
            <a:endParaRPr lang="en-US" altLang="zh-TW"/>
          </a:p>
        </p:txBody>
      </p:sp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</a:rPr>
              <a:t>What do all computers have in common? </a:t>
            </a:r>
          </a:p>
          <a:p>
            <a:pPr lvl="0"/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</a:rPr>
              <a:t>Answer: Processor, memory,</a:t>
            </a:r>
            <a:r>
              <a:rPr lang="en-US" altLang="zh-TW" baseline="0" dirty="0">
                <a:solidFill>
                  <a:schemeClr val="folHlink"/>
                </a:solidFill>
                <a:ea typeface="新細明體" pitchFamily="18" charset="-120"/>
              </a:rPr>
              <a:t> i</a:t>
            </a:r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</a:rPr>
              <a:t>nput</a:t>
            </a:r>
            <a:r>
              <a:rPr lang="en-US" altLang="zh-TW" baseline="0" dirty="0">
                <a:solidFill>
                  <a:schemeClr val="folHlink"/>
                </a:solidFill>
                <a:ea typeface="新細明體" pitchFamily="18" charset="-120"/>
              </a:rPr>
              <a:t> </a:t>
            </a:r>
            <a:r>
              <a:rPr lang="en-US" dirty="0"/>
              <a:t>peripherals</a:t>
            </a:r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</a:rPr>
              <a:t>, output</a:t>
            </a:r>
            <a:r>
              <a:rPr lang="en-US" altLang="zh-TW" baseline="0" dirty="0">
                <a:solidFill>
                  <a:schemeClr val="folHlink"/>
                </a:solidFill>
                <a:ea typeface="新細明體" pitchFamily="18" charset="-120"/>
              </a:rPr>
              <a:t> </a:t>
            </a:r>
            <a:r>
              <a:rPr lang="en-US" dirty="0"/>
              <a:t>peripherals, secondary storage.</a:t>
            </a:r>
          </a:p>
          <a:p>
            <a:pPr lvl="0"/>
            <a:r>
              <a:rPr lang="en-US" altLang="zh-TW" dirty="0"/>
              <a:t>(Once you master programming skill, you can write programs to run on different computers.)</a:t>
            </a:r>
          </a:p>
          <a:p>
            <a:pPr lvl="0"/>
            <a:endParaRPr lang="en-US" altLang="zh-TW" dirty="0"/>
          </a:p>
          <a:p>
            <a:pPr lvl="0"/>
            <a:endParaRPr lang="en-US" altLang="zh-TW" dirty="0">
              <a:solidFill>
                <a:schemeClr val="folHlink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4435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50C57D7-E448-4A13-A580-115C2AD72418}" type="slidenum">
              <a:rPr lang="zh-TW" altLang="en-US">
                <a:latin typeface="Helvetica" pitchFamily="34" charset="0"/>
              </a:rPr>
              <a:pPr/>
              <a:t>5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1000" b="1" dirty="0"/>
              <a:t>Understand the basic concepts and principles of programming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e.g.: variables, data type, functions, parameters, control structures, arrays, class, object, etc.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These concepts and principles are "universal".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10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1000" b="1" dirty="0"/>
              <a:t>Understand and memorize the syntax of a programming language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Different languages have different syntax and grammar.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A program with syntax errors won't execute correctly.</a:t>
            </a:r>
          </a:p>
          <a:p>
            <a:pPr eaLnBrk="1" hangingPunct="1">
              <a:lnSpc>
                <a:spcPct val="80000"/>
              </a:lnSpc>
            </a:pPr>
            <a:endParaRPr lang="zh-TW" altLang="en-US" sz="10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1000" b="1" dirty="0"/>
              <a:t>Turn your idea and solution into equivalent instructions</a:t>
            </a:r>
            <a:endParaRPr lang="en-US" altLang="zh-TW" sz="10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Analogous to learning English/Chinese </a:t>
            </a:r>
            <a:r>
              <a:rPr lang="en-US" altLang="zh-TW" sz="1000" dirty="0">
                <a:latin typeface="Arial" charset="0"/>
              </a:rPr>
              <a:t>–</a:t>
            </a:r>
            <a:r>
              <a:rPr lang="en-US" altLang="zh-TW" sz="1000" dirty="0"/>
              <a:t> in addition to knowing the grammars and vocabularies, you also need to learn how to make sentences and compose essays.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Practices make perfect</a:t>
            </a:r>
          </a:p>
          <a:p>
            <a:pPr eaLnBrk="1" hangingPunct="1">
              <a:lnSpc>
                <a:spcPct val="80000"/>
              </a:lnSpc>
            </a:pPr>
            <a:endParaRPr lang="zh-TW" altLang="en-US" sz="10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1000" b="1" dirty="0"/>
              <a:t>Know what APIs (Application Programming Interface) are available and learn how to use them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APIs here refer to collections of "codes" (written by other people) that offer programmers some commonly needed functions.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1000" dirty="0"/>
              <a:t>e.g., print data to screen, send data over network, display a window, etc.</a:t>
            </a:r>
          </a:p>
          <a:p>
            <a:pPr lvl="2" eaLnBrk="1" hangingPunct="1">
              <a:lnSpc>
                <a:spcPct val="80000"/>
              </a:lnSpc>
            </a:pPr>
            <a:endParaRPr lang="en-US" altLang="zh-TW" sz="10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If you can find the appropriate APIs to use in your program, you can potentially save a lot of time from writing everything from scratch.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10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You can learn how to use an API by studying the API documentation (the manual).</a:t>
            </a:r>
          </a:p>
          <a:p>
            <a:pPr lvl="2" eaLnBrk="1" hangingPunct="1">
              <a:lnSpc>
                <a:spcPct val="80000"/>
              </a:lnSpc>
            </a:pPr>
            <a:endParaRPr lang="en-US" altLang="zh-TW" sz="1000" dirty="0"/>
          </a:p>
          <a:p>
            <a:pPr eaLnBrk="1" hangingPunct="1">
              <a:lnSpc>
                <a:spcPct val="80000"/>
              </a:lnSpc>
            </a:pPr>
            <a:endParaRPr lang="en-US" altLang="zh-TW" sz="1000" dirty="0"/>
          </a:p>
        </p:txBody>
      </p:sp>
    </p:spTree>
    <p:extLst>
      <p:ext uri="{BB962C8B-B14F-4D97-AF65-F5344CB8AC3E}">
        <p14:creationId xmlns:p14="http://schemas.microsoft.com/office/powerpoint/2010/main" val="449084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73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4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studio.microsoft.com/free-developer-offer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382000" cy="147002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Programming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E2D7-7B19-4DF0-8646-DA62A271D261}" type="slidenum">
              <a:rPr lang="zh-TW" altLang="en-US"/>
              <a:pPr/>
              <a:t>2</a:t>
            </a:fld>
            <a:endParaRPr lang="en-US" altLang="zh-TW"/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charset="-120"/>
              </a:rPr>
              <a:t>What is Programming?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Computer</a:t>
            </a:r>
            <a:r>
              <a:rPr lang="en-US" sz="2800" dirty="0"/>
              <a:t> – A </a:t>
            </a:r>
            <a:r>
              <a:rPr lang="en-US" sz="2800" b="1" dirty="0">
                <a:solidFill>
                  <a:schemeClr val="accent1"/>
                </a:solidFill>
              </a:rPr>
              <a:t>machine </a:t>
            </a:r>
            <a:r>
              <a:rPr lang="en-US" sz="2800" dirty="0"/>
              <a:t>that processes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data </a:t>
            </a:r>
            <a:r>
              <a:rPr lang="en-US" sz="2800" dirty="0"/>
              <a:t>according to </a:t>
            </a:r>
            <a:r>
              <a:rPr lang="en-US" sz="2800" b="1" dirty="0">
                <a:solidFill>
                  <a:srgbClr val="C00000"/>
                </a:solidFill>
              </a:rPr>
              <a:t>instructions</a:t>
            </a:r>
            <a:endParaRPr lang="en-US" sz="2800" dirty="0"/>
          </a:p>
          <a:p>
            <a:pPr lvl="1"/>
            <a:r>
              <a:rPr lang="en-US" altLang="zh-TW" dirty="0">
                <a:ea typeface="新細明體" pitchFamily="18" charset="-120"/>
              </a:rPr>
              <a:t>E.g. PC, smartphone, mainframe, game console, …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Data: user inputs, text, keystrokes, audio, video, etc.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Instructions: programs, apps, etc.</a:t>
            </a:r>
          </a:p>
          <a:p>
            <a:endParaRPr lang="en-US" altLang="zh-TW" sz="2800" dirty="0">
              <a:ea typeface="新細明體" charset="-120"/>
            </a:endParaRPr>
          </a:p>
          <a:p>
            <a:r>
              <a:rPr lang="en-US" altLang="zh-TW" sz="2800" b="1" dirty="0">
                <a:ea typeface="新細明體" charset="-120"/>
              </a:rPr>
              <a:t>Computer Program</a:t>
            </a:r>
            <a:r>
              <a:rPr lang="en-US" altLang="zh-TW" sz="2800" dirty="0">
                <a:ea typeface="新細明體" charset="-120"/>
              </a:rPr>
              <a:t> – A set of instructions that tells a computer how to process data</a:t>
            </a:r>
          </a:p>
          <a:p>
            <a:pPr lvl="1"/>
            <a:endParaRPr lang="en-US" altLang="zh-TW" dirty="0">
              <a:ea typeface="新細明體" charset="-120"/>
            </a:endParaRPr>
          </a:p>
          <a:p>
            <a:r>
              <a:rPr lang="en-US" altLang="zh-TW" sz="2800" b="1" dirty="0">
                <a:ea typeface="新細明體" charset="-120"/>
              </a:rPr>
              <a:t>Programming</a:t>
            </a:r>
            <a:r>
              <a:rPr lang="en-US" altLang="zh-TW" sz="2800" dirty="0">
                <a:ea typeface="新細明體" charset="-120"/>
              </a:rPr>
              <a:t> – Writing sets of instructions in some </a:t>
            </a:r>
            <a:r>
              <a:rPr lang="en-US" altLang="zh-TW" sz="2800" i="1" dirty="0">
                <a:solidFill>
                  <a:srgbClr val="CC0000"/>
                </a:solidFill>
                <a:ea typeface="新細明體" charset="-120"/>
              </a:rPr>
              <a:t>languages</a:t>
            </a:r>
            <a:r>
              <a:rPr lang="en-US" altLang="zh-TW" sz="2800" dirty="0">
                <a:ea typeface="新細明體" charset="-120"/>
              </a:rPr>
              <a:t> that tell computers what to do</a:t>
            </a:r>
          </a:p>
        </p:txBody>
      </p:sp>
    </p:spTree>
    <p:extLst>
      <p:ext uri="{BB962C8B-B14F-4D97-AF65-F5344CB8AC3E}">
        <p14:creationId xmlns:p14="http://schemas.microsoft.com/office/powerpoint/2010/main" val="2107708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57400" y="1447800"/>
            <a:ext cx="4419600" cy="533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33600" y="1524000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itchFamily="49" charset="0"/>
              </a:rPr>
              <a:t>11000100101010010100101111101010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81200"/>
            <a:ext cx="4419600" cy="762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rIns="182880" rtlCol="0" anchor="ctr"/>
          <a:lstStyle/>
          <a:p>
            <a:r>
              <a:rPr lang="en-US" dirty="0"/>
              <a:t>Inconveniently, machines only speak their mother tongue, usually in binary codes.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895600"/>
            <a:ext cx="4419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33600" y="2971800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itchFamily="49" charset="0"/>
              </a:rPr>
              <a:t>add  </a:t>
            </a:r>
            <a:r>
              <a:rPr lang="en-US" dirty="0" err="1">
                <a:latin typeface="Consolas" pitchFamily="49" charset="0"/>
              </a:rPr>
              <a:t>eax</a:t>
            </a:r>
            <a:r>
              <a:rPr lang="en-US" dirty="0">
                <a:latin typeface="Consolas" pitchFamily="49" charset="0"/>
              </a:rPr>
              <a:t>, </a:t>
            </a:r>
            <a:r>
              <a:rPr lang="en-US" dirty="0" err="1">
                <a:latin typeface="Consolas" pitchFamily="49" charset="0"/>
              </a:rPr>
              <a:t>ebx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57400" y="3429000"/>
            <a:ext cx="44196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2880" rIns="182880" rtlCol="0" anchor="ctr"/>
          <a:lstStyle/>
          <a:p>
            <a:r>
              <a:rPr lang="en-US" dirty="0"/>
              <a:t>Assembly language is a nicer one. Yet, it is all not human friendly.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477000" y="3048000"/>
            <a:ext cx="9144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 flipH="1" flipV="1">
            <a:off x="6743700" y="2400300"/>
            <a:ext cx="12954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6477000" y="1754188"/>
            <a:ext cx="91440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705600" y="1905000"/>
            <a:ext cx="1371600" cy="838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action is called “Assemble”.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4419600"/>
            <a:ext cx="4419600" cy="533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133600" y="4495800"/>
            <a:ext cx="436369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onsolas" pitchFamily="49" charset="0"/>
              </a:rPr>
              <a:t>total = principal + profit * 0.9;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4953000"/>
            <a:ext cx="4419600" cy="762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182880" rIns="182880" rtlCol="0" anchor="ctr"/>
          <a:lstStyle/>
          <a:p>
            <a:r>
              <a:rPr lang="en-US" dirty="0"/>
              <a:t>As a human programmer, we usually write in high-level programming languages.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1000" y="4419600"/>
            <a:ext cx="1676400" cy="1295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High-level Programming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2895600"/>
            <a:ext cx="16764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1447800"/>
            <a:ext cx="1676400" cy="1295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 Language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6553200" y="4724400"/>
            <a:ext cx="12192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 flipH="1" flipV="1">
            <a:off x="7010400" y="3962400"/>
            <a:ext cx="15240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6477000" y="3200400"/>
            <a:ext cx="1295402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086600" y="3581400"/>
            <a:ext cx="1371600" cy="838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action is called “Compile”.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 animBg="1"/>
      <p:bldP spid="23" grpId="0" animBg="1"/>
      <p:bldP spid="26" grpId="0" animBg="1"/>
      <p:bldP spid="27" grpId="0"/>
      <p:bldP spid="29" grpId="0" animBg="1"/>
      <p:bldP spid="28" grpId="0" animBg="1"/>
      <p:bldP spid="14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1143000" y="1219200"/>
            <a:ext cx="4114800" cy="23622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Cycle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 b="45972"/>
          <a:stretch>
            <a:fillRect/>
          </a:stretch>
        </p:blipFill>
        <p:spPr bwMode="auto">
          <a:xfrm>
            <a:off x="1600200" y="1447800"/>
            <a:ext cx="32480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828800" y="2691825"/>
            <a:ext cx="2743200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Use a </a:t>
            </a:r>
            <a:r>
              <a:rPr lang="en-US" sz="1600" b="1" i="1" dirty="0"/>
              <a:t>text editor</a:t>
            </a:r>
            <a:r>
              <a:rPr lang="en-US" sz="1600" b="1" dirty="0"/>
              <a:t> to write high-level program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4200" y="1396425"/>
            <a:ext cx="1600200" cy="12705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(Build)</a:t>
            </a:r>
          </a:p>
          <a:p>
            <a:pPr algn="ctr"/>
            <a:r>
              <a:rPr lang="en-US" dirty="0"/>
              <a:t>Compile +</a:t>
            </a:r>
          </a:p>
          <a:p>
            <a:pPr algn="ctr"/>
            <a:r>
              <a:rPr lang="en-US" dirty="0"/>
              <a:t>Assemble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239000" y="3606225"/>
            <a:ext cx="838200" cy="990600"/>
            <a:chOff x="6705600" y="4648200"/>
            <a:chExt cx="838200" cy="990600"/>
          </a:xfrm>
        </p:grpSpPr>
        <p:sp>
          <p:nvSpPr>
            <p:cNvPr id="15" name="Rounded Rectangle 14"/>
            <p:cNvSpPr/>
            <p:nvPr/>
          </p:nvSpPr>
          <p:spPr>
            <a:xfrm>
              <a:off x="6705600" y="4648200"/>
              <a:ext cx="838200" cy="9906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781800" y="4876800"/>
              <a:ext cx="533400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34200" y="5029200"/>
              <a:ext cx="533400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858000" y="5181600"/>
              <a:ext cx="533400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934200" y="5410200"/>
              <a:ext cx="533400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6820582" y="4866382"/>
            <a:ext cx="2247218" cy="10772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dk1"/>
                </a:solidFill>
              </a:rPr>
              <a:t>Generate</a:t>
            </a:r>
            <a:r>
              <a:rPr lang="en-US" sz="1600" b="1" dirty="0"/>
              <a:t> object code </a:t>
            </a:r>
          </a:p>
          <a:p>
            <a:pPr algn="ctr"/>
            <a:r>
              <a:rPr lang="en-US" sz="1600" b="1" dirty="0"/>
              <a:t>and save the target in a</a:t>
            </a:r>
          </a:p>
          <a:p>
            <a:pPr algn="ctr"/>
            <a:r>
              <a:rPr lang="en-US" sz="1600" b="1" dirty="0"/>
              <a:t>machine executable file,</a:t>
            </a:r>
          </a:p>
          <a:p>
            <a:pPr algn="ctr"/>
            <a:r>
              <a:rPr lang="en-US" sz="1600" b="1" dirty="0"/>
              <a:t>e.g. “MyApp.exe”</a:t>
            </a:r>
          </a:p>
        </p:txBody>
      </p:sp>
      <p:pic>
        <p:nvPicPr>
          <p:cNvPr id="24" name="Picture 2" descr="Z:\teaching\os\2010-2011\lecture_notes\images\Core_i7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3200" y="4724400"/>
            <a:ext cx="1270000" cy="952500"/>
          </a:xfrm>
          <a:prstGeom prst="rect">
            <a:avLst/>
          </a:prstGeom>
          <a:noFill/>
        </p:spPr>
      </p:pic>
      <p:sp>
        <p:nvSpPr>
          <p:cNvPr id="26" name="Flowchart: Decision 25"/>
          <p:cNvSpPr/>
          <p:nvPr/>
        </p:nvSpPr>
        <p:spPr>
          <a:xfrm>
            <a:off x="2209800" y="4495800"/>
            <a:ext cx="2438400" cy="1219200"/>
          </a:xfrm>
          <a:prstGeom prst="flowChartDecisi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Is the result correct?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rot="10800000">
            <a:off x="4648200" y="5105400"/>
            <a:ext cx="609600" cy="1588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16200000" flipV="1">
            <a:off x="3083273" y="3997673"/>
            <a:ext cx="685800" cy="565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05200" y="4139625"/>
            <a:ext cx="2670924" cy="5847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/>
              <a:t>NO!  Check results and </a:t>
            </a:r>
            <a:br>
              <a:rPr lang="en-US" sz="1600" b="1" dirty="0"/>
            </a:br>
            <a:r>
              <a:rPr lang="en-US" sz="1600" b="1" dirty="0"/>
              <a:t>modify code, i.e., </a:t>
            </a:r>
            <a:r>
              <a:rPr lang="en-US" sz="1600" b="1" i="1" dirty="0"/>
              <a:t>debugging</a:t>
            </a:r>
            <a:endParaRPr lang="en-US" sz="1600" b="1" dirty="0"/>
          </a:p>
        </p:txBody>
      </p:sp>
      <p:cxnSp>
        <p:nvCxnSpPr>
          <p:cNvPr id="41" name="Straight Arrow Connector 40"/>
          <p:cNvCxnSpPr/>
          <p:nvPr/>
        </p:nvCxnSpPr>
        <p:spPr>
          <a:xfrm rot="10800000">
            <a:off x="1676397" y="5105400"/>
            <a:ext cx="457202" cy="1588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029200" y="1981200"/>
            <a:ext cx="1752600" cy="1588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5400000">
            <a:off x="7390606" y="3123406"/>
            <a:ext cx="609600" cy="1588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rot="10800000" flipV="1">
            <a:off x="6477000" y="4572000"/>
            <a:ext cx="685800" cy="381000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200400" y="1056382"/>
            <a:ext cx="1447800" cy="10772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Save as a program code </a:t>
            </a:r>
            <a:r>
              <a:rPr lang="en-US" sz="1600" b="1" i="1" dirty="0"/>
              <a:t>source file</a:t>
            </a:r>
            <a:r>
              <a:rPr lang="en-US" sz="1600" b="1" dirty="0"/>
              <a:t>, e.g. “</a:t>
            </a:r>
            <a:r>
              <a:rPr lang="en-US" sz="1600" b="1" dirty="0" err="1"/>
              <a:t>hello.c</a:t>
            </a:r>
            <a:r>
              <a:rPr lang="en-US" sz="1600" b="1" dirty="0"/>
              <a:t>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10200" y="5791200"/>
            <a:ext cx="1115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Execution</a:t>
            </a:r>
          </a:p>
        </p:txBody>
      </p:sp>
      <p:pic>
        <p:nvPicPr>
          <p:cNvPr id="22532" name="Picture 4" descr="C:\Temp\Cache\Temporary Internet Files\Content.IE5\E5RHZ5ZS\MC900151337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4301947"/>
            <a:ext cx="1493215" cy="1794053"/>
          </a:xfrm>
          <a:prstGeom prst="rect">
            <a:avLst/>
          </a:prstGeom>
          <a:noFill/>
        </p:spPr>
      </p:pic>
      <p:sp>
        <p:nvSpPr>
          <p:cNvPr id="65" name="TextBox 64"/>
          <p:cNvSpPr txBox="1"/>
          <p:nvPr/>
        </p:nvSpPr>
        <p:spPr>
          <a:xfrm>
            <a:off x="1628088" y="4343400"/>
            <a:ext cx="734112" cy="5847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/>
              <a:t>YES,</a:t>
            </a:r>
          </a:p>
          <a:p>
            <a:r>
              <a:rPr lang="en-US" sz="1600" b="1" dirty="0"/>
              <a:t>Bingo!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461" y="218182"/>
            <a:ext cx="1975339" cy="10772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Language translation and grammar checking with some software (compilers)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8777" y="5867400"/>
            <a:ext cx="1562223" cy="33855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i="1" dirty="0"/>
              <a:t>Program testing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5029200" y="2362200"/>
            <a:ext cx="175260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953000" y="2527012"/>
            <a:ext cx="1981200" cy="107721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Compilation FAILED!</a:t>
            </a:r>
          </a:p>
          <a:p>
            <a:r>
              <a:rPr lang="en-US" sz="1600" b="1" dirty="0"/>
              <a:t>Read error and warning messages, modify code to retry.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10200" y="1447800"/>
            <a:ext cx="1347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Compilation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2" grpId="0" animBg="1"/>
      <p:bldP spid="26" grpId="0" animBg="1"/>
      <p:bldP spid="34" grpId="0" animBg="1"/>
      <p:bldP spid="55" grpId="0" animBg="1"/>
      <p:bldP spid="61" grpId="0"/>
      <p:bldP spid="65" grpId="0" animBg="1"/>
      <p:bldP spid="29" grpId="0" animBg="1"/>
      <p:bldP spid="30" grpId="0" animBg="1"/>
      <p:bldP spid="33" grpId="0" animBg="1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Fundamentals of Programming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Understand the basic concepts and principles of programming</a:t>
            </a:r>
          </a:p>
          <a:p>
            <a:pPr lvl="1" eaLnBrk="1" hangingPunct="1"/>
            <a:endParaRPr lang="en-US" altLang="zh-TW" sz="14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Understand and </a:t>
            </a:r>
            <a:r>
              <a:rPr lang="en-US" altLang="zh-TW" sz="2800" i="1" dirty="0">
                <a:ea typeface="新細明體" pitchFamily="18" charset="-120"/>
              </a:rPr>
              <a:t>memorize</a:t>
            </a:r>
            <a:r>
              <a:rPr lang="en-US" altLang="zh-TW" sz="2800" dirty="0">
                <a:ea typeface="新細明體" pitchFamily="18" charset="-120"/>
              </a:rPr>
              <a:t> the syntax of a programming language</a:t>
            </a:r>
          </a:p>
          <a:p>
            <a:pPr eaLnBrk="1" hangingPunct="1"/>
            <a:endParaRPr lang="en-US" altLang="zh-TW" sz="14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Turn your idea/solution into equivalent instructions</a:t>
            </a:r>
          </a:p>
          <a:p>
            <a:pPr eaLnBrk="1" hangingPunct="1"/>
            <a:endParaRPr lang="en-US" altLang="zh-TW" sz="14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Know what APIs (Application Programming Interface) are available and learn how to use them</a:t>
            </a:r>
          </a:p>
          <a:p>
            <a:pPr eaLnBrk="1" hangingPunct="1"/>
            <a:endParaRPr lang="en-US" altLang="zh-TW" sz="1400" dirty="0">
              <a:ea typeface="新細明體" pitchFamily="18" charset="-120"/>
            </a:endParaRPr>
          </a:p>
        </p:txBody>
      </p:sp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00F575B3-5DF9-429E-AFBC-01A29FB6E4F0}" type="slidenum">
              <a:rPr lang="zh-TW" alt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/>
              <a:t>5</a:t>
            </a:fld>
            <a:endParaRPr lang="en-US" altLang="zh-TW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793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74DE-3DFA-4637-B2B1-CA526B75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"/>
              </a:rPr>
              <a:t>Why Learn Programming?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1470-7BEF-4C51-899C-3C27CE7B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This course is compulsory for all engineering students. Why?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Why do I need to learn </a:t>
            </a:r>
            <a:r>
              <a:rPr lang="en-US" b="1" dirty="0">
                <a:solidFill>
                  <a:schemeClr val="accent5"/>
                </a:solidFill>
                <a:cs typeface="Calibri"/>
              </a:rPr>
              <a:t>programming</a:t>
            </a:r>
            <a:r>
              <a:rPr lang="en-US" dirty="0">
                <a:cs typeface="Calibri"/>
              </a:rPr>
              <a:t>?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Is this course </a:t>
            </a:r>
            <a:r>
              <a:rPr lang="en-US" i="1" dirty="0">
                <a:cs typeface="Calibri"/>
              </a:rPr>
              <a:t>only</a:t>
            </a:r>
            <a:r>
              <a:rPr lang="en-US" dirty="0">
                <a:cs typeface="Calibri"/>
              </a:rPr>
              <a:t> important to those who want to study Computer Science?</a:t>
            </a:r>
          </a:p>
          <a:p>
            <a:pPr lvl="1"/>
            <a:r>
              <a:rPr lang="en-US" dirty="0">
                <a:cs typeface="Calibri"/>
              </a:rPr>
              <a:t>The answer is </a:t>
            </a:r>
            <a:r>
              <a:rPr lang="en-US" u="sng" dirty="0">
                <a:cs typeface="Calibri"/>
              </a:rPr>
              <a:t>NO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3AB3F-0E17-48E2-8C6F-871A5CE9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1554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74DE-3DFA-4637-B2B1-CA526B75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"/>
              </a:rPr>
              <a:t>Why Learn Programming?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1470-7BEF-4C51-899C-3C27CE7B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Maybe you are interested in...</a:t>
            </a:r>
            <a:endParaRPr lang="en-US" dirty="0"/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Internet-of-Things, Embedded Systems</a:t>
            </a: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Enterprise Systems, e-Commerce</a:t>
            </a: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Fin-Tech, Blockchain, Mobile Payment Systems</a:t>
            </a: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Biomedical and Environmental Innovations</a:t>
            </a: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Network Security, Big Data, Cloud Computing</a:t>
            </a: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Robotics, Artificial Intelligence, Game Industry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cs typeface="Calibri"/>
              </a:rPr>
              <a:t>In all these wonderful and exciting engineering frontiers, </a:t>
            </a:r>
            <a:r>
              <a:rPr lang="en-US" b="1" dirty="0">
                <a:solidFill>
                  <a:schemeClr val="accent3"/>
                </a:solidFill>
                <a:cs typeface="Calibri"/>
              </a:rPr>
              <a:t>software</a:t>
            </a:r>
            <a:r>
              <a:rPr lang="en-US" dirty="0">
                <a:cs typeface="Calibri"/>
              </a:rPr>
              <a:t> is a crucial component</a:t>
            </a:r>
          </a:p>
          <a:p>
            <a:r>
              <a:rPr lang="en-US" b="1" dirty="0">
                <a:solidFill>
                  <a:schemeClr val="accent5"/>
                </a:solidFill>
                <a:cs typeface="Calibri"/>
              </a:rPr>
              <a:t>Programming</a:t>
            </a:r>
            <a:r>
              <a:rPr lang="en-US" dirty="0">
                <a:cs typeface="Calibri"/>
              </a:rPr>
              <a:t> is crucial to the creation of </a:t>
            </a:r>
            <a:r>
              <a:rPr lang="en-US" b="1" dirty="0">
                <a:solidFill>
                  <a:schemeClr val="accent3"/>
                </a:solidFill>
                <a:cs typeface="Calibri"/>
              </a:rPr>
              <a:t>software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3AB3F-0E17-48E2-8C6F-871A5CE9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505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74DE-3DFA-4637-B2B1-CA526B75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"/>
              </a:rPr>
              <a:t>Why Learn Programming?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1470-7BEF-4C51-899C-3C27CE7B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Learning </a:t>
            </a:r>
            <a:r>
              <a:rPr lang="en-US" b="1" dirty="0">
                <a:solidFill>
                  <a:schemeClr val="accent5"/>
                </a:solidFill>
                <a:ea typeface="+mn-lt"/>
                <a:cs typeface="+mn-lt"/>
              </a:rPr>
              <a:t>programming</a:t>
            </a:r>
            <a:r>
              <a:rPr lang="en-US" dirty="0">
                <a:ea typeface="+mn-lt"/>
                <a:cs typeface="+mn-lt"/>
              </a:rPr>
              <a:t> well will benefit your future study in your future courses in </a:t>
            </a:r>
            <a:r>
              <a:rPr lang="en-US" u="sng" dirty="0">
                <a:ea typeface="+mn-lt"/>
                <a:cs typeface="+mn-lt"/>
              </a:rPr>
              <a:t>ANY department major programs</a:t>
            </a:r>
            <a:endParaRPr lang="en-US" u="sng" dirty="0"/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So please work hard in this course!</a:t>
            </a:r>
            <a:endParaRPr lang="en-US" u="sng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3AB3F-0E17-48E2-8C6F-871A5CE9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9442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Tools – </a:t>
            </a:r>
            <a:r>
              <a:rPr lang="en-US" dirty="0" err="1"/>
              <a:t>CLion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HK" dirty="0">
                <a:ea typeface="新細明體"/>
              </a:rPr>
              <a:t>An Integrated Development Environment (IDE)</a:t>
            </a:r>
            <a:endParaRPr lang="en-US" altLang="zh-HK" dirty="0">
              <a:ea typeface="新細明體"/>
              <a:cs typeface="Calibri"/>
            </a:endParaRPr>
          </a:p>
          <a:p>
            <a:r>
              <a:rPr lang="en-US" altLang="zh-HK" dirty="0">
                <a:ea typeface="新細明體"/>
              </a:rPr>
              <a:t>Project and file management</a:t>
            </a:r>
            <a:endParaRPr lang="en-US" altLang="zh-HK" dirty="0">
              <a:ea typeface="新細明體"/>
              <a:cs typeface="Calibri"/>
            </a:endParaRPr>
          </a:p>
          <a:p>
            <a:r>
              <a:rPr lang="en-US" altLang="zh-HK" dirty="0">
                <a:ea typeface="新細明體"/>
              </a:rPr>
              <a:t>Code editing</a:t>
            </a:r>
            <a:endParaRPr lang="en-US" altLang="zh-HK" dirty="0">
              <a:ea typeface="新細明體"/>
              <a:cs typeface="Calibri"/>
            </a:endParaRPr>
          </a:p>
          <a:p>
            <a:r>
              <a:rPr lang="en-US" altLang="zh-HK" dirty="0">
                <a:ea typeface="新細明體"/>
              </a:rPr>
              <a:t>Build (Compile + Link) and Run</a:t>
            </a:r>
            <a:endParaRPr lang="en-US" altLang="zh-HK" dirty="0">
              <a:ea typeface="新細明體"/>
              <a:cs typeface="Calibri"/>
            </a:endParaRPr>
          </a:p>
          <a:p>
            <a:r>
              <a:rPr lang="en-US" altLang="zh-HK" dirty="0">
                <a:ea typeface="新細明體"/>
              </a:rPr>
              <a:t>Debugging support</a:t>
            </a:r>
            <a:endParaRPr lang="en-US" altLang="zh-HK" dirty="0">
              <a:ea typeface="新細明體"/>
              <a:cs typeface="Calibri"/>
            </a:endParaRPr>
          </a:p>
          <a:p>
            <a:r>
              <a:rPr lang="en-US" dirty="0"/>
              <a:t>Free for Educational Users (slight registration </a:t>
            </a:r>
            <a:r>
              <a:rPr lang="en-US"/>
              <a:t>is needed)</a:t>
            </a:r>
            <a:endParaRPr lang="en-US" dirty="0"/>
          </a:p>
          <a:p>
            <a:r>
              <a:rPr lang="en-US" dirty="0">
                <a:cs typeface="Calibri"/>
              </a:rPr>
              <a:t>We will also introduce the tool in detail later</a:t>
            </a:r>
          </a:p>
        </p:txBody>
      </p:sp>
    </p:spTree>
    <p:extLst>
      <p:ext uri="{BB962C8B-B14F-4D97-AF65-F5344CB8AC3E}">
        <p14:creationId xmlns:p14="http://schemas.microsoft.com/office/powerpoint/2010/main" val="136425719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Other Programming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9" y="1066800"/>
            <a:ext cx="8921262" cy="51054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altLang="zh-TW" dirty="0">
                <a:ea typeface="新細明體"/>
              </a:rPr>
              <a:t>Visual Studio Community (Advanced)</a:t>
            </a:r>
            <a:endParaRPr lang="en-US" altLang="zh-TW" dirty="0">
              <a:ea typeface="新細明體" pitchFamily="18" charset="-120"/>
            </a:endParaRPr>
          </a:p>
          <a:p>
            <a:pPr lvl="1"/>
            <a:r>
              <a:rPr lang="en-US" altLang="zh-TW" dirty="0">
                <a:ea typeface="新細明體" pitchFamily="18" charset="-120"/>
              </a:rPr>
              <a:t>An Integrated Development Environment (IDE)</a:t>
            </a:r>
          </a:p>
          <a:p>
            <a:pPr lvl="2"/>
            <a:r>
              <a:rPr lang="en-US" altLang="zh-TW" dirty="0">
                <a:ea typeface="新細明體" pitchFamily="18" charset="-120"/>
              </a:rPr>
              <a:t>Editor + Compiler + Debugger + Other development tools</a:t>
            </a:r>
          </a:p>
          <a:p>
            <a:pPr lvl="2"/>
            <a:endParaRPr lang="en-US" altLang="zh-TW" dirty="0">
              <a:ea typeface="新細明體" pitchFamily="18" charset="-120"/>
            </a:endParaRPr>
          </a:p>
          <a:p>
            <a:pPr lvl="1"/>
            <a:r>
              <a:rPr lang="en-US" altLang="zh-TW" dirty="0">
                <a:ea typeface="新細明體" pitchFamily="18" charset="-120"/>
              </a:rPr>
              <a:t>VS Community Edition is free to download</a:t>
            </a:r>
          </a:p>
          <a:p>
            <a:pPr lvl="2"/>
            <a:r>
              <a:rPr lang="en-US" altLang="zh-TW" dirty="0">
                <a:ea typeface="新細明體" pitchFamily="18" charset="-120"/>
              </a:rPr>
              <a:t>Sign in using CUHK CWEM Microsoft O365 account</a:t>
            </a:r>
          </a:p>
          <a:p>
            <a:pPr lvl="2"/>
            <a:endParaRPr lang="en-US" altLang="zh-TW" dirty="0">
              <a:ea typeface="新細明體" pitchFamily="18" charset="-120"/>
            </a:endParaRPr>
          </a:p>
          <a:p>
            <a:pPr lvl="1"/>
            <a:r>
              <a:rPr lang="en-US" altLang="zh-TW" dirty="0">
                <a:ea typeface="新細明體" pitchFamily="18" charset="-120"/>
              </a:rPr>
              <a:t>More tools from Microsoft</a:t>
            </a:r>
          </a:p>
          <a:p>
            <a:pPr lvl="2"/>
            <a:r>
              <a:rPr lang="en-US" sz="2000" dirty="0">
                <a:ea typeface="+mn-lt"/>
                <a:cs typeface="+mn-lt"/>
                <a:hlinkClick r:id="rId3"/>
              </a:rPr>
              <a:t>https://visualstudio.microsoft.com/free-developer-offers/</a:t>
            </a:r>
            <a:r>
              <a:rPr lang="en-US" altLang="zh-TW" dirty="0">
                <a:ea typeface="新細明體"/>
              </a:rPr>
              <a:t> (Free!)</a:t>
            </a:r>
            <a:endParaRPr lang="en-US" altLang="zh-TW" dirty="0">
              <a:ea typeface="新細明體"/>
              <a:cs typeface="Calibri"/>
            </a:endParaRPr>
          </a:p>
          <a:p>
            <a:pPr lvl="2"/>
            <a:r>
              <a:rPr lang="en-US" altLang="zh-TW" dirty="0">
                <a:ea typeface="新細明體"/>
              </a:rPr>
              <a:t>Sign up with CUHK CWEM email address, or consult ITSC website</a:t>
            </a:r>
          </a:p>
          <a:p>
            <a:pPr lvl="2"/>
            <a:endParaRPr lang="en-US" altLang="zh-TW" dirty="0">
              <a:ea typeface="新細明體"/>
              <a:cs typeface="Calibri"/>
            </a:endParaRPr>
          </a:p>
          <a:p>
            <a:pPr lvl="1"/>
            <a:r>
              <a:rPr lang="en-US" altLang="zh-TW" dirty="0">
                <a:ea typeface="新細明體"/>
                <a:cs typeface="Calibri"/>
              </a:rPr>
              <a:t>Not needed to do your lab exercises; for your lab exercises, a browser will be enough</a:t>
            </a:r>
          </a:p>
          <a:p>
            <a:pPr lvl="1"/>
            <a:endParaRPr lang="en-US" altLang="zh-TW" dirty="0">
              <a:ea typeface="新細明體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1 Introduction to Computers</a:t>
            </a:r>
          </a:p>
          <a:p>
            <a:pPr lvl="1"/>
            <a:r>
              <a:rPr lang="en-US" dirty="0"/>
              <a:t>Sections 1.1 – 1.5, 1.9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8361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3045</TotalTime>
  <Words>871</Words>
  <Application>Microsoft Office PowerPoint</Application>
  <PresentationFormat>如螢幕大小 (4:3)</PresentationFormat>
  <Paragraphs>131</Paragraphs>
  <Slides>11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新細明體</vt:lpstr>
      <vt:lpstr>Arial</vt:lpstr>
      <vt:lpstr>Calibri</vt:lpstr>
      <vt:lpstr>Consolas</vt:lpstr>
      <vt:lpstr>Helvetica</vt:lpstr>
      <vt:lpstr>Office Theme</vt:lpstr>
      <vt:lpstr>Introduction to Programming</vt:lpstr>
      <vt:lpstr>What is Programming?</vt:lpstr>
      <vt:lpstr>Programming Languages</vt:lpstr>
      <vt:lpstr>Programming Cycle</vt:lpstr>
      <vt:lpstr>Fundamentals of Programming</vt:lpstr>
      <vt:lpstr>Why Learn Programming?</vt:lpstr>
      <vt:lpstr>Why Learn Programming?</vt:lpstr>
      <vt:lpstr>Why Learn Programming?</vt:lpstr>
      <vt:lpstr>Our Tools – CLion</vt:lpstr>
      <vt:lpstr>Other Programming Tools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cp:lastModifiedBy>Yim Pan Chui, Dr. (CSD)</cp:lastModifiedBy>
  <cp:revision>2</cp:revision>
  <cp:lastPrinted>2023-08-31T05:48:48Z</cp:lastPrinted>
  <dcterms:created xsi:type="dcterms:W3CDTF">2011-07-19T12:51:33Z</dcterms:created>
  <dcterms:modified xsi:type="dcterms:W3CDTF">2024-08-29T05:08:42Z</dcterms:modified>
</cp:coreProperties>
</file>