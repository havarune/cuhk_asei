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1"/>
  </p:sldMasterIdLst>
  <p:notesMasterIdLst>
    <p:notesMasterId r:id="rId31"/>
  </p:notesMasterIdLst>
  <p:handoutMasterIdLst>
    <p:handoutMasterId r:id="rId32"/>
  </p:handoutMasterIdLst>
  <p:sldIdLst>
    <p:sldId id="256" r:id="rId2"/>
    <p:sldId id="259" r:id="rId3"/>
    <p:sldId id="385" r:id="rId4"/>
    <p:sldId id="390" r:id="rId5"/>
    <p:sldId id="386" r:id="rId6"/>
    <p:sldId id="382" r:id="rId7"/>
    <p:sldId id="383" r:id="rId8"/>
    <p:sldId id="384" r:id="rId9"/>
    <p:sldId id="387" r:id="rId10"/>
    <p:sldId id="388" r:id="rId11"/>
    <p:sldId id="389" r:id="rId12"/>
    <p:sldId id="391" r:id="rId13"/>
    <p:sldId id="395" r:id="rId14"/>
    <p:sldId id="397" r:id="rId15"/>
    <p:sldId id="399" r:id="rId16"/>
    <p:sldId id="398" r:id="rId17"/>
    <p:sldId id="400" r:id="rId18"/>
    <p:sldId id="401" r:id="rId19"/>
    <p:sldId id="404" r:id="rId20"/>
    <p:sldId id="403" r:id="rId21"/>
    <p:sldId id="406" r:id="rId22"/>
    <p:sldId id="407" r:id="rId23"/>
    <p:sldId id="408" r:id="rId24"/>
    <p:sldId id="308" r:id="rId25"/>
    <p:sldId id="411" r:id="rId26"/>
    <p:sldId id="409" r:id="rId27"/>
    <p:sldId id="394" r:id="rId28"/>
    <p:sldId id="392" r:id="rId29"/>
    <p:sldId id="410" r:id="rId30"/>
  </p:sldIdLst>
  <p:sldSz cx="9144000" cy="6858000" type="screen4x3"/>
  <p:notesSz cx="6858000" cy="9144000"/>
  <p:embeddedFontLst>
    <p:embeddedFont>
      <p:font typeface="Consolas" panose="020B0609020204030204" pitchFamily="49" charset="0"/>
      <p:regular r:id="rId33"/>
      <p:bold r:id="rId34"/>
      <p:italic r:id="rId35"/>
      <p:boldItalic r:id="rId36"/>
    </p:embeddedFont>
    <p:embeddedFont>
      <p:font typeface="Helvetica" panose="020B0604020202020204" pitchFamily="34" charset="0"/>
      <p:regular r:id="rId37"/>
      <p:bold r:id="rId38"/>
      <p:italic r:id="rId39"/>
      <p:boldItalic r:id="rId40"/>
    </p:embeddedFont>
    <p:embeddedFont>
      <p:font typeface="PMingLiU" panose="02020500000000000000" pitchFamily="18" charset="-120"/>
      <p:regular r:id="rId41"/>
    </p:embeddedFont>
  </p:embeddedFontLst>
  <p:custDataLst>
    <p:tags r:id="rId42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  <a:srgbClr val="CCFFCC"/>
    <a:srgbClr val="750F6D"/>
    <a:srgbClr val="0000FF"/>
    <a:srgbClr val="FF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E551C9-B3E5-496A-8DA6-7E73D44C8172}" v="68" dt="2024-07-04T07:45:37.83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9" d="100"/>
          <a:sy n="49" d="100"/>
        </p:scale>
        <p:origin x="1136" y="4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7.fntdata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42" Type="http://schemas.openxmlformats.org/officeDocument/2006/relationships/tags" Target="tags/tag1.xml"/><Relationship Id="rId47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37" Type="http://schemas.openxmlformats.org/officeDocument/2006/relationships/font" Target="fonts/font5.fntdata"/><Relationship Id="rId40" Type="http://schemas.openxmlformats.org/officeDocument/2006/relationships/font" Target="fonts/font8.fntdata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43" Type="http://schemas.openxmlformats.org/officeDocument/2006/relationships/presProps" Target="presProps.xml"/><Relationship Id="rId48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font" Target="fonts/font6.fntdata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9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im Pan Chui, Dr. (CSD)" userId="06f431c5-cc1a-4439-a61b-5f3af947c103" providerId="ADAL" clId="{3CA53D76-C744-40EC-A8FE-AEE35BDF2779}"/>
    <pc:docChg chg="undo custSel modSld">
      <pc:chgData name="Yim Pan Chui, Dr. (CSD)" userId="06f431c5-cc1a-4439-a61b-5f3af947c103" providerId="ADAL" clId="{3CA53D76-C744-40EC-A8FE-AEE35BDF2779}" dt="2024-03-31T15:02:00.605" v="406" actId="20577"/>
      <pc:docMkLst>
        <pc:docMk/>
      </pc:docMkLst>
      <pc:sldChg chg="addSp modSp mod modAnim">
        <pc:chgData name="Yim Pan Chui, Dr. (CSD)" userId="06f431c5-cc1a-4439-a61b-5f3af947c103" providerId="ADAL" clId="{3CA53D76-C744-40EC-A8FE-AEE35BDF2779}" dt="2024-03-31T14:47:13.705" v="159" actId="207"/>
        <pc:sldMkLst>
          <pc:docMk/>
          <pc:sldMk cId="2458953853" sldId="383"/>
        </pc:sldMkLst>
        <pc:spChg chg="add mod">
          <ac:chgData name="Yim Pan Chui, Dr. (CSD)" userId="06f431c5-cc1a-4439-a61b-5f3af947c103" providerId="ADAL" clId="{3CA53D76-C744-40EC-A8FE-AEE35BDF2779}" dt="2024-03-31T14:47:13.705" v="159" actId="207"/>
          <ac:spMkLst>
            <pc:docMk/>
            <pc:sldMk cId="2458953853" sldId="383"/>
            <ac:spMk id="2" creationId="{F854DCFA-BC02-9D73-1893-D00D69BCB486}"/>
          </ac:spMkLst>
        </pc:spChg>
        <pc:spChg chg="add mod">
          <ac:chgData name="Yim Pan Chui, Dr. (CSD)" userId="06f431c5-cc1a-4439-a61b-5f3af947c103" providerId="ADAL" clId="{3CA53D76-C744-40EC-A8FE-AEE35BDF2779}" dt="2024-03-31T14:40:33.667" v="73"/>
          <ac:spMkLst>
            <pc:docMk/>
            <pc:sldMk cId="2458953853" sldId="383"/>
            <ac:spMk id="4" creationId="{32572A10-4D5B-AFAA-6A29-8978852B50F9}"/>
          </ac:spMkLst>
        </pc:spChg>
        <pc:spChg chg="add">
          <ac:chgData name="Yim Pan Chui, Dr. (CSD)" userId="06f431c5-cc1a-4439-a61b-5f3af947c103" providerId="ADAL" clId="{3CA53D76-C744-40EC-A8FE-AEE35BDF2779}" dt="2024-03-31T14:41:00.245" v="75"/>
          <ac:spMkLst>
            <pc:docMk/>
            <pc:sldMk cId="2458953853" sldId="383"/>
            <ac:spMk id="7" creationId="{050F494C-DFFE-33B5-0A1B-67E487638151}"/>
          </ac:spMkLst>
        </pc:spChg>
        <pc:spChg chg="add mod">
          <ac:chgData name="Yim Pan Chui, Dr. (CSD)" userId="06f431c5-cc1a-4439-a61b-5f3af947c103" providerId="ADAL" clId="{3CA53D76-C744-40EC-A8FE-AEE35BDF2779}" dt="2024-03-31T14:41:05.072" v="77"/>
          <ac:spMkLst>
            <pc:docMk/>
            <pc:sldMk cId="2458953853" sldId="383"/>
            <ac:spMk id="8" creationId="{9D2F216C-37D1-EAD8-9004-56B9D0BA9200}"/>
          </ac:spMkLst>
        </pc:spChg>
        <pc:spChg chg="add">
          <ac:chgData name="Yim Pan Chui, Dr. (CSD)" userId="06f431c5-cc1a-4439-a61b-5f3af947c103" providerId="ADAL" clId="{3CA53D76-C744-40EC-A8FE-AEE35BDF2779}" dt="2024-03-31T14:41:11.745" v="78"/>
          <ac:spMkLst>
            <pc:docMk/>
            <pc:sldMk cId="2458953853" sldId="383"/>
            <ac:spMk id="9" creationId="{F365C4E4-FE01-F2FB-BB05-F9CC20F5CDAA}"/>
          </ac:spMkLst>
        </pc:spChg>
        <pc:spChg chg="mod">
          <ac:chgData name="Yim Pan Chui, Dr. (CSD)" userId="06f431c5-cc1a-4439-a61b-5f3af947c103" providerId="ADAL" clId="{3CA53D76-C744-40EC-A8FE-AEE35BDF2779}" dt="2024-03-31T14:46:29.466" v="157" actId="207"/>
          <ac:spMkLst>
            <pc:docMk/>
            <pc:sldMk cId="2458953853" sldId="383"/>
            <ac:spMk id="108546" creationId="{00000000-0000-0000-0000-000000000000}"/>
          </ac:spMkLst>
        </pc:spChg>
      </pc:sldChg>
      <pc:sldChg chg="modSp mod">
        <pc:chgData name="Yim Pan Chui, Dr. (CSD)" userId="06f431c5-cc1a-4439-a61b-5f3af947c103" providerId="ADAL" clId="{3CA53D76-C744-40EC-A8FE-AEE35BDF2779}" dt="2024-03-31T14:35:19.758" v="56" actId="20577"/>
        <pc:sldMkLst>
          <pc:docMk/>
          <pc:sldMk cId="4216806017" sldId="384"/>
        </pc:sldMkLst>
        <pc:spChg chg="mod">
          <ac:chgData name="Yim Pan Chui, Dr. (CSD)" userId="06f431c5-cc1a-4439-a61b-5f3af947c103" providerId="ADAL" clId="{3CA53D76-C744-40EC-A8FE-AEE35BDF2779}" dt="2024-03-31T14:35:19.758" v="56" actId="20577"/>
          <ac:spMkLst>
            <pc:docMk/>
            <pc:sldMk cId="4216806017" sldId="384"/>
            <ac:spMk id="108546" creationId="{00000000-0000-0000-0000-000000000000}"/>
          </ac:spMkLst>
        </pc:spChg>
      </pc:sldChg>
      <pc:sldChg chg="modSp mod">
        <pc:chgData name="Yim Pan Chui, Dr. (CSD)" userId="06f431c5-cc1a-4439-a61b-5f3af947c103" providerId="ADAL" clId="{3CA53D76-C744-40EC-A8FE-AEE35BDF2779}" dt="2024-03-31T14:30:05.499" v="5" actId="13926"/>
        <pc:sldMkLst>
          <pc:docMk/>
          <pc:sldMk cId="92146439" sldId="387"/>
        </pc:sldMkLst>
        <pc:spChg chg="mod">
          <ac:chgData name="Yim Pan Chui, Dr. (CSD)" userId="06f431c5-cc1a-4439-a61b-5f3af947c103" providerId="ADAL" clId="{3CA53D76-C744-40EC-A8FE-AEE35BDF2779}" dt="2024-03-31T14:30:05.499" v="5" actId="13926"/>
          <ac:spMkLst>
            <pc:docMk/>
            <pc:sldMk cId="92146439" sldId="387"/>
            <ac:spMk id="108546" creationId="{00000000-0000-0000-0000-000000000000}"/>
          </ac:spMkLst>
        </pc:spChg>
      </pc:sldChg>
      <pc:sldChg chg="modSp mod">
        <pc:chgData name="Yim Pan Chui, Dr. (CSD)" userId="06f431c5-cc1a-4439-a61b-5f3af947c103" providerId="ADAL" clId="{3CA53D76-C744-40EC-A8FE-AEE35BDF2779}" dt="2024-03-31T14:35:30.011" v="57"/>
        <pc:sldMkLst>
          <pc:docMk/>
          <pc:sldMk cId="569942825" sldId="388"/>
        </pc:sldMkLst>
        <pc:spChg chg="mod">
          <ac:chgData name="Yim Pan Chui, Dr. (CSD)" userId="06f431c5-cc1a-4439-a61b-5f3af947c103" providerId="ADAL" clId="{3CA53D76-C744-40EC-A8FE-AEE35BDF2779}" dt="2024-03-31T14:35:30.011" v="57"/>
          <ac:spMkLst>
            <pc:docMk/>
            <pc:sldMk cId="569942825" sldId="388"/>
            <ac:spMk id="108546" creationId="{00000000-0000-0000-0000-000000000000}"/>
          </ac:spMkLst>
        </pc:spChg>
      </pc:sldChg>
      <pc:sldChg chg="modSp mod">
        <pc:chgData name="Yim Pan Chui, Dr. (CSD)" userId="06f431c5-cc1a-4439-a61b-5f3af947c103" providerId="ADAL" clId="{3CA53D76-C744-40EC-A8FE-AEE35BDF2779}" dt="2024-03-31T14:35:33.008" v="58"/>
        <pc:sldMkLst>
          <pc:docMk/>
          <pc:sldMk cId="1304222779" sldId="389"/>
        </pc:sldMkLst>
        <pc:spChg chg="mod">
          <ac:chgData name="Yim Pan Chui, Dr. (CSD)" userId="06f431c5-cc1a-4439-a61b-5f3af947c103" providerId="ADAL" clId="{3CA53D76-C744-40EC-A8FE-AEE35BDF2779}" dt="2024-03-31T14:35:33.008" v="58"/>
          <ac:spMkLst>
            <pc:docMk/>
            <pc:sldMk cId="1304222779" sldId="389"/>
            <ac:spMk id="108546" creationId="{00000000-0000-0000-0000-000000000000}"/>
          </ac:spMkLst>
        </pc:spChg>
      </pc:sldChg>
      <pc:sldChg chg="modSp mod">
        <pc:chgData name="Yim Pan Chui, Dr. (CSD)" userId="06f431c5-cc1a-4439-a61b-5f3af947c103" providerId="ADAL" clId="{3CA53D76-C744-40EC-A8FE-AEE35BDF2779}" dt="2024-03-31T14:35:36.317" v="59"/>
        <pc:sldMkLst>
          <pc:docMk/>
          <pc:sldMk cId="1797583082" sldId="391"/>
        </pc:sldMkLst>
        <pc:spChg chg="mod">
          <ac:chgData name="Yim Pan Chui, Dr. (CSD)" userId="06f431c5-cc1a-4439-a61b-5f3af947c103" providerId="ADAL" clId="{3CA53D76-C744-40EC-A8FE-AEE35BDF2779}" dt="2024-03-31T14:35:36.317" v="59"/>
          <ac:spMkLst>
            <pc:docMk/>
            <pc:sldMk cId="1797583082" sldId="391"/>
            <ac:spMk id="108546" creationId="{00000000-0000-0000-0000-000000000000}"/>
          </ac:spMkLst>
        </pc:spChg>
      </pc:sldChg>
      <pc:sldChg chg="modSp mod">
        <pc:chgData name="Yim Pan Chui, Dr. (CSD)" userId="06f431c5-cc1a-4439-a61b-5f3af947c103" providerId="ADAL" clId="{3CA53D76-C744-40EC-A8FE-AEE35BDF2779}" dt="2024-03-31T14:31:06.988" v="12" actId="27636"/>
        <pc:sldMkLst>
          <pc:docMk/>
          <pc:sldMk cId="3458066092" sldId="395"/>
        </pc:sldMkLst>
        <pc:spChg chg="mod">
          <ac:chgData name="Yim Pan Chui, Dr. (CSD)" userId="06f431c5-cc1a-4439-a61b-5f3af947c103" providerId="ADAL" clId="{3CA53D76-C744-40EC-A8FE-AEE35BDF2779}" dt="2024-03-31T14:31:06.988" v="12" actId="27636"/>
          <ac:spMkLst>
            <pc:docMk/>
            <pc:sldMk cId="3458066092" sldId="395"/>
            <ac:spMk id="3" creationId="{00000000-0000-0000-0000-000000000000}"/>
          </ac:spMkLst>
        </pc:spChg>
        <pc:spChg chg="mod">
          <ac:chgData name="Yim Pan Chui, Dr. (CSD)" userId="06f431c5-cc1a-4439-a61b-5f3af947c103" providerId="ADAL" clId="{3CA53D76-C744-40EC-A8FE-AEE35BDF2779}" dt="2024-03-31T14:30:53.476" v="9" actId="13926"/>
          <ac:spMkLst>
            <pc:docMk/>
            <pc:sldMk cId="3458066092" sldId="395"/>
            <ac:spMk id="5" creationId="{00000000-0000-0000-0000-000000000000}"/>
          </ac:spMkLst>
        </pc:spChg>
      </pc:sldChg>
      <pc:sldChg chg="modSp mod">
        <pc:chgData name="Yim Pan Chui, Dr. (CSD)" userId="06f431c5-cc1a-4439-a61b-5f3af947c103" providerId="ADAL" clId="{3CA53D76-C744-40EC-A8FE-AEE35BDF2779}" dt="2024-03-31T14:35:42.288" v="60"/>
        <pc:sldMkLst>
          <pc:docMk/>
          <pc:sldMk cId="4199362674" sldId="399"/>
        </pc:sldMkLst>
        <pc:spChg chg="mod">
          <ac:chgData name="Yim Pan Chui, Dr. (CSD)" userId="06f431c5-cc1a-4439-a61b-5f3af947c103" providerId="ADAL" clId="{3CA53D76-C744-40EC-A8FE-AEE35BDF2779}" dt="2024-03-31T14:35:42.288" v="60"/>
          <ac:spMkLst>
            <pc:docMk/>
            <pc:sldMk cId="4199362674" sldId="399"/>
            <ac:spMk id="108546" creationId="{00000000-0000-0000-0000-000000000000}"/>
          </ac:spMkLst>
        </pc:spChg>
      </pc:sldChg>
      <pc:sldChg chg="modSp mod">
        <pc:chgData name="Yim Pan Chui, Dr. (CSD)" userId="06f431c5-cc1a-4439-a61b-5f3af947c103" providerId="ADAL" clId="{3CA53D76-C744-40EC-A8FE-AEE35BDF2779}" dt="2024-03-31T14:35:06.701" v="44" actId="20577"/>
        <pc:sldMkLst>
          <pc:docMk/>
          <pc:sldMk cId="1684018004" sldId="401"/>
        </pc:sldMkLst>
        <pc:spChg chg="mod">
          <ac:chgData name="Yim Pan Chui, Dr. (CSD)" userId="06f431c5-cc1a-4439-a61b-5f3af947c103" providerId="ADAL" clId="{3CA53D76-C744-40EC-A8FE-AEE35BDF2779}" dt="2024-03-31T14:35:06.701" v="44" actId="20577"/>
          <ac:spMkLst>
            <pc:docMk/>
            <pc:sldMk cId="1684018004" sldId="401"/>
            <ac:spMk id="108546" creationId="{00000000-0000-0000-0000-000000000000}"/>
          </ac:spMkLst>
        </pc:spChg>
      </pc:sldChg>
      <pc:sldChg chg="modSp mod">
        <pc:chgData name="Yim Pan Chui, Dr. (CSD)" userId="06f431c5-cc1a-4439-a61b-5f3af947c103" providerId="ADAL" clId="{3CA53D76-C744-40EC-A8FE-AEE35BDF2779}" dt="2024-03-31T14:36:19.577" v="65"/>
        <pc:sldMkLst>
          <pc:docMk/>
          <pc:sldMk cId="2515751913" sldId="403"/>
        </pc:sldMkLst>
        <pc:spChg chg="mod">
          <ac:chgData name="Yim Pan Chui, Dr. (CSD)" userId="06f431c5-cc1a-4439-a61b-5f3af947c103" providerId="ADAL" clId="{3CA53D76-C744-40EC-A8FE-AEE35BDF2779}" dt="2024-03-31T14:36:19.577" v="65"/>
          <ac:spMkLst>
            <pc:docMk/>
            <pc:sldMk cId="2515751913" sldId="403"/>
            <ac:spMk id="108546" creationId="{00000000-0000-0000-0000-000000000000}"/>
          </ac:spMkLst>
        </pc:spChg>
      </pc:sldChg>
      <pc:sldChg chg="modSp mod">
        <pc:chgData name="Yim Pan Chui, Dr. (CSD)" userId="06f431c5-cc1a-4439-a61b-5f3af947c103" providerId="ADAL" clId="{3CA53D76-C744-40EC-A8FE-AEE35BDF2779}" dt="2024-03-31T14:36:04.975" v="63" actId="13926"/>
        <pc:sldMkLst>
          <pc:docMk/>
          <pc:sldMk cId="379103974" sldId="404"/>
        </pc:sldMkLst>
        <pc:spChg chg="mod">
          <ac:chgData name="Yim Pan Chui, Dr. (CSD)" userId="06f431c5-cc1a-4439-a61b-5f3af947c103" providerId="ADAL" clId="{3CA53D76-C744-40EC-A8FE-AEE35BDF2779}" dt="2024-03-31T14:36:04.975" v="63" actId="13926"/>
          <ac:spMkLst>
            <pc:docMk/>
            <pc:sldMk cId="379103974" sldId="404"/>
            <ac:spMk id="108546" creationId="{00000000-0000-0000-0000-000000000000}"/>
          </ac:spMkLst>
        </pc:spChg>
      </pc:sldChg>
      <pc:sldChg chg="addSp modSp mod modAnim">
        <pc:chgData name="Yim Pan Chui, Dr. (CSD)" userId="06f431c5-cc1a-4439-a61b-5f3af947c103" providerId="ADAL" clId="{3CA53D76-C744-40EC-A8FE-AEE35BDF2779}" dt="2024-03-31T15:00:56.424" v="398" actId="13926"/>
        <pc:sldMkLst>
          <pc:docMk/>
          <pc:sldMk cId="276422516" sldId="407"/>
        </pc:sldMkLst>
        <pc:spChg chg="add mod">
          <ac:chgData name="Yim Pan Chui, Dr. (CSD)" userId="06f431c5-cc1a-4439-a61b-5f3af947c103" providerId="ADAL" clId="{3CA53D76-C744-40EC-A8FE-AEE35BDF2779}" dt="2024-03-31T14:50:28.741" v="281" actId="20577"/>
          <ac:spMkLst>
            <pc:docMk/>
            <pc:sldMk cId="276422516" sldId="407"/>
            <ac:spMk id="2" creationId="{9E5733F1-F399-63E6-34EF-DF8BD9D2065C}"/>
          </ac:spMkLst>
        </pc:spChg>
        <pc:spChg chg="mod">
          <ac:chgData name="Yim Pan Chui, Dr. (CSD)" userId="06f431c5-cc1a-4439-a61b-5f3af947c103" providerId="ADAL" clId="{3CA53D76-C744-40EC-A8FE-AEE35BDF2779}" dt="2024-03-31T15:00:56.424" v="398" actId="13926"/>
          <ac:spMkLst>
            <pc:docMk/>
            <pc:sldMk cId="276422516" sldId="407"/>
            <ac:spMk id="108546" creationId="{00000000-0000-0000-0000-000000000000}"/>
          </ac:spMkLst>
        </pc:spChg>
      </pc:sldChg>
      <pc:sldChg chg="modSp mod">
        <pc:chgData name="Yim Pan Chui, Dr. (CSD)" userId="06f431c5-cc1a-4439-a61b-5f3af947c103" providerId="ADAL" clId="{3CA53D76-C744-40EC-A8FE-AEE35BDF2779}" dt="2024-03-31T15:01:28.384" v="404" actId="13926"/>
        <pc:sldMkLst>
          <pc:docMk/>
          <pc:sldMk cId="190952018" sldId="408"/>
        </pc:sldMkLst>
        <pc:spChg chg="mod">
          <ac:chgData name="Yim Pan Chui, Dr. (CSD)" userId="06f431c5-cc1a-4439-a61b-5f3af947c103" providerId="ADAL" clId="{3CA53D76-C744-40EC-A8FE-AEE35BDF2779}" dt="2024-03-31T15:01:28.384" v="404" actId="13926"/>
          <ac:spMkLst>
            <pc:docMk/>
            <pc:sldMk cId="190952018" sldId="408"/>
            <ac:spMk id="108546" creationId="{00000000-0000-0000-0000-000000000000}"/>
          </ac:spMkLst>
        </pc:spChg>
      </pc:sldChg>
      <pc:sldChg chg="modSp mod">
        <pc:chgData name="Yim Pan Chui, Dr. (CSD)" userId="06f431c5-cc1a-4439-a61b-5f3af947c103" providerId="ADAL" clId="{3CA53D76-C744-40EC-A8FE-AEE35BDF2779}" dt="2024-03-31T15:02:00.605" v="406" actId="20577"/>
        <pc:sldMkLst>
          <pc:docMk/>
          <pc:sldMk cId="3704575027" sldId="410"/>
        </pc:sldMkLst>
        <pc:spChg chg="mod">
          <ac:chgData name="Yim Pan Chui, Dr. (CSD)" userId="06f431c5-cc1a-4439-a61b-5f3af947c103" providerId="ADAL" clId="{3CA53D76-C744-40EC-A8FE-AEE35BDF2779}" dt="2024-03-31T15:02:00.605" v="406" actId="20577"/>
          <ac:spMkLst>
            <pc:docMk/>
            <pc:sldMk cId="3704575027" sldId="410"/>
            <ac:spMk id="3" creationId="{00000000-0000-0000-0000-000000000000}"/>
          </ac:spMkLst>
        </pc:spChg>
      </pc:sldChg>
    </pc:docChg>
  </pc:docChgLst>
  <pc:docChgLst>
    <pc:chgData name="Yim Pan Chui, Dr. (CSD)" userId="06f431c5-cc1a-4439-a61b-5f3af947c103" providerId="ADAL" clId="{87E551C9-B3E5-496A-8DA6-7E73D44C8172}"/>
    <pc:docChg chg="undo custSel modSld">
      <pc:chgData name="Yim Pan Chui, Dr. (CSD)" userId="06f431c5-cc1a-4439-a61b-5f3af947c103" providerId="ADAL" clId="{87E551C9-B3E5-496A-8DA6-7E73D44C8172}" dt="2024-07-04T07:45:37.831" v="73" actId="1076"/>
      <pc:docMkLst>
        <pc:docMk/>
      </pc:docMkLst>
      <pc:sldChg chg="modSp mod">
        <pc:chgData name="Yim Pan Chui, Dr. (CSD)" userId="06f431c5-cc1a-4439-a61b-5f3af947c103" providerId="ADAL" clId="{87E551C9-B3E5-496A-8DA6-7E73D44C8172}" dt="2024-07-04T07:42:57.535" v="3" actId="13926"/>
        <pc:sldMkLst>
          <pc:docMk/>
          <pc:sldMk cId="2458953853" sldId="383"/>
        </pc:sldMkLst>
        <pc:spChg chg="mod">
          <ac:chgData name="Yim Pan Chui, Dr. (CSD)" userId="06f431c5-cc1a-4439-a61b-5f3af947c103" providerId="ADAL" clId="{87E551C9-B3E5-496A-8DA6-7E73D44C8172}" dt="2024-07-04T07:42:57.535" v="3" actId="13926"/>
          <ac:spMkLst>
            <pc:docMk/>
            <pc:sldMk cId="2458953853" sldId="383"/>
            <ac:spMk id="108546" creationId="{00000000-0000-0000-0000-000000000000}"/>
          </ac:spMkLst>
        </pc:spChg>
      </pc:sldChg>
      <pc:sldChg chg="modSp">
        <pc:chgData name="Yim Pan Chui, Dr. (CSD)" userId="06f431c5-cc1a-4439-a61b-5f3af947c103" providerId="ADAL" clId="{87E551C9-B3E5-496A-8DA6-7E73D44C8172}" dt="2024-07-04T07:43:58.084" v="16" actId="1037"/>
        <pc:sldMkLst>
          <pc:docMk/>
          <pc:sldMk cId="4216806017" sldId="384"/>
        </pc:sldMkLst>
        <pc:spChg chg="mod">
          <ac:chgData name="Yim Pan Chui, Dr. (CSD)" userId="06f431c5-cc1a-4439-a61b-5f3af947c103" providerId="ADAL" clId="{87E551C9-B3E5-496A-8DA6-7E73D44C8172}" dt="2024-07-04T07:43:58.084" v="16" actId="1037"/>
          <ac:spMkLst>
            <pc:docMk/>
            <pc:sldMk cId="4216806017" sldId="384"/>
            <ac:spMk id="10" creationId="{00000000-0000-0000-0000-000000000000}"/>
          </ac:spMkLst>
        </pc:spChg>
      </pc:sldChg>
      <pc:sldChg chg="modSp mod">
        <pc:chgData name="Yim Pan Chui, Dr. (CSD)" userId="06f431c5-cc1a-4439-a61b-5f3af947c103" providerId="ADAL" clId="{87E551C9-B3E5-496A-8DA6-7E73D44C8172}" dt="2024-07-04T07:44:18.372" v="18" actId="1076"/>
        <pc:sldMkLst>
          <pc:docMk/>
          <pc:sldMk cId="92146439" sldId="387"/>
        </pc:sldMkLst>
        <pc:spChg chg="mod">
          <ac:chgData name="Yim Pan Chui, Dr. (CSD)" userId="06f431c5-cc1a-4439-a61b-5f3af947c103" providerId="ADAL" clId="{87E551C9-B3E5-496A-8DA6-7E73D44C8172}" dt="2024-07-04T07:44:18.372" v="18" actId="1076"/>
          <ac:spMkLst>
            <pc:docMk/>
            <pc:sldMk cId="92146439" sldId="387"/>
            <ac:spMk id="108546" creationId="{00000000-0000-0000-0000-000000000000}"/>
          </ac:spMkLst>
        </pc:spChg>
      </pc:sldChg>
      <pc:sldChg chg="modSp">
        <pc:chgData name="Yim Pan Chui, Dr. (CSD)" userId="06f431c5-cc1a-4439-a61b-5f3af947c103" providerId="ADAL" clId="{87E551C9-B3E5-496A-8DA6-7E73D44C8172}" dt="2024-07-04T07:44:41.094" v="22" actId="1035"/>
        <pc:sldMkLst>
          <pc:docMk/>
          <pc:sldMk cId="1304222779" sldId="389"/>
        </pc:sldMkLst>
        <pc:spChg chg="mod">
          <ac:chgData name="Yim Pan Chui, Dr. (CSD)" userId="06f431c5-cc1a-4439-a61b-5f3af947c103" providerId="ADAL" clId="{87E551C9-B3E5-496A-8DA6-7E73D44C8172}" dt="2024-07-04T07:44:41.094" v="22" actId="1035"/>
          <ac:spMkLst>
            <pc:docMk/>
            <pc:sldMk cId="1304222779" sldId="389"/>
            <ac:spMk id="11" creationId="{00000000-0000-0000-0000-000000000000}"/>
          </ac:spMkLst>
        </pc:spChg>
      </pc:sldChg>
      <pc:sldChg chg="modSp">
        <pc:chgData name="Yim Pan Chui, Dr. (CSD)" userId="06f431c5-cc1a-4439-a61b-5f3af947c103" providerId="ADAL" clId="{87E551C9-B3E5-496A-8DA6-7E73D44C8172}" dt="2024-07-04T07:45:04.843" v="70" actId="1038"/>
        <pc:sldMkLst>
          <pc:docMk/>
          <pc:sldMk cId="1797583082" sldId="391"/>
        </pc:sldMkLst>
        <pc:spChg chg="mod">
          <ac:chgData name="Yim Pan Chui, Dr. (CSD)" userId="06f431c5-cc1a-4439-a61b-5f3af947c103" providerId="ADAL" clId="{87E551C9-B3E5-496A-8DA6-7E73D44C8172}" dt="2024-07-04T07:45:04.843" v="70" actId="1038"/>
          <ac:spMkLst>
            <pc:docMk/>
            <pc:sldMk cId="1797583082" sldId="391"/>
            <ac:spMk id="8" creationId="{00000000-0000-0000-0000-000000000000}"/>
          </ac:spMkLst>
        </pc:spChg>
      </pc:sldChg>
      <pc:sldChg chg="modSp">
        <pc:chgData name="Yim Pan Chui, Dr. (CSD)" userId="06f431c5-cc1a-4439-a61b-5f3af947c103" providerId="ADAL" clId="{87E551C9-B3E5-496A-8DA6-7E73D44C8172}" dt="2024-07-04T07:45:20.447" v="71" actId="1076"/>
        <pc:sldMkLst>
          <pc:docMk/>
          <pc:sldMk cId="4199362674" sldId="399"/>
        </pc:sldMkLst>
        <pc:spChg chg="mod">
          <ac:chgData name="Yim Pan Chui, Dr. (CSD)" userId="06f431c5-cc1a-4439-a61b-5f3af947c103" providerId="ADAL" clId="{87E551C9-B3E5-496A-8DA6-7E73D44C8172}" dt="2024-07-04T07:45:20.447" v="71" actId="1076"/>
          <ac:spMkLst>
            <pc:docMk/>
            <pc:sldMk cId="4199362674" sldId="399"/>
            <ac:spMk id="10" creationId="{00000000-0000-0000-0000-000000000000}"/>
          </ac:spMkLst>
        </pc:spChg>
      </pc:sldChg>
      <pc:sldChg chg="modSp">
        <pc:chgData name="Yim Pan Chui, Dr. (CSD)" userId="06f431c5-cc1a-4439-a61b-5f3af947c103" providerId="ADAL" clId="{87E551C9-B3E5-496A-8DA6-7E73D44C8172}" dt="2024-07-04T07:45:28.183" v="72" actId="1076"/>
        <pc:sldMkLst>
          <pc:docMk/>
          <pc:sldMk cId="2544477084" sldId="400"/>
        </pc:sldMkLst>
        <pc:spChg chg="mod">
          <ac:chgData name="Yim Pan Chui, Dr. (CSD)" userId="06f431c5-cc1a-4439-a61b-5f3af947c103" providerId="ADAL" clId="{87E551C9-B3E5-496A-8DA6-7E73D44C8172}" dt="2024-07-04T07:45:28.183" v="72" actId="1076"/>
          <ac:spMkLst>
            <pc:docMk/>
            <pc:sldMk cId="2544477084" sldId="400"/>
            <ac:spMk id="10" creationId="{00000000-0000-0000-0000-000000000000}"/>
          </ac:spMkLst>
        </pc:spChg>
      </pc:sldChg>
      <pc:sldChg chg="modSp">
        <pc:chgData name="Yim Pan Chui, Dr. (CSD)" userId="06f431c5-cc1a-4439-a61b-5f3af947c103" providerId="ADAL" clId="{87E551C9-B3E5-496A-8DA6-7E73D44C8172}" dt="2024-07-04T07:45:37.831" v="73" actId="1076"/>
        <pc:sldMkLst>
          <pc:docMk/>
          <pc:sldMk cId="379103974" sldId="404"/>
        </pc:sldMkLst>
        <pc:spChg chg="mod">
          <ac:chgData name="Yim Pan Chui, Dr. (CSD)" userId="06f431c5-cc1a-4439-a61b-5f3af947c103" providerId="ADAL" clId="{87E551C9-B3E5-496A-8DA6-7E73D44C8172}" dt="2024-07-04T07:45:37.831" v="73" actId="1076"/>
          <ac:spMkLst>
            <pc:docMk/>
            <pc:sldMk cId="379103974" sldId="404"/>
            <ac:spMk id="9" creationId="{00000000-0000-0000-0000-000000000000}"/>
          </ac:spMkLst>
        </pc:spChg>
      </pc:sldChg>
    </pc:docChg>
  </pc:docChgLst>
  <pc:docChgLst>
    <pc:chgData name="Pui Kit Ma (IEG)" userId="7491770a-93d8-4fd6-9e87-099644e11076" providerId="ADAL" clId="{E41F288A-1932-4F3B-BD5A-295AD7CA3DFC}"/>
    <pc:docChg chg="modSld">
      <pc:chgData name="Pui Kit Ma (IEG)" userId="7491770a-93d8-4fd6-9e87-099644e11076" providerId="ADAL" clId="{E41F288A-1932-4F3B-BD5A-295AD7CA3DFC}" dt="2023-11-13T10:35:48.735" v="0" actId="20577"/>
      <pc:docMkLst>
        <pc:docMk/>
      </pc:docMkLst>
      <pc:sldChg chg="modSp mod">
        <pc:chgData name="Pui Kit Ma (IEG)" userId="7491770a-93d8-4fd6-9e87-099644e11076" providerId="ADAL" clId="{E41F288A-1932-4F3B-BD5A-295AD7CA3DFC}" dt="2023-11-13T10:35:48.735" v="0" actId="20577"/>
        <pc:sldMkLst>
          <pc:docMk/>
          <pc:sldMk cId="2544477084" sldId="400"/>
        </pc:sldMkLst>
        <pc:spChg chg="mod">
          <ac:chgData name="Pui Kit Ma (IEG)" userId="7491770a-93d8-4fd6-9e87-099644e11076" providerId="ADAL" clId="{E41F288A-1932-4F3B-BD5A-295AD7CA3DFC}" dt="2023-11-13T10:35:48.735" v="0" actId="20577"/>
          <ac:spMkLst>
            <pc:docMk/>
            <pc:sldMk cId="2544477084" sldId="400"/>
            <ac:spMk id="108546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F39E7D-0933-49A8-85E9-DAA850E73190}" type="datetimeFigureOut">
              <a:rPr lang="en-US" smtClean="0"/>
              <a:pPr/>
              <a:t>7/4/2024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6993CB-FC2D-4E9E-AEBC-5A9FE389B4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9858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BC9B9A-975C-46BF-9E10-71766046399C}" type="datetimeFigureOut">
              <a:rPr lang="en-US" smtClean="0"/>
              <a:pPr/>
              <a:t>7/4/2024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68DB09-4D6E-4772-BB61-FE91E715B1E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492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87323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8422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8422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8422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8422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8422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8422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8422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zh-TW" b="0" baseline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4560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8422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04452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8422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8422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8422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8422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8422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8422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74791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68DB09-4D6E-4772-BB61-FE91E715B1E5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2655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338" y="76200"/>
            <a:ext cx="8229600" cy="838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338" y="1066800"/>
            <a:ext cx="8932985" cy="5105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338" y="76200"/>
            <a:ext cx="8229600" cy="8382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44000" cy="990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6248400"/>
            <a:ext cx="9144000" cy="6096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2A0C27-9874-4A2B-82B4-36D1DE995B6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ransition>
    <p:fade/>
  </p:transition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2130427"/>
            <a:ext cx="8534400" cy="2898773"/>
          </a:xfrm>
        </p:spPr>
        <p:txBody>
          <a:bodyPr>
            <a:normAutofit/>
          </a:bodyPr>
          <a:lstStyle/>
          <a:p>
            <a:r>
              <a:rPr lang="en-US" altLang="zh-TW" b="1">
                <a:ea typeface="新細明體" pitchFamily="18" charset="-120"/>
              </a:rPr>
              <a:t>File </a:t>
            </a:r>
            <a:r>
              <a:rPr lang="en-US" altLang="zh-TW" b="1" err="1">
                <a:ea typeface="新細明體" pitchFamily="18" charset="-120"/>
              </a:rPr>
              <a:t>Input/Output</a:t>
            </a:r>
            <a:r>
              <a:rPr lang="en-US" altLang="zh-TW" b="1">
                <a:ea typeface="新細明體" pitchFamily="18" charset="-120"/>
              </a:rPr>
              <a:t> </a:t>
            </a: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4F82B-A295-4EE3-B28C-D7C9C567FC80}" type="slidenum">
              <a:rPr lang="zh-TW" altLang="en-US"/>
              <a:pPr/>
              <a:t>2</a:t>
            </a:fld>
            <a:endParaRPr lang="en-US" altLang="zh-TW"/>
          </a:p>
        </p:txBody>
      </p:sp>
      <p:sp>
        <p:nvSpPr>
          <p:cNvPr id="409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/>
              <a:t>Outline</a:t>
            </a:r>
          </a:p>
        </p:txBody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533400" indent="-533400">
              <a:buFont typeface="Wingdings" pitchFamily="2" charset="2"/>
              <a:buAutoNum type="arabicPeriod"/>
            </a:pPr>
            <a:r>
              <a:rPr lang="en-US" altLang="zh-TW"/>
              <a:t>Introduction</a:t>
            </a:r>
          </a:p>
          <a:p>
            <a:pPr marL="933450" lvl="1" indent="-533400"/>
            <a:r>
              <a:rPr lang="en-US" altLang="zh-TW"/>
              <a:t>Opening a file</a:t>
            </a:r>
          </a:p>
          <a:p>
            <a:pPr marL="933450" lvl="1" indent="-533400"/>
            <a:r>
              <a:rPr lang="en-US" altLang="zh-TW"/>
              <a:t>Closing a file</a:t>
            </a:r>
          </a:p>
          <a:p>
            <a:pPr marL="933450" lvl="1" indent="-533400">
              <a:buFont typeface="Wingdings" pitchFamily="2" charset="2"/>
              <a:buAutoNum type="arabicPeriod"/>
            </a:pPr>
            <a:endParaRPr lang="en-US" altLang="zh-TW"/>
          </a:p>
          <a:p>
            <a:pPr marL="533400" indent="-533400">
              <a:buFont typeface="Wingdings" pitchFamily="2" charset="2"/>
              <a:buAutoNum type="arabicPeriod"/>
            </a:pPr>
            <a:r>
              <a:rPr lang="en-US" altLang="zh-TW"/>
              <a:t>Example 1: Reading data from a file</a:t>
            </a:r>
          </a:p>
          <a:p>
            <a:pPr marL="533400" indent="-533400">
              <a:buFont typeface="Wingdings" pitchFamily="2" charset="2"/>
              <a:buAutoNum type="arabicPeriod"/>
            </a:pPr>
            <a:r>
              <a:rPr lang="en-US" altLang="zh-TW"/>
              <a:t>Example 2: Check if a file is opened successfully</a:t>
            </a:r>
          </a:p>
          <a:p>
            <a:pPr marL="533400" indent="-533400">
              <a:buFont typeface="Wingdings" pitchFamily="2" charset="2"/>
              <a:buAutoNum type="arabicPeriod"/>
            </a:pPr>
            <a:r>
              <a:rPr lang="en-US" altLang="zh-TW"/>
              <a:t>Example 3, 4: Reading numbers using </a:t>
            </a:r>
            <a:r>
              <a:rPr lang="en-US" altLang="zh-TW" err="1">
                <a:latin typeface="Consolas" panose="020B0609020204030204" pitchFamily="49" charset="0"/>
                <a:cs typeface="Consolas" panose="020B0609020204030204" pitchFamily="49" charset="0"/>
              </a:rPr>
              <a:t>fscanf</a:t>
            </a:r>
            <a:r>
              <a:rPr lang="en-US" altLang="zh-TW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</a:p>
          <a:p>
            <a:pPr marL="533400" indent="-533400">
              <a:buFont typeface="Wingdings" pitchFamily="2" charset="2"/>
              <a:buAutoNum type="arabicPeriod"/>
            </a:pPr>
            <a:r>
              <a:rPr lang="en-US" altLang="zh-TW"/>
              <a:t>Example 5: Writing data to a file</a:t>
            </a:r>
          </a:p>
          <a:p>
            <a:pPr marL="533400" indent="-533400">
              <a:buFont typeface="Wingdings" pitchFamily="2" charset="2"/>
              <a:buAutoNum type="arabicPeriod"/>
            </a:pPr>
            <a:r>
              <a:rPr lang="en-US" altLang="zh-TW"/>
              <a:t>Example 6: Handling multiple files in a program</a:t>
            </a:r>
          </a:p>
          <a:p>
            <a:pPr marL="533400" indent="-533400">
              <a:buFont typeface="Wingdings" pitchFamily="2" charset="2"/>
              <a:buAutoNum type="arabicPeriod"/>
            </a:pPr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772304277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A9AC16D1-5C8B-4C26-B309-25D2524EE988}" type="slidenum">
              <a:rPr lang="zh-TW" altLang="en-US" b="0">
                <a:latin typeface="Calibri" panose="020F0502020204030204" pitchFamily="34" charset="0"/>
              </a:rPr>
              <a:pPr/>
              <a:t>3</a:t>
            </a:fld>
            <a:endParaRPr lang="en-US" altLang="zh-TW" b="0">
              <a:latin typeface="Calibri" panose="020F0502020204030204" pitchFamily="34" charset="0"/>
            </a:endParaRPr>
          </a:p>
        </p:txBody>
      </p:sp>
      <p:sp>
        <p:nvSpPr>
          <p:cNvPr id="8195" name="Rectangle 2"/>
          <p:cNvSpPr>
            <a:spLocks noGrp="1" noChangeArrowheads="1"/>
          </p:cNvSpPr>
          <p:nvPr>
            <p:ph type="title"/>
          </p:nvPr>
        </p:nvSpPr>
        <p:spPr>
          <a:xfrm>
            <a:off x="152400" y="76200"/>
            <a:ext cx="88392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TW" sz="4000" b="1">
                <a:latin typeface="Helvetica" pitchFamily="34" charset="0"/>
                <a:ea typeface="新細明體" pitchFamily="18" charset="-120"/>
                <a:cs typeface="Times New Roman" pitchFamily="18" charset="0"/>
              </a:rPr>
              <a:t>1. File I/O (Introduction)</a:t>
            </a:r>
          </a:p>
        </p:txBody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4800" y="1143000"/>
            <a:ext cx="8534400" cy="5029200"/>
          </a:xfrm>
        </p:spPr>
        <p:txBody>
          <a:bodyPr/>
          <a:lstStyle/>
          <a:p>
            <a:pPr eaLnBrk="1" hangingPunct="1"/>
            <a:r>
              <a:rPr lang="en-US" altLang="zh-TW" sz="3200">
                <a:ea typeface="新細明體" pitchFamily="18" charset="-120"/>
              </a:rPr>
              <a:t>Reading data from a file is similar to reading data from a keyboard</a:t>
            </a:r>
          </a:p>
          <a:p>
            <a:pPr lvl="1" eaLnBrk="1" hangingPunct="1"/>
            <a:r>
              <a:rPr lang="en-US" altLang="zh-TW" sz="2800">
                <a:ea typeface="新細明體" pitchFamily="18" charset="-120"/>
              </a:rPr>
              <a:t>Characters are read from the "input source" sequentially.</a:t>
            </a:r>
          </a:p>
          <a:p>
            <a:pPr lvl="2" eaLnBrk="1" hangingPunct="1"/>
            <a:r>
              <a:rPr lang="en-US" altLang="zh-TW" sz="2400">
                <a:ea typeface="新細明體" pitchFamily="18" charset="-120"/>
              </a:rPr>
              <a:t>Keyboard input: May have to wait for additional input</a:t>
            </a:r>
          </a:p>
          <a:p>
            <a:pPr lvl="2" eaLnBrk="1" hangingPunct="1"/>
            <a:r>
              <a:rPr lang="en-US" altLang="zh-TW" sz="2400">
                <a:ea typeface="新細明體" pitchFamily="18" charset="-120"/>
              </a:rPr>
              <a:t>File Input: All data are in the file.</a:t>
            </a:r>
          </a:p>
          <a:p>
            <a:pPr eaLnBrk="1" hangingPunct="1"/>
            <a:endParaRPr lang="en-US" altLang="zh-TW" sz="1800">
              <a:ea typeface="新細明體" pitchFamily="18" charset="-120"/>
            </a:endParaRPr>
          </a:p>
          <a:p>
            <a:pPr eaLnBrk="1" hangingPunct="1"/>
            <a:r>
              <a:rPr lang="en-US" altLang="zh-TW" sz="3200">
                <a:ea typeface="新細明體" pitchFamily="18" charset="-120"/>
              </a:rPr>
              <a:t>Writing data to a file is similar to outputting data to the console.</a:t>
            </a:r>
          </a:p>
          <a:p>
            <a:pPr lvl="1" eaLnBrk="1" hangingPunct="1"/>
            <a:r>
              <a:rPr lang="en-US" altLang="zh-TW" sz="2800">
                <a:ea typeface="新細明體" pitchFamily="18" charset="-120"/>
              </a:rPr>
              <a:t>Characters are output sequentially.</a:t>
            </a:r>
          </a:p>
        </p:txBody>
      </p:sp>
    </p:spTree>
    <p:extLst>
      <p:ext uri="{BB962C8B-B14F-4D97-AF65-F5344CB8AC3E}">
        <p14:creationId xmlns:p14="http://schemas.microsoft.com/office/powerpoint/2010/main" val="1469296175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338" y="76200"/>
            <a:ext cx="8997462" cy="838200"/>
          </a:xfrm>
        </p:spPr>
        <p:txBody>
          <a:bodyPr>
            <a:normAutofit/>
          </a:bodyPr>
          <a:lstStyle/>
          <a:p>
            <a:r>
              <a:rPr lang="en-US"/>
              <a:t>1.1. File I/O is similar to Console I/O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03158446"/>
              </p:ext>
            </p:extLst>
          </p:nvPr>
        </p:nvGraphicFramePr>
        <p:xfrm>
          <a:off x="2357718" y="2035586"/>
          <a:ext cx="4038600" cy="370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038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8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38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38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38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038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038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038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0386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0386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3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\n 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4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5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6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7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\n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…</a:t>
                      </a: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6858000" y="1069041"/>
            <a:ext cx="2209800" cy="2209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b="1"/>
              <a:t>Console Input:</a:t>
            </a:r>
            <a:r>
              <a:rPr lang="en-US"/>
              <a:t> System reads characters from keyboard </a:t>
            </a:r>
          </a:p>
          <a:p>
            <a:endParaRPr lang="en-US"/>
          </a:p>
          <a:p>
            <a:r>
              <a:rPr lang="en-US" b="1"/>
              <a:t>File Input:</a:t>
            </a:r>
            <a:r>
              <a:rPr lang="en-US"/>
              <a:t> System reads characters from a file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535206"/>
            <a:ext cx="1967753" cy="137159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/>
              <a:t>A program retrieves the data from the memory sequentially (e.g., using </a:t>
            </a:r>
            <a:r>
              <a:rPr lang="en-US" err="1"/>
              <a:t>scanf</a:t>
            </a:r>
            <a:r>
              <a:rPr lang="en-US"/>
              <a:t>())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 flipH="1">
            <a:off x="1976718" y="2221006"/>
            <a:ext cx="381000" cy="0"/>
          </a:xfrm>
          <a:prstGeom prst="straightConnector1">
            <a:avLst/>
          </a:prstGeom>
          <a:ln w="28575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cxnSpLocks/>
            <a:endCxn id="5" idx="3"/>
          </p:cNvCxnSpPr>
          <p:nvPr/>
        </p:nvCxnSpPr>
        <p:spPr>
          <a:xfrm flipH="1">
            <a:off x="6396318" y="2221006"/>
            <a:ext cx="381000" cy="0"/>
          </a:xfrm>
          <a:prstGeom prst="straightConnector1">
            <a:avLst/>
          </a:prstGeom>
          <a:ln w="28575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362200" y="1662953"/>
            <a:ext cx="4034118" cy="381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/>
              <a:t>Data in memory</a:t>
            </a:r>
          </a:p>
        </p:txBody>
      </p:sp>
      <p:graphicFrame>
        <p:nvGraphicFramePr>
          <p:cNvPr id="18" name="Content Placeholder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4790346"/>
              </p:ext>
            </p:extLst>
          </p:nvPr>
        </p:nvGraphicFramePr>
        <p:xfrm>
          <a:off x="2357718" y="4677933"/>
          <a:ext cx="4038600" cy="3708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4038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8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38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38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38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038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038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038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0386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0386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1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2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3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\n 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4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5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6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7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\n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latin typeface="Consolas" panose="020B0609020204030204" pitchFamily="49" charset="0"/>
                          <a:cs typeface="Consolas" panose="020B0609020204030204" pitchFamily="49" charset="0"/>
                        </a:rPr>
                        <a:t>…</a:t>
                      </a: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0" y="3581400"/>
            <a:ext cx="1976718" cy="251459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b="1"/>
              <a:t>Console output:</a:t>
            </a:r>
            <a:r>
              <a:rPr lang="en-US"/>
              <a:t> System displays the characters on the screen</a:t>
            </a:r>
          </a:p>
          <a:p>
            <a:endParaRPr lang="en-US"/>
          </a:p>
          <a:p>
            <a:r>
              <a:rPr lang="en-US" b="1"/>
              <a:t>File Output:</a:t>
            </a:r>
            <a:r>
              <a:rPr lang="en-US"/>
              <a:t> System writes the characters to a file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77318" y="4415118"/>
            <a:ext cx="2138082" cy="129988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/>
              <a:t>A program writes data sequentially to memory (e.g., using </a:t>
            </a:r>
            <a:r>
              <a:rPr lang="en-US" err="1"/>
              <a:t>printf</a:t>
            </a:r>
            <a:r>
              <a:rPr lang="en-US"/>
              <a:t>())</a:t>
            </a:r>
          </a:p>
        </p:txBody>
      </p:sp>
      <p:cxnSp>
        <p:nvCxnSpPr>
          <p:cNvPr id="21" name="Straight Arrow Connector 20"/>
          <p:cNvCxnSpPr/>
          <p:nvPr/>
        </p:nvCxnSpPr>
        <p:spPr>
          <a:xfrm flipH="1">
            <a:off x="1976718" y="4863353"/>
            <a:ext cx="381000" cy="0"/>
          </a:xfrm>
          <a:prstGeom prst="straightConnector1">
            <a:avLst/>
          </a:prstGeom>
          <a:ln w="28575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cxnSpLocks/>
            <a:endCxn id="18" idx="3"/>
          </p:cNvCxnSpPr>
          <p:nvPr/>
        </p:nvCxnSpPr>
        <p:spPr>
          <a:xfrm flipH="1">
            <a:off x="6396318" y="4863353"/>
            <a:ext cx="381000" cy="0"/>
          </a:xfrm>
          <a:prstGeom prst="straightConnector1">
            <a:avLst/>
          </a:prstGeom>
          <a:ln w="28575">
            <a:solidFill>
              <a:schemeClr val="accent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362200" y="4305300"/>
            <a:ext cx="4034118" cy="3810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/>
              <a:t>Data in memory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69124" y="1066800"/>
            <a:ext cx="1066800" cy="5334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2800" b="1" u="sng"/>
              <a:t>Input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20086" y="3581400"/>
            <a:ext cx="1364876" cy="5334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sz="2800" b="1" u="sng"/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774024287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marL="742950" indent="-28575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marL="11430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marL="16002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marL="2057400" indent="-228600"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fld id="{21D3315C-CF75-4FB0-950F-52EF0B2625FA}" type="slidenum">
              <a:rPr lang="zh-TW" altLang="en-US" b="0">
                <a:latin typeface="Calibri" panose="020F0502020204030204" pitchFamily="34" charset="0"/>
              </a:rPr>
              <a:pPr/>
              <a:t>5</a:t>
            </a:fld>
            <a:endParaRPr lang="en-US" altLang="zh-TW" b="0">
              <a:latin typeface="Calibri" panose="020F0502020204030204" pitchFamily="34" charset="0"/>
            </a:endParaRPr>
          </a:p>
        </p:txBody>
      </p:sp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>
          <a:xfrm>
            <a:off x="70338" y="76200"/>
            <a:ext cx="8997462" cy="838200"/>
          </a:xfrm>
        </p:spPr>
        <p:txBody>
          <a:bodyPr/>
          <a:lstStyle/>
          <a:p>
            <a:pPr eaLnBrk="1" hangingPunct="1"/>
            <a:r>
              <a:rPr lang="en-US" altLang="zh-TW">
                <a:ea typeface="新細明體" pitchFamily="18" charset="-120"/>
              </a:rPr>
              <a:t>1.2. Steps involving in File I/O</a:t>
            </a:r>
          </a:p>
        </p:txBody>
      </p:sp>
      <p:sp>
        <p:nvSpPr>
          <p:cNvPr id="5816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28600" y="1066800"/>
            <a:ext cx="8610600" cy="5257800"/>
          </a:xfrm>
        </p:spPr>
        <p:txBody>
          <a:bodyPr>
            <a:normAutofit/>
          </a:bodyPr>
          <a:lstStyle/>
          <a:p>
            <a:pPr marL="609600" indent="-609600" eaLnBrk="1" hangingPunct="1">
              <a:buFont typeface="Wingdings" pitchFamily="2" charset="2"/>
              <a:buAutoNum type="arabicPeriod"/>
            </a:pPr>
            <a:r>
              <a:rPr lang="en-US" altLang="zh-TW" sz="2800" b="1" i="1">
                <a:solidFill>
                  <a:srgbClr val="0070C0"/>
                </a:solidFill>
                <a:ea typeface="新細明體" pitchFamily="18" charset="-120"/>
              </a:rPr>
              <a:t>Open</a:t>
            </a:r>
            <a:r>
              <a:rPr lang="en-US" altLang="zh-TW" sz="2800">
                <a:ea typeface="新細明體" pitchFamily="18" charset="-120"/>
              </a:rPr>
              <a:t> a file – Request the system to "prepare" a file for reading/writing</a:t>
            </a:r>
          </a:p>
          <a:p>
            <a:pPr marL="609600" indent="-609600" eaLnBrk="1" hangingPunct="1">
              <a:buFont typeface="Wingdings" pitchFamily="2" charset="2"/>
              <a:buAutoNum type="arabicPeriod"/>
            </a:pPr>
            <a:r>
              <a:rPr lang="en-US" altLang="zh-TW" sz="2800">
                <a:ea typeface="新細明體" pitchFamily="18" charset="-120"/>
              </a:rPr>
              <a:t>Reading/writing data from/to the file</a:t>
            </a:r>
          </a:p>
          <a:p>
            <a:pPr marL="609600" indent="-609600" eaLnBrk="1" hangingPunct="1">
              <a:buFont typeface="Wingdings" pitchFamily="2" charset="2"/>
              <a:buAutoNum type="arabicPeriod"/>
            </a:pPr>
            <a:r>
              <a:rPr lang="en-US" altLang="zh-TW" sz="2800" b="1" i="1">
                <a:solidFill>
                  <a:srgbClr val="0070C0"/>
                </a:solidFill>
                <a:ea typeface="新細明體" pitchFamily="18" charset="-120"/>
              </a:rPr>
              <a:t>Close</a:t>
            </a:r>
            <a:r>
              <a:rPr lang="en-US" altLang="zh-TW" sz="2800">
                <a:solidFill>
                  <a:srgbClr val="0070C0"/>
                </a:solidFill>
                <a:ea typeface="新細明體" pitchFamily="18" charset="-120"/>
              </a:rPr>
              <a:t> </a:t>
            </a:r>
            <a:r>
              <a:rPr lang="en-US" altLang="zh-TW" sz="2800">
                <a:ea typeface="新細明體" pitchFamily="18" charset="-120"/>
              </a:rPr>
              <a:t>the file when the program is done with the file I/O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zh-TW">
                <a:ea typeface="新細明體" pitchFamily="18" charset="-120"/>
              </a:rPr>
              <a:t>Closing a file means </a:t>
            </a:r>
          </a:p>
          <a:p>
            <a:pPr lvl="2" eaLnBrk="1" hangingPunct="1"/>
            <a:r>
              <a:rPr lang="en-US" altLang="zh-TW" sz="2400">
                <a:ea typeface="新細明體" pitchFamily="18" charset="-120"/>
              </a:rPr>
              <a:t>Releasing all the resources in the memory associated with the file</a:t>
            </a:r>
          </a:p>
          <a:p>
            <a:pPr lvl="2" eaLnBrk="1" hangingPunct="1"/>
            <a:r>
              <a:rPr lang="en-US" altLang="zh-TW">
                <a:ea typeface="新細明體" pitchFamily="18" charset="-120"/>
              </a:rPr>
              <a:t>Fl</a:t>
            </a:r>
            <a:r>
              <a:rPr lang="en-US" altLang="zh-TW" sz="2400">
                <a:ea typeface="新細明體" pitchFamily="18" charset="-120"/>
              </a:rPr>
              <a:t>ush all data in the memory to the output file if necessary</a:t>
            </a:r>
          </a:p>
          <a:p>
            <a:pPr marL="971550" lvl="1" indent="-514350" eaLnBrk="1" hangingPunct="1">
              <a:buFont typeface="Wingdings" pitchFamily="2" charset="2"/>
              <a:buChar char="l"/>
            </a:pPr>
            <a:endParaRPr lang="en-US" altLang="zh-TW" sz="1800">
              <a:ea typeface="新細明體" pitchFamily="18" charset="-120"/>
            </a:endParaRPr>
          </a:p>
          <a:p>
            <a:pPr marL="609600" indent="-609600" eaLnBrk="1" hangingPunct="1"/>
            <a:r>
              <a:rPr lang="en-US" altLang="zh-TW">
                <a:ea typeface="新細明體" pitchFamily="18" charset="-120"/>
              </a:rPr>
              <a:t>Step 2 is the same as performing console I/O.</a:t>
            </a:r>
          </a:p>
        </p:txBody>
      </p:sp>
    </p:spTree>
    <p:extLst>
      <p:ext uri="{BB962C8B-B14F-4D97-AF65-F5344CB8AC3E}">
        <p14:creationId xmlns:p14="http://schemas.microsoft.com/office/powerpoint/2010/main" val="140739101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6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6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6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6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6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DDE72-8E1C-48AE-AAB0-105C85EE517D}" type="slidenum">
              <a:rPr lang="zh-TW" altLang="en-US"/>
              <a:pPr/>
              <a:t>6</a:t>
            </a:fld>
            <a:endParaRPr lang="en-US" altLang="zh-TW"/>
          </a:p>
        </p:txBody>
      </p:sp>
      <p:sp>
        <p:nvSpPr>
          <p:cNvPr id="108546" name="Rectangle 2"/>
          <p:cNvSpPr>
            <a:spLocks noChangeArrowheads="1"/>
          </p:cNvSpPr>
          <p:nvPr/>
        </p:nvSpPr>
        <p:spPr bwMode="auto">
          <a:xfrm>
            <a:off x="466725" y="990600"/>
            <a:ext cx="8677275" cy="53213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latin typeface="Consolas" panose="020B0609020204030204" pitchFamily="49" charset="0"/>
              </a:rPr>
              <a:t>#include &lt;</a:t>
            </a:r>
            <a:r>
              <a:rPr kumimoji="0" lang="en-US" altLang="zh-TW" sz="2000" b="0" err="1">
                <a:latin typeface="Consolas" panose="020B0609020204030204" pitchFamily="49" charset="0"/>
              </a:rPr>
              <a:t>stdio.h</a:t>
            </a:r>
            <a:r>
              <a:rPr kumimoji="0" lang="en-US" altLang="zh-TW" sz="2000" b="0">
                <a:latin typeface="Consolas" panose="020B0609020204030204" pitchFamily="49" charset="0"/>
              </a:rPr>
              <a:t>&gt;</a:t>
            </a:r>
          </a:p>
          <a:p>
            <a:pPr eaLnBrk="1" hangingPunct="1">
              <a:lnSpc>
                <a:spcPct val="110000"/>
              </a:lnSpc>
            </a:pPr>
            <a:endParaRPr kumimoji="0" lang="en-US" altLang="zh-TW" sz="2000" b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kumimoji="0" lang="en-US" altLang="zh-TW" sz="2000" b="0">
                <a:solidFill>
                  <a:srgbClr val="000000"/>
                </a:solidFill>
                <a:latin typeface="Consolas" panose="020B0609020204030204" pitchFamily="49" charset="0"/>
              </a:rPr>
              <a:t> main(void) {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0000FF"/>
                </a:solidFill>
                <a:latin typeface="Consolas" panose="020B0609020204030204" pitchFamily="49" charset="0"/>
              </a:rPr>
              <a:t>    </a:t>
            </a:r>
            <a:r>
              <a:rPr lang="en-US" altLang="zh-TW" sz="2000" b="0">
                <a:latin typeface="Consolas" panose="020B0609020204030204" pitchFamily="49" charset="0"/>
              </a:rPr>
              <a:t>FILE *</a:t>
            </a:r>
            <a:r>
              <a:rPr lang="en-US" altLang="zh-TW" sz="2000" b="0" err="1">
                <a:latin typeface="Consolas" panose="020B0609020204030204" pitchFamily="49" charset="0"/>
              </a:rPr>
              <a:t>fptr</a:t>
            </a:r>
            <a:r>
              <a:rPr lang="en-US" altLang="zh-TW" sz="2000" b="0">
                <a:latin typeface="Consolas" panose="020B0609020204030204" pitchFamily="49" charset="0"/>
              </a:rPr>
              <a:t>;</a:t>
            </a:r>
            <a:endParaRPr kumimoji="0" lang="en-US" altLang="zh-TW" sz="2000" b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0000FF"/>
                </a:solidFill>
                <a:latin typeface="Consolas" panose="020B0609020204030204" pitchFamily="49" charset="0"/>
              </a:rPr>
              <a:t>    </a:t>
            </a:r>
            <a:r>
              <a:rPr kumimoji="0" lang="en-US" altLang="zh-TW" sz="2000" b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kumimoji="0" lang="en-US" altLang="zh-TW" sz="2000" b="0">
                <a:latin typeface="Consolas" panose="020B0609020204030204" pitchFamily="49" charset="0"/>
              </a:rPr>
              <a:t> num1, num2</a:t>
            </a:r>
            <a:r>
              <a:rPr lang="en-US" altLang="zh-TW" sz="2000" b="0">
                <a:latin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endParaRPr kumimoji="0" lang="en-US" altLang="zh-TW" sz="2000" b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latin typeface="Consolas" panose="020B0609020204030204" pitchFamily="49" charset="0"/>
              </a:rPr>
              <a:t>    </a:t>
            </a:r>
            <a:r>
              <a:rPr lang="en-US" altLang="zh-TW" sz="2000" b="0" err="1">
                <a:latin typeface="Consolas" panose="020B0609020204030204" pitchFamily="49" charset="0"/>
              </a:rPr>
              <a:t>fptr</a:t>
            </a:r>
            <a:r>
              <a:rPr lang="en-US" altLang="zh-TW" sz="2000" b="0">
                <a:latin typeface="Consolas" panose="020B0609020204030204" pitchFamily="49" charset="0"/>
              </a:rPr>
              <a:t> = </a:t>
            </a:r>
            <a:r>
              <a:rPr lang="en-US" altLang="zh-TW" sz="2000" b="0" err="1">
                <a:solidFill>
                  <a:srgbClr val="C00000"/>
                </a:solidFill>
                <a:latin typeface="Consolas" panose="020B0609020204030204" pitchFamily="49" charset="0"/>
              </a:rPr>
              <a:t>fopen</a:t>
            </a:r>
            <a:r>
              <a:rPr lang="en-US" altLang="zh-TW" sz="2000" b="0">
                <a:latin typeface="Consolas" panose="020B0609020204030204" pitchFamily="49" charset="0"/>
              </a:rPr>
              <a:t>(</a:t>
            </a:r>
            <a:r>
              <a:rPr lang="en-US" altLang="zh-TW" sz="2000" b="0">
                <a:solidFill>
                  <a:srgbClr val="0099FF"/>
                </a:solidFill>
                <a:latin typeface="Consolas" panose="020B0609020204030204" pitchFamily="49" charset="0"/>
              </a:rPr>
              <a:t>"data.txt"</a:t>
            </a:r>
            <a:r>
              <a:rPr lang="en-US" altLang="zh-TW" sz="2000" b="0">
                <a:latin typeface="Consolas" panose="020B0609020204030204" pitchFamily="49" charset="0"/>
              </a:rPr>
              <a:t>, </a:t>
            </a:r>
            <a:r>
              <a:rPr lang="en-US" altLang="zh-TW" sz="2000" b="0">
                <a:solidFill>
                  <a:srgbClr val="0099FF"/>
                </a:solidFill>
                <a:latin typeface="Consolas" panose="020B0609020204030204" pitchFamily="49" charset="0"/>
              </a:rPr>
              <a:t>"r"</a:t>
            </a:r>
            <a:r>
              <a:rPr lang="en-US" altLang="zh-TW" sz="2000" b="0">
                <a:latin typeface="Consolas" panose="020B0609020204030204" pitchFamily="49" charset="0"/>
              </a:rPr>
              <a:t>);  </a:t>
            </a:r>
            <a:r>
              <a:rPr lang="en-US" altLang="zh-TW" sz="2000" b="0">
                <a:solidFill>
                  <a:srgbClr val="008000"/>
                </a:solidFill>
                <a:latin typeface="Consolas" panose="020B0609020204030204" pitchFamily="49" charset="0"/>
              </a:rPr>
              <a:t>// open file</a:t>
            </a:r>
            <a:endParaRPr lang="en-US" altLang="zh-TW" sz="2000" b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endParaRPr kumimoji="0" lang="en-US" altLang="zh-TW" sz="2000" b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008000"/>
                </a:solidFill>
                <a:latin typeface="Consolas" panose="020B0609020204030204" pitchFamily="49" charset="0"/>
              </a:rPr>
              <a:t>    // Read two integers from the file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latin typeface="Consolas" panose="020B0609020204030204" pitchFamily="49" charset="0"/>
              </a:rPr>
              <a:t>    </a:t>
            </a:r>
            <a:r>
              <a:rPr lang="en-US" altLang="zh-TW" sz="2000" b="0" err="1">
                <a:solidFill>
                  <a:srgbClr val="C00000"/>
                </a:solidFill>
                <a:latin typeface="Consolas" panose="020B0609020204030204" pitchFamily="49" charset="0"/>
              </a:rPr>
              <a:t>fscanf</a:t>
            </a:r>
            <a:r>
              <a:rPr lang="en-US" altLang="zh-TW" sz="2000" b="0">
                <a:latin typeface="Consolas" panose="020B0609020204030204" pitchFamily="49" charset="0"/>
              </a:rPr>
              <a:t>(</a:t>
            </a:r>
            <a:r>
              <a:rPr lang="en-US" altLang="zh-TW" sz="2000" b="0" err="1">
                <a:latin typeface="Consolas" panose="020B0609020204030204" pitchFamily="49" charset="0"/>
              </a:rPr>
              <a:t>fptr</a:t>
            </a:r>
            <a:r>
              <a:rPr lang="en-US" altLang="zh-TW" sz="2000" b="0">
                <a:latin typeface="Consolas" panose="020B0609020204030204" pitchFamily="49" charset="0"/>
              </a:rPr>
              <a:t>, </a:t>
            </a:r>
            <a:r>
              <a:rPr lang="en-US" altLang="zh-TW" sz="2000" b="0">
                <a:solidFill>
                  <a:srgbClr val="0099FF"/>
                </a:solidFill>
                <a:latin typeface="Consolas" panose="020B0609020204030204" pitchFamily="49" charset="0"/>
              </a:rPr>
              <a:t>"%</a:t>
            </a:r>
            <a:r>
              <a:rPr lang="en-US" altLang="zh-TW" sz="2000" b="0" err="1">
                <a:solidFill>
                  <a:srgbClr val="0099FF"/>
                </a:solidFill>
                <a:latin typeface="Consolas" panose="020B0609020204030204" pitchFamily="49" charset="0"/>
              </a:rPr>
              <a:t>d%d</a:t>
            </a:r>
            <a:r>
              <a:rPr lang="en-US" altLang="zh-TW" sz="2000" b="0">
                <a:solidFill>
                  <a:srgbClr val="0099FF"/>
                </a:solidFill>
                <a:latin typeface="Consolas" panose="020B0609020204030204" pitchFamily="49" charset="0"/>
              </a:rPr>
              <a:t>"</a:t>
            </a:r>
            <a:r>
              <a:rPr lang="en-US" altLang="zh-TW" sz="2000" b="0">
                <a:latin typeface="Consolas" panose="020B0609020204030204" pitchFamily="49" charset="0"/>
              </a:rPr>
              <a:t>, &amp;num1, &amp;num2); </a:t>
            </a:r>
            <a:endParaRPr kumimoji="0" lang="en-US" altLang="zh-TW" sz="2000" b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latin typeface="Consolas" panose="020B0609020204030204" pitchFamily="49" charset="0"/>
              </a:rPr>
              <a:t>    </a:t>
            </a:r>
            <a:r>
              <a:rPr lang="en-US" altLang="zh-TW" sz="2000" b="0" err="1">
                <a:latin typeface="Consolas" panose="020B0609020204030204" pitchFamily="49" charset="0"/>
              </a:rPr>
              <a:t>printf</a:t>
            </a:r>
            <a:r>
              <a:rPr lang="en-US" altLang="zh-TW" sz="2000" b="0">
                <a:latin typeface="Consolas" panose="020B0609020204030204" pitchFamily="49" charset="0"/>
              </a:rPr>
              <a:t>(</a:t>
            </a:r>
            <a:r>
              <a:rPr lang="en-US" altLang="zh-TW" sz="2000" b="0">
                <a:solidFill>
                  <a:srgbClr val="0099FF"/>
                </a:solidFill>
                <a:latin typeface="Consolas" panose="020B0609020204030204" pitchFamily="49" charset="0"/>
              </a:rPr>
              <a:t>"%d %d\n"</a:t>
            </a:r>
            <a:r>
              <a:rPr lang="en-US" altLang="zh-TW" sz="2000" b="0">
                <a:latin typeface="Consolas" panose="020B0609020204030204" pitchFamily="49" charset="0"/>
              </a:rPr>
              <a:t>, num1, num2);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latin typeface="Consolas" panose="020B0609020204030204" pitchFamily="49" charset="0"/>
              </a:rPr>
              <a:t>   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latin typeface="Consolas" panose="020B0609020204030204" pitchFamily="49" charset="0"/>
              </a:rPr>
              <a:t>    </a:t>
            </a:r>
            <a:r>
              <a:rPr lang="en-US" altLang="zh-TW" sz="2000" b="0" err="1">
                <a:solidFill>
                  <a:srgbClr val="C00000"/>
                </a:solidFill>
                <a:latin typeface="Consolas" panose="020B0609020204030204" pitchFamily="49" charset="0"/>
              </a:rPr>
              <a:t>fclose</a:t>
            </a:r>
            <a:r>
              <a:rPr lang="en-US" altLang="zh-TW" sz="2000" b="0">
                <a:latin typeface="Consolas" panose="020B0609020204030204" pitchFamily="49" charset="0"/>
              </a:rPr>
              <a:t>(</a:t>
            </a:r>
            <a:r>
              <a:rPr lang="en-US" altLang="zh-TW" sz="2000" b="0" err="1">
                <a:latin typeface="Consolas" panose="020B0609020204030204" pitchFamily="49" charset="0"/>
              </a:rPr>
              <a:t>fptr</a:t>
            </a:r>
            <a:r>
              <a:rPr lang="en-US" altLang="zh-TW" sz="2000" b="0">
                <a:latin typeface="Consolas" panose="020B0609020204030204" pitchFamily="49" charset="0"/>
              </a:rPr>
              <a:t>);  </a:t>
            </a:r>
            <a:r>
              <a:rPr lang="en-US" altLang="zh-TW" sz="2000" b="0">
                <a:solidFill>
                  <a:srgbClr val="008000"/>
                </a:solidFill>
                <a:latin typeface="Consolas" panose="020B0609020204030204" pitchFamily="49" charset="0"/>
              </a:rPr>
              <a:t>// close file</a:t>
            </a:r>
            <a:endParaRPr lang="en-US" altLang="zh-TW" sz="2000" b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0000FF"/>
                </a:solidFill>
                <a:latin typeface="Consolas" panose="020B0609020204030204" pitchFamily="49" charset="0"/>
              </a:rPr>
              <a:t>    return</a:t>
            </a:r>
            <a:r>
              <a:rPr kumimoji="0" lang="en-US" altLang="zh-TW" sz="2000" b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kumimoji="0" lang="en-US" altLang="zh-TW" sz="2000" b="0">
                <a:solidFill>
                  <a:srgbClr val="0099FF"/>
                </a:solidFill>
                <a:latin typeface="Consolas" panose="020B0609020204030204" pitchFamily="49" charset="0"/>
              </a:rPr>
              <a:t>0</a:t>
            </a:r>
            <a:r>
              <a:rPr kumimoji="0" lang="en-US" altLang="zh-TW" sz="2000" b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08547" name="Rectangle 3"/>
          <p:cNvSpPr>
            <a:spLocks noChangeArrowheads="1"/>
          </p:cNvSpPr>
          <p:nvPr/>
        </p:nvSpPr>
        <p:spPr bwMode="auto">
          <a:xfrm>
            <a:off x="4763" y="990600"/>
            <a:ext cx="461962" cy="53213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Ins="0"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2</a:t>
            </a:r>
            <a:endParaRPr kumimoji="0" lang="en-US" altLang="zh-TW" sz="2000" b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3</a:t>
            </a:r>
            <a:endParaRPr kumimoji="0" lang="en-US" altLang="zh-TW" sz="2000" b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4</a:t>
            </a:r>
            <a:endParaRPr kumimoji="0" lang="en-US" altLang="zh-TW" sz="2000" b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12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13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1415</a:t>
            </a:r>
          </a:p>
        </p:txBody>
      </p:sp>
      <p:sp>
        <p:nvSpPr>
          <p:cNvPr id="108548" name="Rectangle 4"/>
          <p:cNvSpPr>
            <a:spLocks noChangeArrowheads="1"/>
          </p:cNvSpPr>
          <p:nvPr/>
        </p:nvSpPr>
        <p:spPr bwMode="auto">
          <a:xfrm>
            <a:off x="6858847" y="4419600"/>
            <a:ext cx="1828800" cy="68580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>
            <a:lvl1pPr eaLnBrk="0" hangingPunct="0"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eaLnBrk="0" hangingPunct="0"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eaLnBrk="0" hangingPunct="0"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eaLnBrk="0" hangingPunct="0"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eaLnBrk="0" hangingPunct="0"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kumimoji="0" lang="en-US" altLang="en-US" sz="2000" b="0">
                <a:latin typeface="Consolas" panose="020B0609020204030204" pitchFamily="49" charset="0"/>
              </a:rPr>
              <a:t>123</a:t>
            </a:r>
          </a:p>
          <a:p>
            <a:pPr eaLnBrk="1" hangingPunct="1"/>
            <a:r>
              <a:rPr lang="en-US" altLang="en-US" sz="2000" b="0">
                <a:latin typeface="Consolas" panose="020B0609020204030204" pitchFamily="49" charset="0"/>
              </a:rPr>
              <a:t>456</a:t>
            </a:r>
            <a:endParaRPr kumimoji="0" lang="en-US" altLang="en-US" sz="2000" b="0">
              <a:latin typeface="Consolas" panose="020B0609020204030204" pitchFamily="49" charset="0"/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70338" y="76200"/>
            <a:ext cx="8921262" cy="838200"/>
          </a:xfrm>
        </p:spPr>
        <p:txBody>
          <a:bodyPr>
            <a:normAutofit/>
          </a:bodyPr>
          <a:lstStyle/>
          <a:p>
            <a:r>
              <a:rPr lang="en-US" altLang="zh-TW" b="1"/>
              <a:t>Example #1: Reading data from a file</a:t>
            </a:r>
            <a:endParaRPr lang="en-US" altLang="zh-TW" sz="3000" b="1"/>
          </a:p>
        </p:txBody>
      </p:sp>
      <p:sp>
        <p:nvSpPr>
          <p:cNvPr id="2" name="TextBox 1"/>
          <p:cNvSpPr txBox="1"/>
          <p:nvPr/>
        </p:nvSpPr>
        <p:spPr>
          <a:xfrm>
            <a:off x="6730739" y="4082980"/>
            <a:ext cx="24333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Content of "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data.txt</a:t>
            </a:r>
            <a:r>
              <a:rPr lang="en-US"/>
              <a:t>"</a:t>
            </a:r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6883139" y="5626100"/>
            <a:ext cx="1828800" cy="6858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>
            <a:lvl1pPr eaLnBrk="0" hangingPunct="0"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eaLnBrk="0" hangingPunct="0"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eaLnBrk="0" hangingPunct="0"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eaLnBrk="0" hangingPunct="0"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eaLnBrk="0" hangingPunct="0"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kumimoji="0" lang="en-US" altLang="en-US" sz="2000" b="0">
                <a:latin typeface="Consolas" panose="020B0609020204030204" pitchFamily="49" charset="0"/>
              </a:rPr>
              <a:t>123 </a:t>
            </a:r>
            <a:r>
              <a:rPr lang="en-US" altLang="en-US" sz="2000" b="0">
                <a:latin typeface="Consolas" panose="020B0609020204030204" pitchFamily="49" charset="0"/>
              </a:rPr>
              <a:t>456</a:t>
            </a:r>
            <a:endParaRPr kumimoji="0" lang="en-US" altLang="en-US" sz="2000" b="0">
              <a:latin typeface="Consolas" panose="020B0609020204030204" pitchFamily="49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755031" y="5289480"/>
            <a:ext cx="856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743491572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066800" y="2057400"/>
            <a:ext cx="1752600" cy="381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DDE72-8E1C-48AE-AAB0-105C85EE517D}" type="slidenum">
              <a:rPr lang="zh-TW" altLang="en-US"/>
              <a:pPr/>
              <a:t>7</a:t>
            </a:fld>
            <a:endParaRPr lang="en-US" altLang="zh-TW"/>
          </a:p>
        </p:txBody>
      </p:sp>
      <p:sp>
        <p:nvSpPr>
          <p:cNvPr id="108547" name="Rectangle 3"/>
          <p:cNvSpPr>
            <a:spLocks noChangeArrowheads="1"/>
          </p:cNvSpPr>
          <p:nvPr/>
        </p:nvSpPr>
        <p:spPr bwMode="auto">
          <a:xfrm>
            <a:off x="4763" y="990600"/>
            <a:ext cx="461962" cy="53213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Ins="0"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2</a:t>
            </a:r>
            <a:endParaRPr kumimoji="0" lang="en-US" altLang="zh-TW" sz="2000" b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3</a:t>
            </a:r>
            <a:endParaRPr kumimoji="0" lang="en-US" altLang="zh-TW" sz="2000" b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4</a:t>
            </a:r>
            <a:endParaRPr kumimoji="0" lang="en-US" altLang="zh-TW" sz="2000" b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12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13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1415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70338" y="76200"/>
            <a:ext cx="8921262" cy="838200"/>
          </a:xfrm>
        </p:spPr>
        <p:txBody>
          <a:bodyPr>
            <a:normAutofit/>
          </a:bodyPr>
          <a:lstStyle/>
          <a:p>
            <a:r>
              <a:rPr lang="en-US" altLang="zh-TW" sz="4000"/>
              <a:t>Example #1: Reading data from a file</a:t>
            </a:r>
            <a:endParaRPr lang="en-US" altLang="zh-TW" sz="2800"/>
          </a:p>
        </p:txBody>
      </p:sp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4572000" y="1143000"/>
            <a:ext cx="4419600" cy="3505200"/>
          </a:xfrm>
          <a:prstGeom prst="rect">
            <a:avLst/>
          </a:prstGeom>
          <a:solidFill>
            <a:srgbClr val="CCFFCC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50000"/>
              </a:spcBef>
            </a:pPr>
            <a:r>
              <a:rPr lang="en-US" altLang="zh-TW" sz="2400"/>
              <a:t>Declare a variable , </a:t>
            </a:r>
            <a:r>
              <a:rPr lang="en-US" altLang="zh-TW" sz="2400" err="1">
                <a:latin typeface="Consolas" panose="020B0609020204030204" pitchFamily="49" charset="0"/>
                <a:cs typeface="Consolas" panose="020B0609020204030204" pitchFamily="49" charset="0"/>
              </a:rPr>
              <a:t>fptr</a:t>
            </a:r>
            <a:r>
              <a:rPr lang="en-US" altLang="zh-TW" sz="2400"/>
              <a:t>, to store the "states" of a file in the memory. </a:t>
            </a:r>
          </a:p>
          <a:p>
            <a:pPr>
              <a:spcBef>
                <a:spcPct val="50000"/>
              </a:spcBef>
            </a:pPr>
            <a:r>
              <a:rPr lang="en-US" altLang="zh-TW" sz="2400"/>
              <a:t>Note that the variable must be prefixed with a '*' in the declaration. </a:t>
            </a:r>
          </a:p>
          <a:p>
            <a:pPr>
              <a:spcBef>
                <a:spcPct val="50000"/>
              </a:spcBef>
            </a:pPr>
            <a:r>
              <a:rPr lang="en-US" altLang="zh-TW" sz="2400">
                <a:latin typeface="Consolas" panose="020B0609020204030204" pitchFamily="49" charset="0"/>
                <a:cs typeface="Consolas" panose="020B0609020204030204" pitchFamily="49" charset="0"/>
              </a:rPr>
              <a:t>FILE</a:t>
            </a:r>
            <a:r>
              <a:rPr lang="en-US" altLang="zh-TW" sz="2400"/>
              <a:t> is a data type defined in "</a:t>
            </a:r>
            <a:r>
              <a:rPr lang="en-US" altLang="zh-TW" sz="2400" err="1">
                <a:latin typeface="Consolas" panose="020B0609020204030204" pitchFamily="49" charset="0"/>
                <a:cs typeface="Consolas" panose="020B0609020204030204" pitchFamily="49" charset="0"/>
              </a:rPr>
              <a:t>stdio.h</a:t>
            </a:r>
            <a:r>
              <a:rPr lang="en-US" altLang="zh-TW" sz="2400"/>
              <a:t>".</a:t>
            </a:r>
          </a:p>
          <a:p>
            <a:pPr>
              <a:spcBef>
                <a:spcPct val="50000"/>
              </a:spcBef>
            </a:pPr>
            <a:endParaRPr lang="en-US" altLang="zh-TW" sz="2400"/>
          </a:p>
          <a:p>
            <a:pPr>
              <a:spcBef>
                <a:spcPct val="50000"/>
              </a:spcBef>
            </a:pPr>
            <a:endParaRPr lang="en-US" altLang="zh-TW" sz="2400"/>
          </a:p>
        </p:txBody>
      </p:sp>
      <p:sp>
        <p:nvSpPr>
          <p:cNvPr id="108546" name="Rectangle 2"/>
          <p:cNvSpPr>
            <a:spLocks noChangeArrowheads="1"/>
          </p:cNvSpPr>
          <p:nvPr/>
        </p:nvSpPr>
        <p:spPr bwMode="auto">
          <a:xfrm>
            <a:off x="466725" y="990600"/>
            <a:ext cx="8677275" cy="53213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latin typeface="Consolas" panose="020B0609020204030204" pitchFamily="49" charset="0"/>
              </a:rPr>
              <a:t>#include &lt;</a:t>
            </a:r>
            <a:r>
              <a:rPr kumimoji="0" lang="en-US" altLang="zh-TW" sz="2000" b="0" dirty="0" err="1">
                <a:latin typeface="Consolas" panose="020B0609020204030204" pitchFamily="49" charset="0"/>
              </a:rPr>
              <a:t>stdio.h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&gt;</a:t>
            </a:r>
          </a:p>
          <a:p>
            <a:pPr eaLnBrk="1" hangingPunct="1">
              <a:lnSpc>
                <a:spcPct val="110000"/>
              </a:lnSpc>
            </a:pPr>
            <a:endParaRPr kumimoji="0"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kumimoji="0"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 main(void) {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dirty="0">
                <a:solidFill>
                  <a:srgbClr val="0000FF"/>
                </a:solidFill>
                <a:latin typeface="Consolas" panose="020B0609020204030204" pitchFamily="49" charset="0"/>
              </a:rPr>
              <a:t>    </a:t>
            </a:r>
            <a:r>
              <a:rPr lang="en-US" altLang="zh-TW" sz="2000" dirty="0">
                <a:highlight>
                  <a:srgbClr val="FFFF00"/>
                </a:highlight>
                <a:latin typeface="Consolas" panose="020B0609020204030204" pitchFamily="49" charset="0"/>
              </a:rPr>
              <a:t>FILE </a:t>
            </a:r>
            <a:r>
              <a:rPr lang="en-US" altLang="zh-TW" sz="2000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*</a:t>
            </a:r>
            <a:r>
              <a:rPr lang="en-US" altLang="zh-TW" sz="2000" dirty="0" err="1">
                <a:highlight>
                  <a:srgbClr val="FFFF00"/>
                </a:highlight>
                <a:latin typeface="Consolas" panose="020B0609020204030204" pitchFamily="49" charset="0"/>
              </a:rPr>
              <a:t>fptr</a:t>
            </a:r>
            <a:r>
              <a:rPr lang="en-US" altLang="zh-TW" sz="2000" dirty="0"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  <a:endParaRPr kumimoji="0" lang="en-US" altLang="zh-TW" sz="2000" dirty="0">
              <a:solidFill>
                <a:srgbClr val="0000FF"/>
              </a:solidFill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    int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 num1, num2</a:t>
            </a:r>
            <a:r>
              <a:rPr lang="en-US" altLang="zh-TW" sz="2000" b="0" dirty="0">
                <a:latin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endParaRPr kumimoji="0" lang="en-US" altLang="zh-TW" sz="2000" b="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</a:t>
            </a:r>
            <a:r>
              <a:rPr lang="en-US" altLang="zh-TW" sz="2000" b="0" dirty="0" err="1">
                <a:latin typeface="Consolas" panose="020B0609020204030204" pitchFamily="49" charset="0"/>
              </a:rPr>
              <a:t>fptr</a:t>
            </a:r>
            <a:r>
              <a:rPr lang="en-US" altLang="zh-TW" sz="2000" b="0" dirty="0">
                <a:latin typeface="Consolas" panose="020B0609020204030204" pitchFamily="49" charset="0"/>
              </a:rPr>
              <a:t> = </a:t>
            </a:r>
            <a:r>
              <a:rPr lang="en-US" altLang="zh-TW" sz="2000" b="0" dirty="0" err="1">
                <a:solidFill>
                  <a:srgbClr val="C00000"/>
                </a:solidFill>
                <a:latin typeface="Consolas" panose="020B0609020204030204" pitchFamily="49" charset="0"/>
              </a:rPr>
              <a:t>fopen</a:t>
            </a:r>
            <a:r>
              <a:rPr lang="en-US" altLang="zh-TW" sz="2000" b="0" dirty="0">
                <a:latin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0099FF"/>
                </a:solidFill>
                <a:latin typeface="Consolas" panose="020B0609020204030204" pitchFamily="49" charset="0"/>
              </a:rPr>
              <a:t>"data.txt"</a:t>
            </a:r>
            <a:r>
              <a:rPr lang="en-US" altLang="zh-TW" sz="2000" b="0" dirty="0">
                <a:latin typeface="Consolas" panose="020B0609020204030204" pitchFamily="49" charset="0"/>
              </a:rPr>
              <a:t>, </a:t>
            </a:r>
            <a:r>
              <a:rPr lang="en-US" altLang="zh-TW" sz="2000" b="0" dirty="0">
                <a:solidFill>
                  <a:srgbClr val="0099FF"/>
                </a:solidFill>
                <a:latin typeface="Consolas" panose="020B0609020204030204" pitchFamily="49" charset="0"/>
              </a:rPr>
              <a:t>"r"</a:t>
            </a:r>
            <a:r>
              <a:rPr lang="en-US" altLang="zh-TW" sz="2000" b="0" dirty="0">
                <a:latin typeface="Consolas" panose="020B0609020204030204" pitchFamily="49" charset="0"/>
              </a:rPr>
              <a:t>);  </a:t>
            </a:r>
            <a:r>
              <a:rPr lang="en-US" altLang="zh-TW" sz="2000" b="0" dirty="0">
                <a:solidFill>
                  <a:srgbClr val="008000"/>
                </a:solidFill>
                <a:latin typeface="Consolas" panose="020B0609020204030204" pitchFamily="49" charset="0"/>
              </a:rPr>
              <a:t>// open file</a:t>
            </a:r>
            <a:endParaRPr lang="en-US" altLang="zh-TW" sz="2000" b="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endParaRPr kumimoji="0" lang="en-US" altLang="zh-TW" sz="2000" b="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8000"/>
                </a:solidFill>
                <a:latin typeface="Consolas" panose="020B0609020204030204" pitchFamily="49" charset="0"/>
              </a:rPr>
              <a:t>    // Read two integers from the file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</a:t>
            </a:r>
            <a:r>
              <a:rPr lang="en-US" altLang="zh-TW" sz="2000" b="0" dirty="0" err="1">
                <a:solidFill>
                  <a:srgbClr val="C00000"/>
                </a:solidFill>
                <a:latin typeface="Consolas" panose="020B0609020204030204" pitchFamily="49" charset="0"/>
              </a:rPr>
              <a:t>fscanf</a:t>
            </a:r>
            <a:r>
              <a:rPr lang="en-US" altLang="zh-TW" sz="2000" b="0" dirty="0">
                <a:latin typeface="Consolas" panose="020B0609020204030204" pitchFamily="49" charset="0"/>
              </a:rPr>
              <a:t>(</a:t>
            </a:r>
            <a:r>
              <a:rPr lang="en-US" altLang="zh-TW" sz="2000" b="0" dirty="0" err="1">
                <a:latin typeface="Consolas" panose="020B0609020204030204" pitchFamily="49" charset="0"/>
              </a:rPr>
              <a:t>fptr</a:t>
            </a:r>
            <a:r>
              <a:rPr lang="en-US" altLang="zh-TW" sz="2000" b="0" dirty="0">
                <a:latin typeface="Consolas" panose="020B0609020204030204" pitchFamily="49" charset="0"/>
              </a:rPr>
              <a:t>, </a:t>
            </a:r>
            <a:r>
              <a:rPr lang="en-US" altLang="zh-TW" sz="2000" b="0" dirty="0">
                <a:solidFill>
                  <a:srgbClr val="0099FF"/>
                </a:solidFill>
                <a:latin typeface="Consolas" panose="020B0609020204030204" pitchFamily="49" charset="0"/>
              </a:rPr>
              <a:t>"%</a:t>
            </a:r>
            <a:r>
              <a:rPr lang="en-US" altLang="zh-TW" sz="2000" b="0" dirty="0" err="1">
                <a:solidFill>
                  <a:srgbClr val="0099FF"/>
                </a:solidFill>
                <a:latin typeface="Consolas" panose="020B0609020204030204" pitchFamily="49" charset="0"/>
              </a:rPr>
              <a:t>d%d</a:t>
            </a:r>
            <a:r>
              <a:rPr lang="en-US" altLang="zh-TW" sz="2000" b="0" dirty="0">
                <a:solidFill>
                  <a:srgbClr val="0099FF"/>
                </a:solidFill>
                <a:latin typeface="Consolas" panose="020B0609020204030204" pitchFamily="49" charset="0"/>
              </a:rPr>
              <a:t>"</a:t>
            </a:r>
            <a:r>
              <a:rPr lang="en-US" altLang="zh-TW" sz="2000" b="0" dirty="0">
                <a:latin typeface="Consolas" panose="020B0609020204030204" pitchFamily="49" charset="0"/>
              </a:rPr>
              <a:t>, &amp;num1, &amp;num2); </a:t>
            </a:r>
            <a:endParaRPr kumimoji="0" lang="en-US" altLang="zh-TW" sz="2000" b="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</a:t>
            </a:r>
            <a:r>
              <a:rPr lang="en-US" altLang="zh-TW" sz="2000" b="0" dirty="0" err="1">
                <a:latin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0099FF"/>
                </a:solidFill>
                <a:latin typeface="Consolas" panose="020B0609020204030204" pitchFamily="49" charset="0"/>
              </a:rPr>
              <a:t>"%d %d\n"</a:t>
            </a:r>
            <a:r>
              <a:rPr lang="en-US" altLang="zh-TW" sz="2000" b="0" dirty="0">
                <a:latin typeface="Consolas" panose="020B0609020204030204" pitchFamily="49" charset="0"/>
              </a:rPr>
              <a:t>, num1, num2);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</a:t>
            </a:r>
            <a:r>
              <a:rPr lang="en-US" altLang="zh-TW" sz="2000" b="0" dirty="0" err="1">
                <a:solidFill>
                  <a:srgbClr val="C00000"/>
                </a:solidFill>
                <a:latin typeface="Consolas" panose="020B0609020204030204" pitchFamily="49" charset="0"/>
              </a:rPr>
              <a:t>fclose</a:t>
            </a:r>
            <a:r>
              <a:rPr lang="en-US" altLang="zh-TW" sz="2000" b="0" dirty="0">
                <a:latin typeface="Consolas" panose="020B0609020204030204" pitchFamily="49" charset="0"/>
              </a:rPr>
              <a:t>(</a:t>
            </a:r>
            <a:r>
              <a:rPr lang="en-US" altLang="zh-TW" sz="2000" b="0" dirty="0" err="1">
                <a:latin typeface="Consolas" panose="020B0609020204030204" pitchFamily="49" charset="0"/>
              </a:rPr>
              <a:t>fptr</a:t>
            </a:r>
            <a:r>
              <a:rPr lang="en-US" altLang="zh-TW" sz="2000" b="0" dirty="0">
                <a:latin typeface="Consolas" panose="020B0609020204030204" pitchFamily="49" charset="0"/>
              </a:rPr>
              <a:t>);  </a:t>
            </a:r>
            <a:r>
              <a:rPr lang="en-US" altLang="zh-TW" sz="2000" b="0" dirty="0">
                <a:solidFill>
                  <a:srgbClr val="008000"/>
                </a:solidFill>
                <a:latin typeface="Consolas" panose="020B0609020204030204" pitchFamily="49" charset="0"/>
              </a:rPr>
              <a:t>// close file</a:t>
            </a:r>
            <a:endParaRPr lang="en-US" altLang="zh-TW" sz="2000" b="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    return</a:t>
            </a:r>
            <a:r>
              <a:rPr kumimoji="0"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kumimoji="0" lang="en-US" altLang="zh-TW" sz="2000" b="0" dirty="0">
                <a:solidFill>
                  <a:srgbClr val="0099FF"/>
                </a:solidFill>
                <a:latin typeface="Consolas" panose="020B0609020204030204" pitchFamily="49" charset="0"/>
              </a:rPr>
              <a:t>0</a:t>
            </a:r>
            <a:r>
              <a:rPr kumimoji="0"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F854DCFA-BC02-9D73-1893-D00D69BCB4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9475" y="1143000"/>
            <a:ext cx="5244839" cy="1524000"/>
          </a:xfrm>
          <a:prstGeom prst="rect">
            <a:avLst/>
          </a:prstGeom>
          <a:solidFill>
            <a:srgbClr val="CCFFCC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50000"/>
              </a:spcBef>
            </a:pPr>
            <a:r>
              <a:rPr lang="en-US" altLang="zh-TW" sz="2400">
                <a:solidFill>
                  <a:srgbClr val="0070C0"/>
                </a:solidFill>
              </a:rPr>
              <a:t>FILE</a:t>
            </a:r>
            <a:r>
              <a:rPr lang="en-HK" altLang="zh-TW" sz="2400"/>
              <a:t> is a data type, and we need to create a </a:t>
            </a:r>
            <a:r>
              <a:rPr lang="en-HK" altLang="zh-TW" sz="2400" b="1" i="1">
                <a:solidFill>
                  <a:schemeClr val="tx1">
                    <a:lumMod val="50000"/>
                    <a:lumOff val="50000"/>
                  </a:schemeClr>
                </a:solidFill>
              </a:rPr>
              <a:t>pointer</a:t>
            </a:r>
            <a:r>
              <a:rPr lang="en-HK" altLang="zh-TW" sz="2400"/>
              <a:t> variable to work with it (</a:t>
            </a:r>
            <a:r>
              <a:rPr lang="en-HK" altLang="zh-TW" sz="2400" err="1">
                <a:solidFill>
                  <a:srgbClr val="0070C0"/>
                </a:solidFill>
              </a:rPr>
              <a:t>fptr</a:t>
            </a:r>
            <a:r>
              <a:rPr lang="en-HK" altLang="zh-TW" sz="2400"/>
              <a:t>). For now, we just consider it as something to work with file IO</a:t>
            </a:r>
            <a:r>
              <a:rPr lang="en-US" altLang="zh-TW" sz="240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5895385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1066800" y="3048000"/>
            <a:ext cx="4343400" cy="381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DDE72-8E1C-48AE-AAB0-105C85EE517D}" type="slidenum">
              <a:rPr lang="zh-TW" altLang="en-US"/>
              <a:pPr/>
              <a:t>8</a:t>
            </a:fld>
            <a:endParaRPr lang="en-US" altLang="zh-TW"/>
          </a:p>
        </p:txBody>
      </p:sp>
      <p:sp>
        <p:nvSpPr>
          <p:cNvPr id="108546" name="Rectangle 2"/>
          <p:cNvSpPr>
            <a:spLocks noChangeArrowheads="1"/>
          </p:cNvSpPr>
          <p:nvPr/>
        </p:nvSpPr>
        <p:spPr bwMode="auto">
          <a:xfrm>
            <a:off x="466725" y="990600"/>
            <a:ext cx="8677275" cy="53213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latin typeface="Consolas" panose="020B0609020204030204" pitchFamily="49" charset="0"/>
              </a:rPr>
              <a:t>#include &lt;</a:t>
            </a:r>
            <a:r>
              <a:rPr kumimoji="0" lang="en-US" altLang="zh-TW" sz="2000" b="0" dirty="0" err="1">
                <a:latin typeface="Consolas" panose="020B0609020204030204" pitchFamily="49" charset="0"/>
              </a:rPr>
              <a:t>stdio.h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&gt;</a:t>
            </a:r>
          </a:p>
          <a:p>
            <a:pPr eaLnBrk="1" hangingPunct="1">
              <a:lnSpc>
                <a:spcPct val="110000"/>
              </a:lnSpc>
            </a:pPr>
            <a:endParaRPr kumimoji="0" lang="en-US" altLang="zh-TW" sz="2000" b="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kumimoji="0"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 main(void) {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    </a:t>
            </a:r>
            <a:r>
              <a:rPr lang="en-US" altLang="zh-TW" sz="2000" b="0" dirty="0">
                <a:latin typeface="Consolas" panose="020B0609020204030204" pitchFamily="49" charset="0"/>
              </a:rPr>
              <a:t>FILE *</a:t>
            </a:r>
            <a:r>
              <a:rPr lang="en-US" altLang="zh-TW" sz="2000" b="0" dirty="0" err="1">
                <a:latin typeface="Consolas" panose="020B0609020204030204" pitchFamily="49" charset="0"/>
              </a:rPr>
              <a:t>fptr</a:t>
            </a:r>
            <a:r>
              <a:rPr lang="en-US" altLang="zh-TW" sz="2000" b="0" dirty="0">
                <a:latin typeface="Consolas" panose="020B0609020204030204" pitchFamily="49" charset="0"/>
              </a:rPr>
              <a:t>;</a:t>
            </a:r>
            <a:endParaRPr kumimoji="0" lang="en-US" altLang="zh-TW" sz="2000" b="0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    int</a:t>
            </a:r>
            <a:r>
              <a:rPr kumimoji="0" lang="en-US" altLang="zh-TW" sz="2000" b="0" dirty="0">
                <a:latin typeface="Consolas" panose="020B0609020204030204" pitchFamily="49" charset="0"/>
              </a:rPr>
              <a:t> num1, num2</a:t>
            </a:r>
            <a:r>
              <a:rPr lang="en-US" altLang="zh-TW" sz="2000" b="0" dirty="0">
                <a:latin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endParaRPr kumimoji="0" lang="en-US" altLang="zh-TW" sz="2000" b="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</a:t>
            </a:r>
            <a:r>
              <a:rPr lang="en-US" altLang="zh-TW" sz="2000" dirty="0" err="1">
                <a:highlight>
                  <a:srgbClr val="FFFF00"/>
                </a:highlight>
                <a:latin typeface="Consolas" panose="020B0609020204030204" pitchFamily="49" charset="0"/>
              </a:rPr>
              <a:t>fptr</a:t>
            </a:r>
            <a:r>
              <a:rPr lang="en-US" altLang="zh-TW" sz="2000" dirty="0"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en-US" altLang="zh-TW" sz="2000" dirty="0" err="1">
                <a:solidFill>
                  <a:srgbClr val="C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fopen</a:t>
            </a:r>
            <a:r>
              <a:rPr lang="en-US" altLang="zh-TW" sz="2000" dirty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2000" dirty="0">
                <a:solidFill>
                  <a:srgbClr val="0099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"data.txt"</a:t>
            </a:r>
            <a:r>
              <a:rPr lang="en-US" altLang="zh-TW" sz="2000" dirty="0">
                <a:highlight>
                  <a:srgbClr val="FFFF00"/>
                </a:highlight>
                <a:latin typeface="Consolas" panose="020B0609020204030204" pitchFamily="49" charset="0"/>
              </a:rPr>
              <a:t>, </a:t>
            </a:r>
            <a:r>
              <a:rPr lang="en-US" altLang="zh-TW" sz="2000" dirty="0">
                <a:solidFill>
                  <a:srgbClr val="0099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"r"</a:t>
            </a:r>
            <a:r>
              <a:rPr lang="en-US" altLang="zh-TW" sz="2000" dirty="0">
                <a:highlight>
                  <a:srgbClr val="FFFF00"/>
                </a:highlight>
                <a:latin typeface="Consolas" panose="020B0609020204030204" pitchFamily="49" charset="0"/>
              </a:rPr>
              <a:t>)</a:t>
            </a:r>
            <a:r>
              <a:rPr lang="en-US" altLang="zh-TW" sz="2000" b="0" dirty="0"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  <a:r>
              <a:rPr lang="en-US" altLang="zh-TW" sz="2000" b="0" dirty="0">
                <a:latin typeface="Consolas" panose="020B0609020204030204" pitchFamily="49" charset="0"/>
              </a:rPr>
              <a:t>  </a:t>
            </a:r>
            <a:r>
              <a:rPr lang="en-US" altLang="zh-TW" sz="2000" b="0" dirty="0">
                <a:solidFill>
                  <a:srgbClr val="008000"/>
                </a:solidFill>
                <a:latin typeface="Consolas" panose="020B0609020204030204" pitchFamily="49" charset="0"/>
              </a:rPr>
              <a:t>// open file for reading</a:t>
            </a:r>
            <a:endParaRPr lang="en-US" altLang="zh-TW" sz="2000" b="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endParaRPr kumimoji="0" lang="en-US" altLang="zh-TW" sz="2000" b="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solidFill>
                  <a:srgbClr val="008000"/>
                </a:solidFill>
                <a:latin typeface="Consolas" panose="020B0609020204030204" pitchFamily="49" charset="0"/>
              </a:rPr>
              <a:t>    // Read two integers from the file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</a:t>
            </a:r>
            <a:r>
              <a:rPr lang="en-US" altLang="zh-TW" sz="2000" b="0" dirty="0" err="1">
                <a:solidFill>
                  <a:srgbClr val="C00000"/>
                </a:solidFill>
                <a:latin typeface="Consolas" panose="020B0609020204030204" pitchFamily="49" charset="0"/>
              </a:rPr>
              <a:t>fscanf</a:t>
            </a:r>
            <a:r>
              <a:rPr lang="en-US" altLang="zh-TW" sz="2000" b="0" dirty="0">
                <a:latin typeface="Consolas" panose="020B0609020204030204" pitchFamily="49" charset="0"/>
              </a:rPr>
              <a:t>(</a:t>
            </a:r>
            <a:r>
              <a:rPr lang="en-US" altLang="zh-TW" sz="2000" b="0" dirty="0" err="1">
                <a:latin typeface="Consolas" panose="020B0609020204030204" pitchFamily="49" charset="0"/>
              </a:rPr>
              <a:t>fptr</a:t>
            </a:r>
            <a:r>
              <a:rPr lang="en-US" altLang="zh-TW" sz="2000" b="0" dirty="0">
                <a:latin typeface="Consolas" panose="020B0609020204030204" pitchFamily="49" charset="0"/>
              </a:rPr>
              <a:t>, </a:t>
            </a:r>
            <a:r>
              <a:rPr lang="en-US" altLang="zh-TW" sz="2000" b="0" dirty="0">
                <a:solidFill>
                  <a:srgbClr val="0099FF"/>
                </a:solidFill>
                <a:latin typeface="Consolas" panose="020B0609020204030204" pitchFamily="49" charset="0"/>
              </a:rPr>
              <a:t>"%</a:t>
            </a:r>
            <a:r>
              <a:rPr lang="en-US" altLang="zh-TW" sz="2000" b="0" dirty="0" err="1">
                <a:solidFill>
                  <a:srgbClr val="0099FF"/>
                </a:solidFill>
                <a:latin typeface="Consolas" panose="020B0609020204030204" pitchFamily="49" charset="0"/>
              </a:rPr>
              <a:t>d%d</a:t>
            </a:r>
            <a:r>
              <a:rPr lang="en-US" altLang="zh-TW" sz="2000" b="0" dirty="0">
                <a:solidFill>
                  <a:srgbClr val="0099FF"/>
                </a:solidFill>
                <a:latin typeface="Consolas" panose="020B0609020204030204" pitchFamily="49" charset="0"/>
              </a:rPr>
              <a:t>"</a:t>
            </a:r>
            <a:r>
              <a:rPr lang="en-US" altLang="zh-TW" sz="2000" b="0" dirty="0">
                <a:latin typeface="Consolas" panose="020B0609020204030204" pitchFamily="49" charset="0"/>
              </a:rPr>
              <a:t>, &amp;num1, &amp;num2); </a:t>
            </a:r>
            <a:endParaRPr kumimoji="0" lang="en-US" altLang="zh-TW" sz="2000" b="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</a:t>
            </a:r>
            <a:r>
              <a:rPr lang="en-US" altLang="zh-TW" sz="2000" b="0" dirty="0" err="1">
                <a:latin typeface="Consolas" panose="020B0609020204030204" pitchFamily="49" charset="0"/>
              </a:rPr>
              <a:t>printf</a:t>
            </a:r>
            <a:r>
              <a:rPr lang="en-US" altLang="zh-TW" sz="2000" b="0" dirty="0">
                <a:latin typeface="Consolas" panose="020B0609020204030204" pitchFamily="49" charset="0"/>
              </a:rPr>
              <a:t>(</a:t>
            </a:r>
            <a:r>
              <a:rPr lang="en-US" altLang="zh-TW" sz="2000" b="0" dirty="0">
                <a:solidFill>
                  <a:srgbClr val="0099FF"/>
                </a:solidFill>
                <a:latin typeface="Consolas" panose="020B0609020204030204" pitchFamily="49" charset="0"/>
              </a:rPr>
              <a:t>"%d %d\n"</a:t>
            </a:r>
            <a:r>
              <a:rPr lang="en-US" altLang="zh-TW" sz="2000" b="0" dirty="0">
                <a:latin typeface="Consolas" panose="020B0609020204030204" pitchFamily="49" charset="0"/>
              </a:rPr>
              <a:t>, num1, num2);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 dirty="0">
                <a:latin typeface="Consolas" panose="020B0609020204030204" pitchFamily="49" charset="0"/>
              </a:rPr>
              <a:t>    </a:t>
            </a:r>
            <a:r>
              <a:rPr lang="en-US" altLang="zh-TW" sz="2000" b="0" dirty="0" err="1">
                <a:solidFill>
                  <a:srgbClr val="C00000"/>
                </a:solidFill>
                <a:latin typeface="Consolas" panose="020B0609020204030204" pitchFamily="49" charset="0"/>
              </a:rPr>
              <a:t>fclose</a:t>
            </a:r>
            <a:r>
              <a:rPr lang="en-US" altLang="zh-TW" sz="2000" b="0" dirty="0">
                <a:latin typeface="Consolas" panose="020B0609020204030204" pitchFamily="49" charset="0"/>
              </a:rPr>
              <a:t>(</a:t>
            </a:r>
            <a:r>
              <a:rPr lang="en-US" altLang="zh-TW" sz="2000" b="0" dirty="0" err="1">
                <a:latin typeface="Consolas" panose="020B0609020204030204" pitchFamily="49" charset="0"/>
              </a:rPr>
              <a:t>fptr</a:t>
            </a:r>
            <a:r>
              <a:rPr lang="en-US" altLang="zh-TW" sz="2000" b="0" dirty="0">
                <a:latin typeface="Consolas" panose="020B0609020204030204" pitchFamily="49" charset="0"/>
              </a:rPr>
              <a:t>);  </a:t>
            </a:r>
            <a:r>
              <a:rPr lang="en-US" altLang="zh-TW" sz="2000" b="0" dirty="0">
                <a:solidFill>
                  <a:srgbClr val="008000"/>
                </a:solidFill>
                <a:latin typeface="Consolas" panose="020B0609020204030204" pitchFamily="49" charset="0"/>
              </a:rPr>
              <a:t>// close file</a:t>
            </a:r>
            <a:endParaRPr lang="en-US" altLang="zh-TW" sz="2000" b="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0000FF"/>
                </a:solidFill>
                <a:latin typeface="Consolas" panose="020B0609020204030204" pitchFamily="49" charset="0"/>
              </a:rPr>
              <a:t>    return</a:t>
            </a:r>
            <a:r>
              <a:rPr kumimoji="0"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kumimoji="0" lang="en-US" altLang="zh-TW" sz="2000" b="0" dirty="0">
                <a:solidFill>
                  <a:srgbClr val="0099FF"/>
                </a:solidFill>
                <a:latin typeface="Consolas" panose="020B0609020204030204" pitchFamily="49" charset="0"/>
              </a:rPr>
              <a:t>0</a:t>
            </a:r>
            <a:r>
              <a:rPr kumimoji="0"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08547" name="Rectangle 3"/>
          <p:cNvSpPr>
            <a:spLocks noChangeArrowheads="1"/>
          </p:cNvSpPr>
          <p:nvPr/>
        </p:nvSpPr>
        <p:spPr bwMode="auto">
          <a:xfrm>
            <a:off x="4763" y="990600"/>
            <a:ext cx="461962" cy="53213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Ins="0"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2</a:t>
            </a:r>
            <a:endParaRPr kumimoji="0" lang="en-US" altLang="zh-TW" sz="2000" b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3</a:t>
            </a:r>
            <a:endParaRPr kumimoji="0" lang="en-US" altLang="zh-TW" sz="2000" b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4</a:t>
            </a:r>
            <a:endParaRPr kumimoji="0" lang="en-US" altLang="zh-TW" sz="2000" b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12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13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1415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70338" y="76200"/>
            <a:ext cx="8921262" cy="838200"/>
          </a:xfrm>
        </p:spPr>
        <p:txBody>
          <a:bodyPr>
            <a:normAutofit/>
          </a:bodyPr>
          <a:lstStyle/>
          <a:p>
            <a:r>
              <a:rPr lang="en-US" altLang="zh-TW"/>
              <a:t>Example #1: Reading data from a file</a:t>
            </a:r>
            <a:endParaRPr lang="en-US" altLang="zh-TW" sz="3000"/>
          </a:p>
        </p:txBody>
      </p:sp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3655320" y="3402874"/>
            <a:ext cx="5244839" cy="1524000"/>
          </a:xfrm>
          <a:prstGeom prst="rect">
            <a:avLst/>
          </a:prstGeom>
          <a:solidFill>
            <a:srgbClr val="CCFFCC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50000"/>
              </a:spcBef>
            </a:pPr>
            <a:r>
              <a:rPr lang="en-US" altLang="zh-TW" sz="2400"/>
              <a:t>Open a file named </a:t>
            </a:r>
            <a:r>
              <a:rPr lang="en-US" altLang="zh-TW" sz="2400">
                <a:solidFill>
                  <a:srgbClr val="0070C0"/>
                </a:solidFill>
              </a:rPr>
              <a:t>"data.txt"</a:t>
            </a:r>
            <a:r>
              <a:rPr lang="en-US" altLang="zh-TW" sz="2400"/>
              <a:t> for reading.</a:t>
            </a:r>
          </a:p>
          <a:p>
            <a:pPr>
              <a:spcBef>
                <a:spcPct val="50000"/>
              </a:spcBef>
            </a:pPr>
            <a:r>
              <a:rPr lang="en-US" altLang="zh-TW" sz="2400"/>
              <a:t>The 2</a:t>
            </a:r>
            <a:r>
              <a:rPr lang="en-US" altLang="zh-TW" sz="2400" baseline="30000"/>
              <a:t>nd</a:t>
            </a:r>
            <a:r>
              <a:rPr lang="en-US" altLang="zh-TW" sz="2400"/>
              <a:t> argument, </a:t>
            </a:r>
            <a:r>
              <a:rPr lang="en-US" altLang="zh-TW" sz="2400">
                <a:solidFill>
                  <a:srgbClr val="0070C0"/>
                </a:solidFill>
              </a:rPr>
              <a:t>"r"</a:t>
            </a:r>
            <a:r>
              <a:rPr lang="en-US" altLang="zh-TW" sz="2400"/>
              <a:t>, indicates that we are opening the file for reading only.</a:t>
            </a:r>
          </a:p>
        </p:txBody>
      </p:sp>
    </p:spTree>
    <p:extLst>
      <p:ext uri="{BB962C8B-B14F-4D97-AF65-F5344CB8AC3E}">
        <p14:creationId xmlns:p14="http://schemas.microsoft.com/office/powerpoint/2010/main" val="421680601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914400" y="4073524"/>
            <a:ext cx="5105400" cy="42227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DDE72-8E1C-48AE-AAB0-105C85EE517D}" type="slidenum">
              <a:rPr lang="zh-TW" altLang="en-US"/>
              <a:pPr/>
              <a:t>9</a:t>
            </a:fld>
            <a:endParaRPr lang="en-US" altLang="zh-TW"/>
          </a:p>
        </p:txBody>
      </p:sp>
      <p:sp>
        <p:nvSpPr>
          <p:cNvPr id="108546" name="Rectangle 2"/>
          <p:cNvSpPr>
            <a:spLocks noChangeArrowheads="1"/>
          </p:cNvSpPr>
          <p:nvPr/>
        </p:nvSpPr>
        <p:spPr bwMode="auto">
          <a:xfrm>
            <a:off x="466725" y="990600"/>
            <a:ext cx="8677275" cy="53213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latin typeface="Consolas" panose="020B0609020204030204" pitchFamily="49" charset="0"/>
              </a:rPr>
              <a:t>#include &lt;</a:t>
            </a:r>
            <a:r>
              <a:rPr kumimoji="0" lang="en-US" altLang="zh-TW" sz="2000" b="0" err="1">
                <a:latin typeface="Consolas" panose="020B0609020204030204" pitchFamily="49" charset="0"/>
              </a:rPr>
              <a:t>stdio.h</a:t>
            </a:r>
            <a:r>
              <a:rPr kumimoji="0" lang="en-US" altLang="zh-TW" sz="2000" b="0">
                <a:latin typeface="Consolas" panose="020B0609020204030204" pitchFamily="49" charset="0"/>
              </a:rPr>
              <a:t>&gt;</a:t>
            </a:r>
          </a:p>
          <a:p>
            <a:pPr eaLnBrk="1" hangingPunct="1">
              <a:lnSpc>
                <a:spcPct val="110000"/>
              </a:lnSpc>
            </a:pPr>
            <a:endParaRPr kumimoji="0" lang="en-US" altLang="zh-TW" sz="2000" b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kumimoji="0" lang="en-US" altLang="zh-TW" sz="2000" b="0">
                <a:solidFill>
                  <a:srgbClr val="000000"/>
                </a:solidFill>
                <a:latin typeface="Consolas" panose="020B0609020204030204" pitchFamily="49" charset="0"/>
              </a:rPr>
              <a:t> main(void) {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0000FF"/>
                </a:solidFill>
                <a:latin typeface="Consolas" panose="020B0609020204030204" pitchFamily="49" charset="0"/>
              </a:rPr>
              <a:t>    </a:t>
            </a:r>
            <a:r>
              <a:rPr lang="en-US" altLang="zh-TW" sz="2000" b="0">
                <a:latin typeface="Consolas" panose="020B0609020204030204" pitchFamily="49" charset="0"/>
              </a:rPr>
              <a:t>FILE *</a:t>
            </a:r>
            <a:r>
              <a:rPr lang="en-US" altLang="zh-TW" sz="2000" b="0" err="1">
                <a:latin typeface="Consolas" panose="020B0609020204030204" pitchFamily="49" charset="0"/>
              </a:rPr>
              <a:t>fptr</a:t>
            </a:r>
            <a:r>
              <a:rPr lang="en-US" altLang="zh-TW" sz="2000" b="0">
                <a:latin typeface="Consolas" panose="020B0609020204030204" pitchFamily="49" charset="0"/>
              </a:rPr>
              <a:t>;</a:t>
            </a:r>
            <a:endParaRPr kumimoji="0" lang="en-US" altLang="zh-TW" sz="2000" b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0000FF"/>
                </a:solidFill>
                <a:latin typeface="Consolas" panose="020B0609020204030204" pitchFamily="49" charset="0"/>
              </a:rPr>
              <a:t>    int</a:t>
            </a:r>
            <a:r>
              <a:rPr kumimoji="0" lang="en-US" altLang="zh-TW" sz="2000" b="0">
                <a:latin typeface="Consolas" panose="020B0609020204030204" pitchFamily="49" charset="0"/>
              </a:rPr>
              <a:t> num1, num2</a:t>
            </a:r>
            <a:r>
              <a:rPr lang="en-US" altLang="zh-TW" sz="2000" b="0">
                <a:latin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endParaRPr kumimoji="0" lang="en-US" altLang="zh-TW" sz="2000" b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latin typeface="Consolas" panose="020B0609020204030204" pitchFamily="49" charset="0"/>
              </a:rPr>
              <a:t>    </a:t>
            </a:r>
            <a:r>
              <a:rPr lang="en-US" altLang="zh-TW" sz="2000" b="0" err="1">
                <a:latin typeface="Consolas" panose="020B0609020204030204" pitchFamily="49" charset="0"/>
              </a:rPr>
              <a:t>fptr</a:t>
            </a:r>
            <a:r>
              <a:rPr lang="en-US" altLang="zh-TW" sz="2000" b="0">
                <a:latin typeface="Consolas" panose="020B0609020204030204" pitchFamily="49" charset="0"/>
              </a:rPr>
              <a:t> = </a:t>
            </a:r>
            <a:r>
              <a:rPr lang="en-US" altLang="zh-TW" sz="2000" b="0" err="1">
                <a:solidFill>
                  <a:srgbClr val="C00000"/>
                </a:solidFill>
                <a:latin typeface="Consolas" panose="020B0609020204030204" pitchFamily="49" charset="0"/>
              </a:rPr>
              <a:t>fopen</a:t>
            </a:r>
            <a:r>
              <a:rPr lang="en-US" altLang="zh-TW" sz="2000" b="0">
                <a:latin typeface="Consolas" panose="020B0609020204030204" pitchFamily="49" charset="0"/>
              </a:rPr>
              <a:t>(</a:t>
            </a:r>
            <a:r>
              <a:rPr lang="en-US" altLang="zh-TW" sz="2000" b="0">
                <a:solidFill>
                  <a:srgbClr val="0099FF"/>
                </a:solidFill>
                <a:latin typeface="Consolas" panose="020B0609020204030204" pitchFamily="49" charset="0"/>
              </a:rPr>
              <a:t>"data.txt"</a:t>
            </a:r>
            <a:r>
              <a:rPr lang="en-US" altLang="zh-TW" sz="2000" b="0">
                <a:latin typeface="Consolas" panose="020B0609020204030204" pitchFamily="49" charset="0"/>
              </a:rPr>
              <a:t>, </a:t>
            </a:r>
            <a:r>
              <a:rPr lang="en-US" altLang="zh-TW" sz="2000" b="0">
                <a:solidFill>
                  <a:srgbClr val="0099FF"/>
                </a:solidFill>
                <a:latin typeface="Consolas" panose="020B0609020204030204" pitchFamily="49" charset="0"/>
              </a:rPr>
              <a:t>"r"</a:t>
            </a:r>
            <a:r>
              <a:rPr lang="en-US" altLang="zh-TW" sz="2000" b="0">
                <a:latin typeface="Consolas" panose="020B0609020204030204" pitchFamily="49" charset="0"/>
              </a:rPr>
              <a:t>);  </a:t>
            </a:r>
            <a:r>
              <a:rPr lang="en-US" altLang="zh-TW" sz="2000" b="0">
                <a:solidFill>
                  <a:srgbClr val="008000"/>
                </a:solidFill>
                <a:latin typeface="Consolas" panose="020B0609020204030204" pitchFamily="49" charset="0"/>
              </a:rPr>
              <a:t>// open file</a:t>
            </a:r>
            <a:endParaRPr lang="en-US" altLang="zh-TW" sz="2000" b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endParaRPr kumimoji="0" lang="en-US" altLang="zh-TW" sz="2000" b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008000"/>
                </a:solidFill>
                <a:latin typeface="Consolas" panose="020B0609020204030204" pitchFamily="49" charset="0"/>
              </a:rPr>
              <a:t>    // Read two integers from the file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>
                <a:latin typeface="Consolas" panose="020B0609020204030204" pitchFamily="49" charset="0"/>
              </a:rPr>
              <a:t>    </a:t>
            </a:r>
            <a:r>
              <a:rPr lang="en-US" altLang="zh-TW" sz="2000" err="1">
                <a:solidFill>
                  <a:srgbClr val="C00000"/>
                </a:solidFill>
                <a:highlight>
                  <a:srgbClr val="00FF00"/>
                </a:highlight>
                <a:latin typeface="Consolas" panose="020B0609020204030204" pitchFamily="49" charset="0"/>
              </a:rPr>
              <a:t>fscanf</a:t>
            </a:r>
            <a:r>
              <a:rPr lang="en-US" altLang="zh-TW" sz="2000">
                <a:highlight>
                  <a:srgbClr val="00FF00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2000" err="1">
                <a:highlight>
                  <a:srgbClr val="00FF00"/>
                </a:highlight>
                <a:latin typeface="Consolas" panose="020B0609020204030204" pitchFamily="49" charset="0"/>
              </a:rPr>
              <a:t>fptr</a:t>
            </a:r>
            <a:r>
              <a:rPr lang="en-US" altLang="zh-TW" sz="2000">
                <a:highlight>
                  <a:srgbClr val="00FF00"/>
                </a:highlight>
                <a:latin typeface="Consolas" panose="020B0609020204030204" pitchFamily="49" charset="0"/>
              </a:rPr>
              <a:t>, </a:t>
            </a:r>
            <a:r>
              <a:rPr lang="en-US" altLang="zh-TW" sz="2000">
                <a:solidFill>
                  <a:srgbClr val="0099FF"/>
                </a:solidFill>
                <a:highlight>
                  <a:srgbClr val="00FF00"/>
                </a:highlight>
                <a:latin typeface="Consolas" panose="020B0609020204030204" pitchFamily="49" charset="0"/>
              </a:rPr>
              <a:t>"%</a:t>
            </a:r>
            <a:r>
              <a:rPr lang="en-US" altLang="zh-TW" sz="2000" err="1">
                <a:solidFill>
                  <a:srgbClr val="0099FF"/>
                </a:solidFill>
                <a:highlight>
                  <a:srgbClr val="00FF00"/>
                </a:highlight>
                <a:latin typeface="Consolas" panose="020B0609020204030204" pitchFamily="49" charset="0"/>
              </a:rPr>
              <a:t>d%d</a:t>
            </a:r>
            <a:r>
              <a:rPr lang="en-US" altLang="zh-TW" sz="2000">
                <a:solidFill>
                  <a:srgbClr val="0099FF"/>
                </a:solidFill>
                <a:highlight>
                  <a:srgbClr val="00FF00"/>
                </a:highlight>
                <a:latin typeface="Consolas" panose="020B0609020204030204" pitchFamily="49" charset="0"/>
              </a:rPr>
              <a:t>"</a:t>
            </a:r>
            <a:r>
              <a:rPr lang="en-US" altLang="zh-TW" sz="2000">
                <a:highlight>
                  <a:srgbClr val="00FF00"/>
                </a:highlight>
                <a:latin typeface="Consolas" panose="020B0609020204030204" pitchFamily="49" charset="0"/>
              </a:rPr>
              <a:t>, &amp;num1, &amp;num2);</a:t>
            </a:r>
            <a:r>
              <a:rPr lang="en-US" altLang="zh-TW" sz="2000">
                <a:latin typeface="Consolas" panose="020B0609020204030204" pitchFamily="49" charset="0"/>
              </a:rPr>
              <a:t> </a:t>
            </a:r>
            <a:endParaRPr kumimoji="0" lang="en-US" altLang="zh-TW" sz="200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latin typeface="Consolas" panose="020B0609020204030204" pitchFamily="49" charset="0"/>
              </a:rPr>
              <a:t>    </a:t>
            </a:r>
            <a:r>
              <a:rPr lang="en-US" altLang="zh-TW" sz="2000" b="0" err="1">
                <a:latin typeface="Consolas" panose="020B0609020204030204" pitchFamily="49" charset="0"/>
              </a:rPr>
              <a:t>printf</a:t>
            </a:r>
            <a:r>
              <a:rPr lang="en-US" altLang="zh-TW" sz="2000" b="0">
                <a:latin typeface="Consolas" panose="020B0609020204030204" pitchFamily="49" charset="0"/>
              </a:rPr>
              <a:t>(</a:t>
            </a:r>
            <a:r>
              <a:rPr lang="en-US" altLang="zh-TW" sz="2000" b="0">
                <a:solidFill>
                  <a:srgbClr val="0099FF"/>
                </a:solidFill>
                <a:latin typeface="Consolas" panose="020B0609020204030204" pitchFamily="49" charset="0"/>
              </a:rPr>
              <a:t>"%d %d\n"</a:t>
            </a:r>
            <a:r>
              <a:rPr lang="en-US" altLang="zh-TW" sz="2000" b="0">
                <a:latin typeface="Consolas" panose="020B0609020204030204" pitchFamily="49" charset="0"/>
              </a:rPr>
              <a:t>, num1, num2);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latin typeface="Consolas" panose="020B0609020204030204" pitchFamily="49" charset="0"/>
              </a:rPr>
              <a:t>   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latin typeface="Consolas" panose="020B0609020204030204" pitchFamily="49" charset="0"/>
              </a:rPr>
              <a:t>    </a:t>
            </a:r>
            <a:r>
              <a:rPr lang="en-US" altLang="zh-TW" sz="2000" b="0" err="1">
                <a:solidFill>
                  <a:srgbClr val="C00000"/>
                </a:solidFill>
                <a:latin typeface="Consolas" panose="020B0609020204030204" pitchFamily="49" charset="0"/>
              </a:rPr>
              <a:t>fclose</a:t>
            </a:r>
            <a:r>
              <a:rPr lang="en-US" altLang="zh-TW" sz="2000" b="0">
                <a:latin typeface="Consolas" panose="020B0609020204030204" pitchFamily="49" charset="0"/>
              </a:rPr>
              <a:t>(</a:t>
            </a:r>
            <a:r>
              <a:rPr lang="en-US" altLang="zh-TW" sz="2000" b="0" err="1">
                <a:latin typeface="Consolas" panose="020B0609020204030204" pitchFamily="49" charset="0"/>
              </a:rPr>
              <a:t>fptr</a:t>
            </a:r>
            <a:r>
              <a:rPr lang="en-US" altLang="zh-TW" sz="2000" b="0">
                <a:latin typeface="Consolas" panose="020B0609020204030204" pitchFamily="49" charset="0"/>
              </a:rPr>
              <a:t>);  </a:t>
            </a:r>
            <a:r>
              <a:rPr lang="en-US" altLang="zh-TW" sz="2000" b="0">
                <a:solidFill>
                  <a:srgbClr val="008000"/>
                </a:solidFill>
                <a:latin typeface="Consolas" panose="020B0609020204030204" pitchFamily="49" charset="0"/>
              </a:rPr>
              <a:t>// close file</a:t>
            </a:r>
            <a:endParaRPr lang="en-US" altLang="zh-TW" sz="2000" b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0000FF"/>
                </a:solidFill>
                <a:latin typeface="Consolas" panose="020B0609020204030204" pitchFamily="49" charset="0"/>
              </a:rPr>
              <a:t>    return</a:t>
            </a:r>
            <a:r>
              <a:rPr kumimoji="0" lang="en-US" altLang="zh-TW" sz="2000" b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kumimoji="0" lang="en-US" altLang="zh-TW" sz="2000" b="0">
                <a:solidFill>
                  <a:srgbClr val="0099FF"/>
                </a:solidFill>
                <a:latin typeface="Consolas" panose="020B0609020204030204" pitchFamily="49" charset="0"/>
              </a:rPr>
              <a:t>0</a:t>
            </a:r>
            <a:r>
              <a:rPr kumimoji="0" lang="en-US" altLang="zh-TW" sz="2000" b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08547" name="Rectangle 3"/>
          <p:cNvSpPr>
            <a:spLocks noChangeArrowheads="1"/>
          </p:cNvSpPr>
          <p:nvPr/>
        </p:nvSpPr>
        <p:spPr bwMode="auto">
          <a:xfrm>
            <a:off x="4763" y="990600"/>
            <a:ext cx="461962" cy="53213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Ins="0"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2</a:t>
            </a:r>
            <a:endParaRPr kumimoji="0" lang="en-US" altLang="zh-TW" sz="2000" b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3</a:t>
            </a:r>
            <a:endParaRPr kumimoji="0" lang="en-US" altLang="zh-TW" sz="2000" b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4</a:t>
            </a:r>
            <a:endParaRPr kumimoji="0" lang="en-US" altLang="zh-TW" sz="2000" b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12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13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1415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70338" y="76200"/>
            <a:ext cx="8921262" cy="838200"/>
          </a:xfrm>
        </p:spPr>
        <p:txBody>
          <a:bodyPr>
            <a:normAutofit/>
          </a:bodyPr>
          <a:lstStyle/>
          <a:p>
            <a:r>
              <a:rPr lang="en-US" altLang="zh-TW"/>
              <a:t>Example #1: Reading data from a file</a:t>
            </a:r>
            <a:endParaRPr lang="en-US" altLang="zh-TW" sz="3000"/>
          </a:p>
        </p:txBody>
      </p:sp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3352801" y="1066800"/>
            <a:ext cx="5549638" cy="2532062"/>
          </a:xfrm>
          <a:prstGeom prst="rect">
            <a:avLst/>
          </a:prstGeom>
          <a:solidFill>
            <a:srgbClr val="CCFFCC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50000"/>
              </a:spcBef>
            </a:pPr>
            <a:r>
              <a:rPr lang="en-US" altLang="zh-TW" sz="2400"/>
              <a:t>After a file has been opened successfully, we can start reading data from the file via </a:t>
            </a:r>
            <a:r>
              <a:rPr lang="en-US" altLang="zh-TW" sz="240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fptr</a:t>
            </a:r>
            <a:r>
              <a:rPr lang="en-US" altLang="zh-TW" sz="2400"/>
              <a:t>.</a:t>
            </a:r>
          </a:p>
          <a:p>
            <a:pPr>
              <a:spcBef>
                <a:spcPct val="50000"/>
              </a:spcBef>
            </a:pPr>
            <a:r>
              <a:rPr lang="en-US" altLang="zh-TW" sz="2400" err="1">
                <a:latin typeface="Consolas" panose="020B0609020204030204" pitchFamily="49" charset="0"/>
                <a:cs typeface="Consolas" panose="020B0609020204030204" pitchFamily="49" charset="0"/>
              </a:rPr>
              <a:t>fscanf</a:t>
            </a:r>
            <a:r>
              <a:rPr lang="en-US" altLang="zh-TW" sz="240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en-US" altLang="zh-TW" sz="2400"/>
              <a:t> behaves like </a:t>
            </a:r>
            <a:r>
              <a:rPr lang="en-US" altLang="zh-TW" sz="2400" err="1">
                <a:latin typeface="Consolas" panose="020B0609020204030204" pitchFamily="49" charset="0"/>
                <a:cs typeface="Consolas" panose="020B0609020204030204" pitchFamily="49" charset="0"/>
              </a:rPr>
              <a:t>scanf</a:t>
            </a:r>
            <a:r>
              <a:rPr lang="en-US" altLang="zh-TW" sz="240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en-US" altLang="zh-TW" sz="2400"/>
              <a:t> except that </a:t>
            </a:r>
            <a:r>
              <a:rPr lang="en-US" altLang="zh-TW" sz="2400" err="1">
                <a:latin typeface="Consolas" panose="020B0609020204030204" pitchFamily="49" charset="0"/>
                <a:cs typeface="Consolas" panose="020B0609020204030204" pitchFamily="49" charset="0"/>
              </a:rPr>
              <a:t>fscanf</a:t>
            </a:r>
            <a:r>
              <a:rPr lang="en-US" altLang="zh-TW" sz="240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en-US" altLang="zh-TW" sz="2400"/>
              <a:t> requires a "file pointer variable" as its first argument.</a:t>
            </a:r>
          </a:p>
        </p:txBody>
      </p:sp>
    </p:spTree>
    <p:extLst>
      <p:ext uri="{BB962C8B-B14F-4D97-AF65-F5344CB8AC3E}">
        <p14:creationId xmlns:p14="http://schemas.microsoft.com/office/powerpoint/2010/main" val="9214643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1022220" y="5029200"/>
            <a:ext cx="1797180" cy="42227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DDE72-8E1C-48AE-AAB0-105C85EE517D}" type="slidenum">
              <a:rPr lang="zh-TW" altLang="en-US"/>
              <a:pPr/>
              <a:t>10</a:t>
            </a:fld>
            <a:endParaRPr lang="en-US" altLang="zh-TW"/>
          </a:p>
        </p:txBody>
      </p:sp>
      <p:sp>
        <p:nvSpPr>
          <p:cNvPr id="108546" name="Rectangle 2"/>
          <p:cNvSpPr>
            <a:spLocks noChangeArrowheads="1"/>
          </p:cNvSpPr>
          <p:nvPr/>
        </p:nvSpPr>
        <p:spPr bwMode="auto">
          <a:xfrm>
            <a:off x="466725" y="990600"/>
            <a:ext cx="8677275" cy="53213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latin typeface="Consolas" panose="020B0609020204030204" pitchFamily="49" charset="0"/>
              </a:rPr>
              <a:t>#include &lt;</a:t>
            </a:r>
            <a:r>
              <a:rPr kumimoji="0" lang="en-US" altLang="zh-TW" sz="2000" b="0" err="1">
                <a:latin typeface="Consolas" panose="020B0609020204030204" pitchFamily="49" charset="0"/>
              </a:rPr>
              <a:t>stdio.h</a:t>
            </a:r>
            <a:r>
              <a:rPr kumimoji="0" lang="en-US" altLang="zh-TW" sz="2000" b="0">
                <a:latin typeface="Consolas" panose="020B0609020204030204" pitchFamily="49" charset="0"/>
              </a:rPr>
              <a:t>&gt;</a:t>
            </a:r>
          </a:p>
          <a:p>
            <a:pPr eaLnBrk="1" hangingPunct="1">
              <a:lnSpc>
                <a:spcPct val="110000"/>
              </a:lnSpc>
            </a:pPr>
            <a:endParaRPr kumimoji="0" lang="en-US" altLang="zh-TW" sz="2000" b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kumimoji="0" lang="en-US" altLang="zh-TW" sz="2000" b="0">
                <a:solidFill>
                  <a:srgbClr val="000000"/>
                </a:solidFill>
                <a:latin typeface="Consolas" panose="020B0609020204030204" pitchFamily="49" charset="0"/>
              </a:rPr>
              <a:t> main(void) {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0000FF"/>
                </a:solidFill>
                <a:latin typeface="Consolas" panose="020B0609020204030204" pitchFamily="49" charset="0"/>
              </a:rPr>
              <a:t>    </a:t>
            </a:r>
            <a:r>
              <a:rPr lang="en-US" altLang="zh-TW" sz="2000" b="0">
                <a:latin typeface="Consolas" panose="020B0609020204030204" pitchFamily="49" charset="0"/>
              </a:rPr>
              <a:t>FILE *</a:t>
            </a:r>
            <a:r>
              <a:rPr lang="en-US" altLang="zh-TW" sz="2000" b="0" err="1">
                <a:latin typeface="Consolas" panose="020B0609020204030204" pitchFamily="49" charset="0"/>
              </a:rPr>
              <a:t>fptr</a:t>
            </a:r>
            <a:r>
              <a:rPr lang="en-US" altLang="zh-TW" sz="2000" b="0">
                <a:latin typeface="Consolas" panose="020B0609020204030204" pitchFamily="49" charset="0"/>
              </a:rPr>
              <a:t>;</a:t>
            </a:r>
            <a:endParaRPr kumimoji="0" lang="en-US" altLang="zh-TW" sz="2000" b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0000FF"/>
                </a:solidFill>
                <a:latin typeface="Consolas" panose="020B0609020204030204" pitchFamily="49" charset="0"/>
              </a:rPr>
              <a:t>    int</a:t>
            </a:r>
            <a:r>
              <a:rPr kumimoji="0" lang="en-US" altLang="zh-TW" sz="2000" b="0">
                <a:latin typeface="Consolas" panose="020B0609020204030204" pitchFamily="49" charset="0"/>
              </a:rPr>
              <a:t> num1, num2</a:t>
            </a:r>
            <a:r>
              <a:rPr lang="en-US" altLang="zh-TW" sz="2000" b="0">
                <a:latin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endParaRPr kumimoji="0" lang="en-US" altLang="zh-TW" sz="2000" b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latin typeface="Consolas" panose="020B0609020204030204" pitchFamily="49" charset="0"/>
              </a:rPr>
              <a:t>    </a:t>
            </a:r>
            <a:r>
              <a:rPr lang="en-US" altLang="zh-TW" sz="2000" b="0" err="1">
                <a:latin typeface="Consolas" panose="020B0609020204030204" pitchFamily="49" charset="0"/>
              </a:rPr>
              <a:t>fptr</a:t>
            </a:r>
            <a:r>
              <a:rPr lang="en-US" altLang="zh-TW" sz="2000" b="0">
                <a:latin typeface="Consolas" panose="020B0609020204030204" pitchFamily="49" charset="0"/>
              </a:rPr>
              <a:t> = </a:t>
            </a:r>
            <a:r>
              <a:rPr lang="en-US" altLang="zh-TW" sz="2000" b="0" err="1">
                <a:solidFill>
                  <a:srgbClr val="C00000"/>
                </a:solidFill>
                <a:latin typeface="Consolas" panose="020B0609020204030204" pitchFamily="49" charset="0"/>
              </a:rPr>
              <a:t>fopen</a:t>
            </a:r>
            <a:r>
              <a:rPr lang="en-US" altLang="zh-TW" sz="2000" b="0">
                <a:latin typeface="Consolas" panose="020B0609020204030204" pitchFamily="49" charset="0"/>
              </a:rPr>
              <a:t>(</a:t>
            </a:r>
            <a:r>
              <a:rPr lang="en-US" altLang="zh-TW" sz="2000" b="0">
                <a:solidFill>
                  <a:srgbClr val="0099FF"/>
                </a:solidFill>
                <a:latin typeface="Consolas" panose="020B0609020204030204" pitchFamily="49" charset="0"/>
              </a:rPr>
              <a:t>"data.txt"</a:t>
            </a:r>
            <a:r>
              <a:rPr lang="en-US" altLang="zh-TW" sz="2000" b="0">
                <a:latin typeface="Consolas" panose="020B0609020204030204" pitchFamily="49" charset="0"/>
              </a:rPr>
              <a:t>, </a:t>
            </a:r>
            <a:r>
              <a:rPr lang="en-US" altLang="zh-TW" sz="2000" b="0">
                <a:solidFill>
                  <a:srgbClr val="0099FF"/>
                </a:solidFill>
                <a:latin typeface="Consolas" panose="020B0609020204030204" pitchFamily="49" charset="0"/>
              </a:rPr>
              <a:t>"r"</a:t>
            </a:r>
            <a:r>
              <a:rPr lang="en-US" altLang="zh-TW" sz="2000" b="0">
                <a:latin typeface="Consolas" panose="020B0609020204030204" pitchFamily="49" charset="0"/>
              </a:rPr>
              <a:t>);  </a:t>
            </a:r>
            <a:r>
              <a:rPr lang="en-US" altLang="zh-TW" sz="2000" b="0">
                <a:solidFill>
                  <a:srgbClr val="008000"/>
                </a:solidFill>
                <a:latin typeface="Consolas" panose="020B0609020204030204" pitchFamily="49" charset="0"/>
              </a:rPr>
              <a:t>// open file for reading</a:t>
            </a:r>
            <a:endParaRPr lang="en-US" altLang="zh-TW" sz="2000" b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endParaRPr kumimoji="0" lang="en-US" altLang="zh-TW" sz="2000" b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008000"/>
                </a:solidFill>
                <a:latin typeface="Consolas" panose="020B0609020204030204" pitchFamily="49" charset="0"/>
              </a:rPr>
              <a:t>    // Read two integers from the file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latin typeface="Consolas" panose="020B0609020204030204" pitchFamily="49" charset="0"/>
              </a:rPr>
              <a:t>    </a:t>
            </a:r>
            <a:r>
              <a:rPr lang="en-US" altLang="zh-TW" sz="2000" b="0" err="1">
                <a:solidFill>
                  <a:srgbClr val="C00000"/>
                </a:solidFill>
                <a:latin typeface="Consolas" panose="020B0609020204030204" pitchFamily="49" charset="0"/>
              </a:rPr>
              <a:t>fscanf</a:t>
            </a:r>
            <a:r>
              <a:rPr lang="en-US" altLang="zh-TW" sz="2000" b="0">
                <a:latin typeface="Consolas" panose="020B0609020204030204" pitchFamily="49" charset="0"/>
              </a:rPr>
              <a:t>(</a:t>
            </a:r>
            <a:r>
              <a:rPr lang="en-US" altLang="zh-TW" sz="2000" b="0" err="1">
                <a:latin typeface="Consolas" panose="020B0609020204030204" pitchFamily="49" charset="0"/>
              </a:rPr>
              <a:t>fptr</a:t>
            </a:r>
            <a:r>
              <a:rPr lang="en-US" altLang="zh-TW" sz="2000" b="0">
                <a:latin typeface="Consolas" panose="020B0609020204030204" pitchFamily="49" charset="0"/>
              </a:rPr>
              <a:t>, </a:t>
            </a:r>
            <a:r>
              <a:rPr lang="en-US" altLang="zh-TW" sz="2000" b="0">
                <a:solidFill>
                  <a:srgbClr val="0099FF"/>
                </a:solidFill>
                <a:latin typeface="Consolas" panose="020B0609020204030204" pitchFamily="49" charset="0"/>
              </a:rPr>
              <a:t>"%</a:t>
            </a:r>
            <a:r>
              <a:rPr lang="en-US" altLang="zh-TW" sz="2000" b="0" err="1">
                <a:solidFill>
                  <a:srgbClr val="0099FF"/>
                </a:solidFill>
                <a:latin typeface="Consolas" panose="020B0609020204030204" pitchFamily="49" charset="0"/>
              </a:rPr>
              <a:t>d%d</a:t>
            </a:r>
            <a:r>
              <a:rPr lang="en-US" altLang="zh-TW" sz="2000" b="0">
                <a:solidFill>
                  <a:srgbClr val="0099FF"/>
                </a:solidFill>
                <a:latin typeface="Consolas" panose="020B0609020204030204" pitchFamily="49" charset="0"/>
              </a:rPr>
              <a:t>"</a:t>
            </a:r>
            <a:r>
              <a:rPr lang="en-US" altLang="zh-TW" sz="2000" b="0">
                <a:latin typeface="Consolas" panose="020B0609020204030204" pitchFamily="49" charset="0"/>
              </a:rPr>
              <a:t>, &amp;num1, &amp;num2); </a:t>
            </a:r>
            <a:endParaRPr kumimoji="0" lang="en-US" altLang="zh-TW" sz="2000" b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latin typeface="Consolas" panose="020B0609020204030204" pitchFamily="49" charset="0"/>
              </a:rPr>
              <a:t>    </a:t>
            </a:r>
            <a:r>
              <a:rPr lang="en-US" altLang="zh-TW" sz="2000" b="0" err="1">
                <a:latin typeface="Consolas" panose="020B0609020204030204" pitchFamily="49" charset="0"/>
              </a:rPr>
              <a:t>printf</a:t>
            </a:r>
            <a:r>
              <a:rPr lang="en-US" altLang="zh-TW" sz="2000" b="0">
                <a:latin typeface="Consolas" panose="020B0609020204030204" pitchFamily="49" charset="0"/>
              </a:rPr>
              <a:t>(</a:t>
            </a:r>
            <a:r>
              <a:rPr lang="en-US" altLang="zh-TW" sz="2000" b="0">
                <a:solidFill>
                  <a:srgbClr val="0099FF"/>
                </a:solidFill>
                <a:latin typeface="Consolas" panose="020B0609020204030204" pitchFamily="49" charset="0"/>
              </a:rPr>
              <a:t>"%d %d\n"</a:t>
            </a:r>
            <a:r>
              <a:rPr lang="en-US" altLang="zh-TW" sz="2000" b="0">
                <a:latin typeface="Consolas" panose="020B0609020204030204" pitchFamily="49" charset="0"/>
              </a:rPr>
              <a:t>, num1, num2);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latin typeface="Consolas" panose="020B0609020204030204" pitchFamily="49" charset="0"/>
              </a:rPr>
              <a:t>   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latin typeface="Consolas" panose="020B0609020204030204" pitchFamily="49" charset="0"/>
              </a:rPr>
              <a:t>    </a:t>
            </a:r>
            <a:r>
              <a:rPr lang="en-US" altLang="zh-TW" sz="2000" err="1">
                <a:solidFill>
                  <a:srgbClr val="C00000"/>
                </a:solidFill>
                <a:highlight>
                  <a:srgbClr val="00FFFF"/>
                </a:highlight>
                <a:latin typeface="Consolas" panose="020B0609020204030204" pitchFamily="49" charset="0"/>
              </a:rPr>
              <a:t>fclose</a:t>
            </a:r>
            <a:r>
              <a:rPr lang="en-US" altLang="zh-TW" sz="2000">
                <a:highlight>
                  <a:srgbClr val="00FFFF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2000" err="1">
                <a:highlight>
                  <a:srgbClr val="00FFFF"/>
                </a:highlight>
                <a:latin typeface="Consolas" panose="020B0609020204030204" pitchFamily="49" charset="0"/>
              </a:rPr>
              <a:t>fptr</a:t>
            </a:r>
            <a:r>
              <a:rPr lang="en-US" altLang="zh-TW" sz="2000">
                <a:highlight>
                  <a:srgbClr val="00FFFF"/>
                </a:highlight>
                <a:latin typeface="Consolas" panose="020B0609020204030204" pitchFamily="49" charset="0"/>
              </a:rPr>
              <a:t>)</a:t>
            </a:r>
            <a:r>
              <a:rPr lang="en-US" altLang="zh-TW" sz="2000" b="0">
                <a:highlight>
                  <a:srgbClr val="00FFFF"/>
                </a:highlight>
                <a:latin typeface="Consolas" panose="020B0609020204030204" pitchFamily="49" charset="0"/>
              </a:rPr>
              <a:t>;</a:t>
            </a:r>
            <a:r>
              <a:rPr lang="en-US" altLang="zh-TW" sz="2000" b="0">
                <a:latin typeface="Consolas" panose="020B0609020204030204" pitchFamily="49" charset="0"/>
              </a:rPr>
              <a:t>  </a:t>
            </a:r>
            <a:r>
              <a:rPr lang="en-US" altLang="zh-TW" sz="2000" b="0">
                <a:solidFill>
                  <a:srgbClr val="008000"/>
                </a:solidFill>
                <a:latin typeface="Consolas" panose="020B0609020204030204" pitchFamily="49" charset="0"/>
              </a:rPr>
              <a:t>// close file</a:t>
            </a:r>
            <a:endParaRPr lang="en-US" altLang="zh-TW" sz="2000" b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0000FF"/>
                </a:solidFill>
                <a:latin typeface="Consolas" panose="020B0609020204030204" pitchFamily="49" charset="0"/>
              </a:rPr>
              <a:t>    return</a:t>
            </a:r>
            <a:r>
              <a:rPr kumimoji="0" lang="en-US" altLang="zh-TW" sz="2000" b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kumimoji="0" lang="en-US" altLang="zh-TW" sz="2000" b="0">
                <a:solidFill>
                  <a:srgbClr val="0099FF"/>
                </a:solidFill>
                <a:latin typeface="Consolas" panose="020B0609020204030204" pitchFamily="49" charset="0"/>
              </a:rPr>
              <a:t>0</a:t>
            </a:r>
            <a:r>
              <a:rPr kumimoji="0" lang="en-US" altLang="zh-TW" sz="2000" b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08547" name="Rectangle 3"/>
          <p:cNvSpPr>
            <a:spLocks noChangeArrowheads="1"/>
          </p:cNvSpPr>
          <p:nvPr/>
        </p:nvSpPr>
        <p:spPr bwMode="auto">
          <a:xfrm>
            <a:off x="4763" y="990600"/>
            <a:ext cx="461962" cy="53213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Ins="0"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2</a:t>
            </a:r>
            <a:endParaRPr kumimoji="0" lang="en-US" altLang="zh-TW" sz="2000" b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3</a:t>
            </a:r>
            <a:endParaRPr kumimoji="0" lang="en-US" altLang="zh-TW" sz="2000" b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4</a:t>
            </a:r>
            <a:endParaRPr kumimoji="0" lang="en-US" altLang="zh-TW" sz="2000" b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12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13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1415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70338" y="76200"/>
            <a:ext cx="8921262" cy="838200"/>
          </a:xfrm>
        </p:spPr>
        <p:txBody>
          <a:bodyPr>
            <a:normAutofit/>
          </a:bodyPr>
          <a:lstStyle/>
          <a:p>
            <a:r>
              <a:rPr lang="en-US" altLang="zh-TW"/>
              <a:t>Example #1: Reading data from a file</a:t>
            </a:r>
            <a:endParaRPr lang="en-US" altLang="zh-TW" sz="3000"/>
          </a:p>
        </p:txBody>
      </p:sp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3581662" y="4953000"/>
            <a:ext cx="5409938" cy="1227931"/>
          </a:xfrm>
          <a:prstGeom prst="rect">
            <a:avLst/>
          </a:prstGeom>
          <a:solidFill>
            <a:srgbClr val="CCFFCC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50000"/>
              </a:spcBef>
            </a:pPr>
            <a:r>
              <a:rPr lang="en-US" altLang="zh-TW" sz="2400"/>
              <a:t>Tell the system to release the resources associated with the file. e.g., free up memory space.</a:t>
            </a:r>
          </a:p>
        </p:txBody>
      </p:sp>
    </p:spTree>
    <p:extLst>
      <p:ext uri="{BB962C8B-B14F-4D97-AF65-F5344CB8AC3E}">
        <p14:creationId xmlns:p14="http://schemas.microsoft.com/office/powerpoint/2010/main" val="56994282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524000" y="3352800"/>
            <a:ext cx="1949580" cy="39089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DDE72-8E1C-48AE-AAB0-105C85EE517D}" type="slidenum">
              <a:rPr lang="zh-TW" altLang="en-US"/>
              <a:pPr/>
              <a:t>11</a:t>
            </a:fld>
            <a:endParaRPr lang="en-US" altLang="zh-TW"/>
          </a:p>
        </p:txBody>
      </p:sp>
      <p:sp>
        <p:nvSpPr>
          <p:cNvPr id="108546" name="Rectangle 2"/>
          <p:cNvSpPr>
            <a:spLocks noChangeArrowheads="1"/>
          </p:cNvSpPr>
          <p:nvPr/>
        </p:nvSpPr>
        <p:spPr bwMode="auto">
          <a:xfrm>
            <a:off x="466725" y="990600"/>
            <a:ext cx="8677275" cy="53213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latin typeface="Consolas" panose="020B0609020204030204" pitchFamily="49" charset="0"/>
              </a:rPr>
              <a:t>#include &lt;</a:t>
            </a:r>
            <a:r>
              <a:rPr kumimoji="0" lang="en-US" altLang="zh-TW" sz="2000" b="0" err="1">
                <a:latin typeface="Consolas" panose="020B0609020204030204" pitchFamily="49" charset="0"/>
              </a:rPr>
              <a:t>stdio.h</a:t>
            </a:r>
            <a:r>
              <a:rPr kumimoji="0" lang="en-US" altLang="zh-TW" sz="2000" b="0">
                <a:latin typeface="Consolas" panose="020B0609020204030204" pitchFamily="49" charset="0"/>
              </a:rPr>
              <a:t>&gt;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000000"/>
                </a:solidFill>
                <a:latin typeface="Consolas" panose="020B0609020204030204" pitchFamily="49" charset="0"/>
              </a:rPr>
              <a:t>#include &lt;</a:t>
            </a:r>
            <a:r>
              <a:rPr kumimoji="0" lang="en-US" altLang="zh-TW" sz="2000" b="0" err="1">
                <a:solidFill>
                  <a:srgbClr val="000000"/>
                </a:solidFill>
                <a:latin typeface="Consolas" panose="020B0609020204030204" pitchFamily="49" charset="0"/>
              </a:rPr>
              <a:t>stdlib.h</a:t>
            </a:r>
            <a:r>
              <a:rPr kumimoji="0" lang="en-US" altLang="zh-TW" sz="2000" b="0">
                <a:solidFill>
                  <a:srgbClr val="000000"/>
                </a:solidFill>
                <a:latin typeface="Consolas" panose="020B0609020204030204" pitchFamily="49" charset="0"/>
              </a:rPr>
              <a:t>&gt;     </a:t>
            </a:r>
            <a:r>
              <a:rPr lang="en-US" altLang="zh-TW" sz="2000" b="0">
                <a:solidFill>
                  <a:srgbClr val="008000"/>
                </a:solidFill>
                <a:latin typeface="Consolas" panose="020B0609020204030204" pitchFamily="49" charset="0"/>
              </a:rPr>
              <a:t>// Need this in order to use exit()</a:t>
            </a:r>
          </a:p>
          <a:p>
            <a:pPr eaLnBrk="1" hangingPunct="1">
              <a:lnSpc>
                <a:spcPct val="110000"/>
              </a:lnSpc>
            </a:pPr>
            <a:endParaRPr kumimoji="0" lang="en-US" altLang="zh-TW" sz="2000" b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kumimoji="0" lang="en-US" altLang="zh-TW" sz="2000" b="0">
                <a:solidFill>
                  <a:srgbClr val="000000"/>
                </a:solidFill>
                <a:latin typeface="Consolas" panose="020B0609020204030204" pitchFamily="49" charset="0"/>
              </a:rPr>
              <a:t> main(void) {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0000FF"/>
                </a:solidFill>
                <a:latin typeface="Consolas" panose="020B0609020204030204" pitchFamily="49" charset="0"/>
              </a:rPr>
              <a:t>    </a:t>
            </a:r>
            <a:r>
              <a:rPr lang="en-US" altLang="zh-TW" sz="2000" b="0">
                <a:latin typeface="Consolas" panose="020B0609020204030204" pitchFamily="49" charset="0"/>
              </a:rPr>
              <a:t>FILE *</a:t>
            </a:r>
            <a:r>
              <a:rPr lang="en-US" altLang="zh-TW" sz="2000" b="0" err="1">
                <a:latin typeface="Consolas" panose="020B0609020204030204" pitchFamily="49" charset="0"/>
              </a:rPr>
              <a:t>fptr</a:t>
            </a:r>
            <a:r>
              <a:rPr lang="en-US" altLang="zh-TW" sz="2000" b="0">
                <a:latin typeface="Consolas" panose="020B0609020204030204" pitchFamily="49" charset="0"/>
              </a:rPr>
              <a:t>;</a:t>
            </a:r>
            <a:endParaRPr kumimoji="0" lang="en-US" altLang="zh-TW" sz="2000" b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endParaRPr kumimoji="0" lang="en-US" altLang="zh-TW" sz="2000" b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latin typeface="Consolas" panose="020B0609020204030204" pitchFamily="49" charset="0"/>
              </a:rPr>
              <a:t>    </a:t>
            </a:r>
            <a:r>
              <a:rPr lang="en-US" altLang="zh-TW" sz="2000" b="0" err="1">
                <a:latin typeface="Consolas" panose="020B0609020204030204" pitchFamily="49" charset="0"/>
              </a:rPr>
              <a:t>fptr</a:t>
            </a:r>
            <a:r>
              <a:rPr lang="en-US" altLang="zh-TW" sz="2000" b="0">
                <a:latin typeface="Consolas" panose="020B0609020204030204" pitchFamily="49" charset="0"/>
              </a:rPr>
              <a:t> = </a:t>
            </a:r>
            <a:r>
              <a:rPr lang="en-US" altLang="zh-TW" sz="2000" b="0" err="1">
                <a:latin typeface="Consolas" panose="020B0609020204030204" pitchFamily="49" charset="0"/>
              </a:rPr>
              <a:t>fopen</a:t>
            </a:r>
            <a:r>
              <a:rPr lang="en-US" altLang="zh-TW" sz="2000" b="0">
                <a:latin typeface="Consolas" panose="020B0609020204030204" pitchFamily="49" charset="0"/>
              </a:rPr>
              <a:t>(</a:t>
            </a:r>
            <a:r>
              <a:rPr lang="en-US" altLang="zh-TW" sz="2000" b="0">
                <a:solidFill>
                  <a:srgbClr val="0099FF"/>
                </a:solidFill>
                <a:latin typeface="Consolas" panose="020B0609020204030204" pitchFamily="49" charset="0"/>
              </a:rPr>
              <a:t>"data.txt"</a:t>
            </a:r>
            <a:r>
              <a:rPr lang="en-US" altLang="zh-TW" sz="2000" b="0">
                <a:latin typeface="Consolas" panose="020B0609020204030204" pitchFamily="49" charset="0"/>
              </a:rPr>
              <a:t>, </a:t>
            </a:r>
            <a:r>
              <a:rPr lang="en-US" altLang="zh-TW" sz="2000" b="0">
                <a:solidFill>
                  <a:srgbClr val="0099FF"/>
                </a:solidFill>
                <a:latin typeface="Consolas" panose="020B0609020204030204" pitchFamily="49" charset="0"/>
              </a:rPr>
              <a:t>"r"</a:t>
            </a:r>
            <a:r>
              <a:rPr lang="en-US" altLang="zh-TW" sz="2000" b="0">
                <a:latin typeface="Consolas" panose="020B0609020204030204" pitchFamily="49" charset="0"/>
              </a:rPr>
              <a:t>);  </a:t>
            </a:r>
            <a:r>
              <a:rPr lang="en-US" altLang="zh-TW" sz="2000" b="0">
                <a:solidFill>
                  <a:srgbClr val="008000"/>
                </a:solidFill>
                <a:latin typeface="Consolas" panose="020B0609020204030204" pitchFamily="49" charset="0"/>
              </a:rPr>
              <a:t>// open file for reading</a:t>
            </a:r>
            <a:endParaRPr lang="en-US" altLang="zh-TW" sz="2000" b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latin typeface="Consolas" panose="020B0609020204030204" pitchFamily="49" charset="0"/>
              </a:rPr>
              <a:t>    </a:t>
            </a:r>
            <a:r>
              <a:rPr lang="en-US" altLang="zh-TW" sz="2000" b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kumimoji="0" lang="en-US" altLang="zh-TW" sz="2000" b="0">
                <a:latin typeface="Consolas" panose="020B0609020204030204" pitchFamily="49" charset="0"/>
              </a:rPr>
              <a:t> (</a:t>
            </a:r>
            <a:r>
              <a:rPr kumimoji="0" lang="en-US" altLang="zh-TW" sz="2000" b="0" err="1">
                <a:highlight>
                  <a:srgbClr val="00FF00"/>
                </a:highlight>
                <a:latin typeface="Consolas" panose="020B0609020204030204" pitchFamily="49" charset="0"/>
              </a:rPr>
              <a:t>fptr</a:t>
            </a:r>
            <a:r>
              <a:rPr kumimoji="0" lang="en-US" altLang="zh-TW" sz="2000" b="0">
                <a:highlight>
                  <a:srgbClr val="00FF00"/>
                </a:highlight>
                <a:latin typeface="Consolas" panose="020B0609020204030204" pitchFamily="49" charset="0"/>
              </a:rPr>
              <a:t> == NULL</a:t>
            </a:r>
            <a:r>
              <a:rPr kumimoji="0" lang="en-US" altLang="zh-TW" sz="2000" b="0">
                <a:latin typeface="Consolas" panose="020B0609020204030204" pitchFamily="49" charset="0"/>
              </a:rPr>
              <a:t>) {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latin typeface="Consolas" panose="020B0609020204030204" pitchFamily="49" charset="0"/>
              </a:rPr>
              <a:t>        </a:t>
            </a:r>
            <a:r>
              <a:rPr lang="en-US" altLang="zh-TW" sz="2000" b="0" err="1">
                <a:latin typeface="Consolas" panose="020B0609020204030204" pitchFamily="49" charset="0"/>
              </a:rPr>
              <a:t>printf</a:t>
            </a:r>
            <a:r>
              <a:rPr lang="en-US" altLang="zh-TW" sz="2000" b="0">
                <a:latin typeface="Consolas" panose="020B0609020204030204" pitchFamily="49" charset="0"/>
              </a:rPr>
              <a:t>(</a:t>
            </a:r>
            <a:r>
              <a:rPr lang="en-US" altLang="zh-TW" sz="2000" b="0">
                <a:solidFill>
                  <a:srgbClr val="0099FF"/>
                </a:solidFill>
                <a:latin typeface="Consolas" panose="020B0609020204030204" pitchFamily="49" charset="0"/>
              </a:rPr>
              <a:t>"Cannot open file!\n"</a:t>
            </a:r>
            <a:r>
              <a:rPr lang="en-US" altLang="zh-TW" sz="2000" b="0">
                <a:latin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latin typeface="Consolas" panose="020B0609020204030204" pitchFamily="49" charset="0"/>
              </a:rPr>
              <a:t>        exit(</a:t>
            </a:r>
            <a:r>
              <a:rPr lang="en-US" altLang="zh-TW" sz="2000" b="0">
                <a:solidFill>
                  <a:srgbClr val="0099FF"/>
                </a:solidFill>
                <a:latin typeface="Consolas" panose="020B0609020204030204" pitchFamily="49" charset="0"/>
              </a:rPr>
              <a:t>1</a:t>
            </a:r>
            <a:r>
              <a:rPr lang="en-US" altLang="zh-TW" sz="2000" b="0">
                <a:latin typeface="Consolas" panose="020B0609020204030204" pitchFamily="49" charset="0"/>
              </a:rPr>
              <a:t>); </a:t>
            </a:r>
            <a:r>
              <a:rPr lang="en-US" altLang="zh-TW" sz="2000" b="0">
                <a:solidFill>
                  <a:srgbClr val="008000"/>
                </a:solidFill>
                <a:latin typeface="Consolas" panose="020B0609020204030204" pitchFamily="49" charset="0"/>
              </a:rPr>
              <a:t>// Terminate the program immediately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latin typeface="Consolas" panose="020B0609020204030204" pitchFamily="49" charset="0"/>
              </a:rPr>
              <a:t>    }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008000"/>
                </a:solidFill>
                <a:latin typeface="Consolas" panose="020B0609020204030204" pitchFamily="49" charset="0"/>
              </a:rPr>
              <a:t>    …</a:t>
            </a:r>
            <a:r>
              <a:rPr lang="en-US" altLang="zh-TW" sz="2000" b="0">
                <a:latin typeface="Consolas" panose="020B0609020204030204" pitchFamily="49" charset="0"/>
              </a:rPr>
              <a:t>   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latin typeface="Consolas" panose="020B0609020204030204" pitchFamily="49" charset="0"/>
              </a:rPr>
              <a:t>    </a:t>
            </a:r>
            <a:r>
              <a:rPr lang="en-US" altLang="zh-TW" sz="2000" b="0" err="1">
                <a:latin typeface="Consolas" panose="020B0609020204030204" pitchFamily="49" charset="0"/>
              </a:rPr>
              <a:t>fclose</a:t>
            </a:r>
            <a:r>
              <a:rPr lang="en-US" altLang="zh-TW" sz="2000" b="0">
                <a:latin typeface="Consolas" panose="020B0609020204030204" pitchFamily="49" charset="0"/>
              </a:rPr>
              <a:t>(</a:t>
            </a:r>
            <a:r>
              <a:rPr lang="en-US" altLang="zh-TW" sz="2000" b="0" err="1">
                <a:latin typeface="Consolas" panose="020B0609020204030204" pitchFamily="49" charset="0"/>
              </a:rPr>
              <a:t>fptr</a:t>
            </a:r>
            <a:r>
              <a:rPr lang="en-US" altLang="zh-TW" sz="2000" b="0">
                <a:latin typeface="Consolas" panose="020B0609020204030204" pitchFamily="49" charset="0"/>
              </a:rPr>
              <a:t>);  </a:t>
            </a:r>
            <a:r>
              <a:rPr lang="en-US" altLang="zh-TW" sz="2000" b="0">
                <a:solidFill>
                  <a:srgbClr val="008000"/>
                </a:solidFill>
                <a:latin typeface="Consolas" panose="020B0609020204030204" pitchFamily="49" charset="0"/>
              </a:rPr>
              <a:t>// close file</a:t>
            </a:r>
            <a:endParaRPr lang="en-US" altLang="zh-TW" sz="2000" b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0000FF"/>
                </a:solidFill>
                <a:latin typeface="Consolas" panose="020B0609020204030204" pitchFamily="49" charset="0"/>
              </a:rPr>
              <a:t>    return</a:t>
            </a:r>
            <a:r>
              <a:rPr kumimoji="0" lang="en-US" altLang="zh-TW" sz="2000" b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kumimoji="0" lang="en-US" altLang="zh-TW" sz="2000" b="0">
                <a:solidFill>
                  <a:srgbClr val="0099FF"/>
                </a:solidFill>
                <a:latin typeface="Consolas" panose="020B0609020204030204" pitchFamily="49" charset="0"/>
              </a:rPr>
              <a:t>0</a:t>
            </a:r>
            <a:r>
              <a:rPr kumimoji="0" lang="en-US" altLang="zh-TW" sz="2000" b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08547" name="Rectangle 3"/>
          <p:cNvSpPr>
            <a:spLocks noChangeArrowheads="1"/>
          </p:cNvSpPr>
          <p:nvPr/>
        </p:nvSpPr>
        <p:spPr bwMode="auto">
          <a:xfrm>
            <a:off x="4763" y="990600"/>
            <a:ext cx="461962" cy="53213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Ins="0"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2</a:t>
            </a:r>
            <a:endParaRPr kumimoji="0" lang="en-US" altLang="zh-TW" sz="2000" b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3</a:t>
            </a:r>
            <a:endParaRPr kumimoji="0" lang="en-US" altLang="zh-TW" sz="2000" b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4</a:t>
            </a:r>
            <a:endParaRPr kumimoji="0" lang="en-US" altLang="zh-TW" sz="2000" b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12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13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1415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70338" y="76200"/>
            <a:ext cx="8921262" cy="838200"/>
          </a:xfrm>
        </p:spPr>
        <p:txBody>
          <a:bodyPr>
            <a:noAutofit/>
          </a:bodyPr>
          <a:lstStyle/>
          <a:p>
            <a:r>
              <a:rPr lang="en-US" altLang="zh-TW" sz="3200" b="1"/>
              <a:t>Example #2: Checking if a file is opened successfully</a:t>
            </a:r>
            <a:endParaRPr lang="en-US" altLang="zh-TW" sz="2000" b="1"/>
          </a:p>
        </p:txBody>
      </p:sp>
      <p:sp>
        <p:nvSpPr>
          <p:cNvPr id="11" name="Rectangle 3"/>
          <p:cNvSpPr>
            <a:spLocks noChangeArrowheads="1"/>
          </p:cNvSpPr>
          <p:nvPr/>
        </p:nvSpPr>
        <p:spPr bwMode="auto">
          <a:xfrm>
            <a:off x="3962400" y="1776548"/>
            <a:ext cx="5054602" cy="1219200"/>
          </a:xfrm>
          <a:prstGeom prst="rect">
            <a:avLst/>
          </a:prstGeom>
          <a:solidFill>
            <a:srgbClr val="CCFFCC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50000"/>
              </a:spcBef>
            </a:pPr>
            <a:r>
              <a:rPr lang="en-US" altLang="zh-TW" sz="2400"/>
              <a:t>When </a:t>
            </a:r>
            <a:r>
              <a:rPr lang="en-US" altLang="zh-TW" sz="2400" err="1"/>
              <a:t>fopen</a:t>
            </a:r>
            <a:r>
              <a:rPr lang="en-US" altLang="zh-TW" sz="2400"/>
              <a:t>() fails to open a file, it returns NULL (a predefined named constant).</a:t>
            </a:r>
            <a:endParaRPr lang="en-US" altLang="zh-TW" sz="24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422277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1600200" y="4038600"/>
            <a:ext cx="1066800" cy="39089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DDE72-8E1C-48AE-AAB0-105C85EE517D}" type="slidenum">
              <a:rPr lang="zh-TW" altLang="en-US"/>
              <a:pPr/>
              <a:t>12</a:t>
            </a:fld>
            <a:endParaRPr lang="en-US" altLang="zh-TW"/>
          </a:p>
        </p:txBody>
      </p:sp>
      <p:sp>
        <p:nvSpPr>
          <p:cNvPr id="108546" name="Rectangle 2"/>
          <p:cNvSpPr>
            <a:spLocks noChangeArrowheads="1"/>
          </p:cNvSpPr>
          <p:nvPr/>
        </p:nvSpPr>
        <p:spPr bwMode="auto">
          <a:xfrm>
            <a:off x="466725" y="990600"/>
            <a:ext cx="8677275" cy="53213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latin typeface="Consolas" panose="020B0609020204030204" pitchFamily="49" charset="0"/>
              </a:rPr>
              <a:t>#include &lt;</a:t>
            </a:r>
            <a:r>
              <a:rPr kumimoji="0" lang="en-US" altLang="zh-TW" sz="2000" b="0" err="1">
                <a:latin typeface="Consolas" panose="020B0609020204030204" pitchFamily="49" charset="0"/>
              </a:rPr>
              <a:t>stdio.h</a:t>
            </a:r>
            <a:r>
              <a:rPr kumimoji="0" lang="en-US" altLang="zh-TW" sz="2000" b="0">
                <a:latin typeface="Consolas" panose="020B0609020204030204" pitchFamily="49" charset="0"/>
              </a:rPr>
              <a:t>&gt;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000000"/>
                </a:solidFill>
                <a:latin typeface="Consolas" panose="020B0609020204030204" pitchFamily="49" charset="0"/>
              </a:rPr>
              <a:t>#include &lt;</a:t>
            </a:r>
            <a:r>
              <a:rPr kumimoji="0" lang="en-US" altLang="zh-TW" sz="2000" b="0" err="1">
                <a:solidFill>
                  <a:srgbClr val="000000"/>
                </a:solidFill>
                <a:latin typeface="Consolas" panose="020B0609020204030204" pitchFamily="49" charset="0"/>
              </a:rPr>
              <a:t>stdlib.h</a:t>
            </a:r>
            <a:r>
              <a:rPr kumimoji="0" lang="en-US" altLang="zh-TW" sz="2000" b="0">
                <a:solidFill>
                  <a:srgbClr val="000000"/>
                </a:solidFill>
                <a:latin typeface="Consolas" panose="020B0609020204030204" pitchFamily="49" charset="0"/>
              </a:rPr>
              <a:t>&gt;     </a:t>
            </a:r>
            <a:r>
              <a:rPr lang="en-US" altLang="zh-TW" sz="2000" b="0">
                <a:solidFill>
                  <a:srgbClr val="008000"/>
                </a:solidFill>
                <a:latin typeface="Consolas" panose="020B0609020204030204" pitchFamily="49" charset="0"/>
              </a:rPr>
              <a:t>// Need this in order to use exit()</a:t>
            </a:r>
          </a:p>
          <a:p>
            <a:pPr eaLnBrk="1" hangingPunct="1">
              <a:lnSpc>
                <a:spcPct val="110000"/>
              </a:lnSpc>
            </a:pPr>
            <a:endParaRPr kumimoji="0" lang="en-US" altLang="zh-TW" sz="2000" b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kumimoji="0" lang="en-US" altLang="zh-TW" sz="2000" b="0">
                <a:solidFill>
                  <a:srgbClr val="000000"/>
                </a:solidFill>
                <a:latin typeface="Consolas" panose="020B0609020204030204" pitchFamily="49" charset="0"/>
              </a:rPr>
              <a:t> main(void) {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0000FF"/>
                </a:solidFill>
                <a:latin typeface="Consolas" panose="020B0609020204030204" pitchFamily="49" charset="0"/>
              </a:rPr>
              <a:t>    </a:t>
            </a:r>
            <a:r>
              <a:rPr lang="en-US" altLang="zh-TW" sz="2000" b="0">
                <a:latin typeface="Consolas" panose="020B0609020204030204" pitchFamily="49" charset="0"/>
              </a:rPr>
              <a:t>FILE *</a:t>
            </a:r>
            <a:r>
              <a:rPr lang="en-US" altLang="zh-TW" sz="2000" b="0" err="1">
                <a:latin typeface="Consolas" panose="020B0609020204030204" pitchFamily="49" charset="0"/>
              </a:rPr>
              <a:t>fptr</a:t>
            </a:r>
            <a:r>
              <a:rPr lang="en-US" altLang="zh-TW" sz="2000" b="0">
                <a:latin typeface="Consolas" panose="020B0609020204030204" pitchFamily="49" charset="0"/>
              </a:rPr>
              <a:t>;</a:t>
            </a:r>
            <a:endParaRPr kumimoji="0" lang="en-US" altLang="zh-TW" sz="2000" b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endParaRPr kumimoji="0" lang="en-US" altLang="zh-TW" sz="2000" b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latin typeface="Consolas" panose="020B0609020204030204" pitchFamily="49" charset="0"/>
              </a:rPr>
              <a:t>    </a:t>
            </a:r>
            <a:r>
              <a:rPr lang="en-US" altLang="zh-TW" sz="2000" b="0" err="1">
                <a:latin typeface="Consolas" panose="020B0609020204030204" pitchFamily="49" charset="0"/>
              </a:rPr>
              <a:t>fptr</a:t>
            </a:r>
            <a:r>
              <a:rPr lang="en-US" altLang="zh-TW" sz="2000" b="0">
                <a:latin typeface="Consolas" panose="020B0609020204030204" pitchFamily="49" charset="0"/>
              </a:rPr>
              <a:t> = </a:t>
            </a:r>
            <a:r>
              <a:rPr lang="en-US" altLang="zh-TW" sz="2000" b="0" err="1">
                <a:latin typeface="Consolas" panose="020B0609020204030204" pitchFamily="49" charset="0"/>
              </a:rPr>
              <a:t>fopen</a:t>
            </a:r>
            <a:r>
              <a:rPr lang="en-US" altLang="zh-TW" sz="2000" b="0">
                <a:latin typeface="Consolas" panose="020B0609020204030204" pitchFamily="49" charset="0"/>
              </a:rPr>
              <a:t>(</a:t>
            </a:r>
            <a:r>
              <a:rPr lang="en-US" altLang="zh-TW" sz="2000" b="0">
                <a:solidFill>
                  <a:srgbClr val="0099FF"/>
                </a:solidFill>
                <a:latin typeface="Consolas" panose="020B0609020204030204" pitchFamily="49" charset="0"/>
              </a:rPr>
              <a:t>"data.txt"</a:t>
            </a:r>
            <a:r>
              <a:rPr lang="en-US" altLang="zh-TW" sz="2000" b="0">
                <a:latin typeface="Consolas" panose="020B0609020204030204" pitchFamily="49" charset="0"/>
              </a:rPr>
              <a:t>, </a:t>
            </a:r>
            <a:r>
              <a:rPr lang="en-US" altLang="zh-TW" sz="2000" b="0">
                <a:solidFill>
                  <a:srgbClr val="0099FF"/>
                </a:solidFill>
                <a:latin typeface="Consolas" panose="020B0609020204030204" pitchFamily="49" charset="0"/>
              </a:rPr>
              <a:t>"r"</a:t>
            </a:r>
            <a:r>
              <a:rPr lang="en-US" altLang="zh-TW" sz="2000" b="0">
                <a:latin typeface="Consolas" panose="020B0609020204030204" pitchFamily="49" charset="0"/>
              </a:rPr>
              <a:t>);  </a:t>
            </a:r>
            <a:r>
              <a:rPr lang="en-US" altLang="zh-TW" sz="2000" b="0">
                <a:solidFill>
                  <a:srgbClr val="008000"/>
                </a:solidFill>
                <a:latin typeface="Consolas" panose="020B0609020204030204" pitchFamily="49" charset="0"/>
              </a:rPr>
              <a:t>// open file for reading</a:t>
            </a:r>
            <a:endParaRPr lang="en-US" altLang="zh-TW" sz="2000" b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latin typeface="Consolas" panose="020B0609020204030204" pitchFamily="49" charset="0"/>
              </a:rPr>
              <a:t>    if (</a:t>
            </a:r>
            <a:r>
              <a:rPr kumimoji="0" lang="en-US" altLang="zh-TW" sz="2000" b="0" err="1">
                <a:latin typeface="Consolas" panose="020B0609020204030204" pitchFamily="49" charset="0"/>
              </a:rPr>
              <a:t>fptr</a:t>
            </a:r>
            <a:r>
              <a:rPr kumimoji="0" lang="en-US" altLang="zh-TW" sz="2000" b="0">
                <a:latin typeface="Consolas" panose="020B0609020204030204" pitchFamily="49" charset="0"/>
              </a:rPr>
              <a:t> == NULL) {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latin typeface="Consolas" panose="020B0609020204030204" pitchFamily="49" charset="0"/>
              </a:rPr>
              <a:t>        </a:t>
            </a:r>
            <a:r>
              <a:rPr lang="en-US" altLang="zh-TW" sz="2000" b="0" err="1">
                <a:latin typeface="Consolas" panose="020B0609020204030204" pitchFamily="49" charset="0"/>
              </a:rPr>
              <a:t>printf</a:t>
            </a:r>
            <a:r>
              <a:rPr lang="en-US" altLang="zh-TW" sz="2000" b="0">
                <a:latin typeface="Consolas" panose="020B0609020204030204" pitchFamily="49" charset="0"/>
              </a:rPr>
              <a:t>(</a:t>
            </a:r>
            <a:r>
              <a:rPr lang="en-US" altLang="zh-TW" sz="2000" b="0">
                <a:solidFill>
                  <a:srgbClr val="0099FF"/>
                </a:solidFill>
                <a:latin typeface="Consolas" panose="020B0609020204030204" pitchFamily="49" charset="0"/>
              </a:rPr>
              <a:t>"Cannot open file!\n"</a:t>
            </a:r>
            <a:r>
              <a:rPr lang="en-US" altLang="zh-TW" sz="2000" b="0">
                <a:latin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latin typeface="Consolas" panose="020B0609020204030204" pitchFamily="49" charset="0"/>
              </a:rPr>
              <a:t>        </a:t>
            </a:r>
            <a:r>
              <a:rPr lang="en-US" altLang="zh-TW" sz="2000">
                <a:highlight>
                  <a:srgbClr val="00FF00"/>
                </a:highlight>
                <a:latin typeface="Consolas" panose="020B0609020204030204" pitchFamily="49" charset="0"/>
              </a:rPr>
              <a:t>exit(</a:t>
            </a:r>
            <a:r>
              <a:rPr lang="en-US" altLang="zh-TW" sz="2000">
                <a:solidFill>
                  <a:srgbClr val="0099FF"/>
                </a:solidFill>
                <a:highlight>
                  <a:srgbClr val="00FF00"/>
                </a:highlight>
                <a:latin typeface="Consolas" panose="020B0609020204030204" pitchFamily="49" charset="0"/>
              </a:rPr>
              <a:t>1</a:t>
            </a:r>
            <a:r>
              <a:rPr lang="en-US" altLang="zh-TW" sz="2000">
                <a:highlight>
                  <a:srgbClr val="00FF00"/>
                </a:highlight>
                <a:latin typeface="Consolas" panose="020B0609020204030204" pitchFamily="49" charset="0"/>
              </a:rPr>
              <a:t>)</a:t>
            </a:r>
            <a:r>
              <a:rPr lang="en-US" altLang="zh-TW" sz="2000" b="0">
                <a:highlight>
                  <a:srgbClr val="00FF00"/>
                </a:highlight>
                <a:latin typeface="Consolas" panose="020B0609020204030204" pitchFamily="49" charset="0"/>
              </a:rPr>
              <a:t>;</a:t>
            </a:r>
            <a:r>
              <a:rPr lang="en-US" altLang="zh-TW" sz="2000" b="0">
                <a:latin typeface="Consolas" panose="020B0609020204030204" pitchFamily="49" charset="0"/>
              </a:rPr>
              <a:t> </a:t>
            </a:r>
            <a:r>
              <a:rPr lang="en-US" altLang="zh-TW" sz="2000" b="0">
                <a:solidFill>
                  <a:srgbClr val="008000"/>
                </a:solidFill>
                <a:latin typeface="Consolas" panose="020B0609020204030204" pitchFamily="49" charset="0"/>
              </a:rPr>
              <a:t>// Terminate the program immediately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latin typeface="Consolas" panose="020B0609020204030204" pitchFamily="49" charset="0"/>
              </a:rPr>
              <a:t>    }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008000"/>
                </a:solidFill>
                <a:latin typeface="Consolas" panose="020B0609020204030204" pitchFamily="49" charset="0"/>
              </a:rPr>
              <a:t>    …</a:t>
            </a:r>
            <a:r>
              <a:rPr lang="en-US" altLang="zh-TW" sz="2000" b="0">
                <a:latin typeface="Consolas" panose="020B0609020204030204" pitchFamily="49" charset="0"/>
              </a:rPr>
              <a:t>   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latin typeface="Consolas" panose="020B0609020204030204" pitchFamily="49" charset="0"/>
              </a:rPr>
              <a:t>    </a:t>
            </a:r>
            <a:r>
              <a:rPr lang="en-US" altLang="zh-TW" sz="2000" b="0" err="1">
                <a:latin typeface="Consolas" panose="020B0609020204030204" pitchFamily="49" charset="0"/>
              </a:rPr>
              <a:t>fclose</a:t>
            </a:r>
            <a:r>
              <a:rPr lang="en-US" altLang="zh-TW" sz="2000" b="0">
                <a:latin typeface="Consolas" panose="020B0609020204030204" pitchFamily="49" charset="0"/>
              </a:rPr>
              <a:t>(</a:t>
            </a:r>
            <a:r>
              <a:rPr lang="en-US" altLang="zh-TW" sz="2000" b="0" err="1">
                <a:latin typeface="Consolas" panose="020B0609020204030204" pitchFamily="49" charset="0"/>
              </a:rPr>
              <a:t>fptr</a:t>
            </a:r>
            <a:r>
              <a:rPr lang="en-US" altLang="zh-TW" sz="2000" b="0">
                <a:latin typeface="Consolas" panose="020B0609020204030204" pitchFamily="49" charset="0"/>
              </a:rPr>
              <a:t>);  </a:t>
            </a:r>
            <a:r>
              <a:rPr lang="en-US" altLang="zh-TW" sz="2000" b="0">
                <a:solidFill>
                  <a:srgbClr val="008000"/>
                </a:solidFill>
                <a:latin typeface="Consolas" panose="020B0609020204030204" pitchFamily="49" charset="0"/>
              </a:rPr>
              <a:t>// close file</a:t>
            </a:r>
            <a:endParaRPr lang="en-US" altLang="zh-TW" sz="2000" b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0000FF"/>
                </a:solidFill>
                <a:latin typeface="Consolas" panose="020B0609020204030204" pitchFamily="49" charset="0"/>
              </a:rPr>
              <a:t>    return</a:t>
            </a:r>
            <a:r>
              <a:rPr kumimoji="0" lang="en-US" altLang="zh-TW" sz="2000" b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kumimoji="0" lang="en-US" altLang="zh-TW" sz="2000" b="0">
                <a:solidFill>
                  <a:srgbClr val="0099FF"/>
                </a:solidFill>
                <a:latin typeface="Consolas" panose="020B0609020204030204" pitchFamily="49" charset="0"/>
              </a:rPr>
              <a:t>0</a:t>
            </a:r>
            <a:r>
              <a:rPr kumimoji="0" lang="en-US" altLang="zh-TW" sz="2000" b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08547" name="Rectangle 3"/>
          <p:cNvSpPr>
            <a:spLocks noChangeArrowheads="1"/>
          </p:cNvSpPr>
          <p:nvPr/>
        </p:nvSpPr>
        <p:spPr bwMode="auto">
          <a:xfrm>
            <a:off x="4763" y="990600"/>
            <a:ext cx="461962" cy="53213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Ins="0"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2</a:t>
            </a:r>
            <a:endParaRPr kumimoji="0" lang="en-US" altLang="zh-TW" sz="2000" b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3</a:t>
            </a:r>
            <a:endParaRPr kumimoji="0" lang="en-US" altLang="zh-TW" sz="2000" b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4</a:t>
            </a:r>
            <a:endParaRPr kumimoji="0" lang="en-US" altLang="zh-TW" sz="2000" b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12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13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1415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70338" y="76200"/>
            <a:ext cx="8921262" cy="838200"/>
          </a:xfrm>
        </p:spPr>
        <p:txBody>
          <a:bodyPr>
            <a:noAutofit/>
          </a:bodyPr>
          <a:lstStyle/>
          <a:p>
            <a:r>
              <a:rPr lang="en-US" altLang="zh-TW" sz="3200"/>
              <a:t>Example #2: Checking if a file is opened successfully</a:t>
            </a:r>
            <a:endParaRPr lang="en-US" altLang="zh-TW" sz="2000"/>
          </a:p>
        </p:txBody>
      </p:sp>
      <p:sp>
        <p:nvSpPr>
          <p:cNvPr id="11" name="Rectangle 3"/>
          <p:cNvSpPr>
            <a:spLocks noChangeArrowheads="1"/>
          </p:cNvSpPr>
          <p:nvPr/>
        </p:nvSpPr>
        <p:spPr bwMode="auto">
          <a:xfrm>
            <a:off x="2971800" y="4495800"/>
            <a:ext cx="5943600" cy="1676400"/>
          </a:xfrm>
          <a:prstGeom prst="rect">
            <a:avLst/>
          </a:prstGeom>
          <a:solidFill>
            <a:srgbClr val="CCFFCC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50000"/>
              </a:spcBef>
            </a:pPr>
            <a:r>
              <a:rPr lang="en-US" altLang="zh-TW" sz="2000"/>
              <a:t>The argument passed to </a:t>
            </a:r>
            <a:r>
              <a:rPr lang="en-US" altLang="zh-TW" sz="2000">
                <a:latin typeface="Consolas" panose="020B0609020204030204" pitchFamily="49" charset="0"/>
                <a:cs typeface="Consolas" panose="020B0609020204030204" pitchFamily="49" charset="0"/>
              </a:rPr>
              <a:t>exit()</a:t>
            </a:r>
            <a:r>
              <a:rPr lang="en-US" altLang="zh-TW" sz="2000"/>
              <a:t> will be returned to the system. The value has the same meaning as the returned value of </a:t>
            </a:r>
            <a:r>
              <a:rPr lang="en-US" altLang="zh-TW" sz="2000">
                <a:latin typeface="Consolas" panose="020B0609020204030204" pitchFamily="49" charset="0"/>
                <a:cs typeface="Consolas" panose="020B0609020204030204" pitchFamily="49" charset="0"/>
              </a:rPr>
              <a:t>main()</a:t>
            </a:r>
            <a:r>
              <a:rPr lang="en-US" altLang="zh-TW" sz="2000"/>
              <a:t>. Typically, a zero means the program terminates normally and a non-zero value means the program terminates abnormally.</a:t>
            </a:r>
            <a:endParaRPr lang="en-US" altLang="zh-TW" sz="20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3082833" y="1985556"/>
            <a:ext cx="5816602" cy="1371600"/>
          </a:xfrm>
          <a:prstGeom prst="rect">
            <a:avLst/>
          </a:prstGeom>
          <a:solidFill>
            <a:srgbClr val="CCFFCC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50000"/>
              </a:spcBef>
            </a:pPr>
            <a:r>
              <a:rPr lang="en-US" altLang="zh-TW" sz="2000"/>
              <a:t>Usually, when a program cannot open a file, there is not much we can do subsequently. A common practice is to output an error message and terminate the program using </a:t>
            </a:r>
            <a:r>
              <a:rPr lang="en-US" altLang="zh-TW" sz="2000">
                <a:latin typeface="Consolas" panose="020B0609020204030204" pitchFamily="49" charset="0"/>
                <a:cs typeface="Consolas" panose="020B0609020204030204" pitchFamily="49" charset="0"/>
              </a:rPr>
              <a:t>exit()</a:t>
            </a:r>
            <a:r>
              <a:rPr lang="en-US" altLang="zh-TW" sz="2000"/>
              <a:t>.</a:t>
            </a:r>
            <a:endParaRPr lang="en-US" altLang="zh-TW" sz="20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758308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338" y="76200"/>
            <a:ext cx="8921262" cy="838200"/>
          </a:xfrm>
        </p:spPr>
        <p:txBody>
          <a:bodyPr/>
          <a:lstStyle/>
          <a:p>
            <a:r>
              <a:rPr lang="en-US" b="1" err="1">
                <a:latin typeface="Consolas" panose="020B0609020204030204" pitchFamily="49" charset="0"/>
                <a:cs typeface="Consolas" panose="020B0609020204030204" pitchFamily="49" charset="0"/>
              </a:rPr>
              <a:t>fscanf</a:t>
            </a:r>
            <a:r>
              <a:rPr lang="en-US" b="1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endParaRPr 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338" y="1981200"/>
            <a:ext cx="8932985" cy="4191000"/>
          </a:xfrm>
        </p:spPr>
        <p:txBody>
          <a:bodyPr>
            <a:normAutofit lnSpcReduction="10000"/>
          </a:bodyPr>
          <a:lstStyle/>
          <a:p>
            <a:r>
              <a:rPr lang="en-US" sz="2800"/>
              <a:t>Similar to </a:t>
            </a:r>
            <a:r>
              <a:rPr lang="en-US" sz="2800" err="1">
                <a:latin typeface="Consolas" panose="020B0609020204030204" pitchFamily="49" charset="0"/>
                <a:cs typeface="Consolas" panose="020B0609020204030204" pitchFamily="49" charset="0"/>
              </a:rPr>
              <a:t>scanf</a:t>
            </a:r>
            <a:r>
              <a:rPr lang="en-US" sz="280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en-US" sz="2800"/>
              <a:t>, except that the data comes from the stream </a:t>
            </a:r>
            <a:r>
              <a:rPr lang="en-US" sz="2800" err="1">
                <a:solidFill>
                  <a:srgbClr val="0070C0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fp</a:t>
            </a:r>
            <a:r>
              <a:rPr lang="en-US" sz="2800"/>
              <a:t> (instead of console input).</a:t>
            </a:r>
          </a:p>
          <a:p>
            <a:endParaRPr lang="en-US" sz="2800"/>
          </a:p>
          <a:p>
            <a:r>
              <a:rPr lang="en-US" sz="2800"/>
              <a:t>On success, the </a:t>
            </a:r>
            <a:r>
              <a:rPr lang="en-US" sz="2800" u="sng"/>
              <a:t>function returns the number of items of the argument list successfully filled</a:t>
            </a:r>
            <a:r>
              <a:rPr lang="en-US" sz="2800"/>
              <a:t>. </a:t>
            </a:r>
          </a:p>
          <a:p>
            <a:endParaRPr lang="en-US" sz="2800"/>
          </a:p>
          <a:p>
            <a:r>
              <a:rPr lang="en-US" sz="2800"/>
              <a:t>If no value could be read due to either a file error or when end-of-file is reached, the function returns the named constant </a:t>
            </a:r>
            <a:r>
              <a:rPr lang="en-US" sz="280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EOF</a:t>
            </a:r>
            <a:r>
              <a:rPr lang="en-US" sz="2800"/>
              <a:t> (a negative value defined in </a:t>
            </a:r>
            <a:r>
              <a:rPr lang="en-US" sz="2800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stdio.h</a:t>
            </a:r>
            <a:r>
              <a:rPr lang="en-US" sz="2800"/>
              <a:t>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53237" y="1143000"/>
            <a:ext cx="883836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400" b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 </a:t>
            </a:r>
            <a:r>
              <a:rPr lang="en-US" altLang="zh-TW" sz="2400" b="1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fscanf</a:t>
            </a:r>
            <a:r>
              <a:rPr lang="en-US" altLang="zh-TW" sz="2400" b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altLang="zh-TW" sz="2400" b="1">
                <a:solidFill>
                  <a:srgbClr val="0070C0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FILE *</a:t>
            </a:r>
            <a:r>
              <a:rPr lang="en-US" altLang="zh-TW" sz="2400" b="1" err="1">
                <a:solidFill>
                  <a:srgbClr val="0070C0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fp</a:t>
            </a:r>
            <a:r>
              <a:rPr lang="en-US" altLang="zh-TW" sz="2400" b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char *format, arg1, ...);</a:t>
            </a:r>
          </a:p>
        </p:txBody>
      </p:sp>
    </p:spTree>
    <p:extLst>
      <p:ext uri="{BB962C8B-B14F-4D97-AF65-F5344CB8AC3E}">
        <p14:creationId xmlns:p14="http://schemas.microsoft.com/office/powerpoint/2010/main" val="3458066092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338" y="76200"/>
            <a:ext cx="8921262" cy="838200"/>
          </a:xfrm>
        </p:spPr>
        <p:txBody>
          <a:bodyPr>
            <a:normAutofit/>
          </a:bodyPr>
          <a:lstStyle/>
          <a:p>
            <a:r>
              <a:rPr lang="en-US" altLang="zh-TW" sz="3600" b="1"/>
              <a:t>Example #3: Reading all integers from a file</a:t>
            </a:r>
            <a:endParaRPr lang="en-US" sz="3600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338" y="3352800"/>
            <a:ext cx="8932985" cy="2819400"/>
          </a:xfrm>
        </p:spPr>
        <p:txBody>
          <a:bodyPr>
            <a:normAutofit/>
          </a:bodyPr>
          <a:lstStyle/>
          <a:p>
            <a:r>
              <a:rPr lang="en-US" sz="2800" b="1"/>
              <a:t>Objective</a:t>
            </a:r>
            <a:r>
              <a:rPr lang="en-US" sz="2800"/>
              <a:t>: To read the data from a file in the above format. i.e., each line contains an integer.</a:t>
            </a:r>
          </a:p>
          <a:p>
            <a:endParaRPr lang="en-US" sz="2800"/>
          </a:p>
          <a:p>
            <a:r>
              <a:rPr lang="en-US" sz="2800"/>
              <a:t>Suppose the file is named "data.txt" and its format is valid.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463040" y="1066800"/>
            <a:ext cx="6248400" cy="198120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>
            <a:lvl1pPr eaLnBrk="0" hangingPunct="0"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eaLnBrk="0" hangingPunct="0"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eaLnBrk="0" hangingPunct="0"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eaLnBrk="0" hangingPunct="0"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eaLnBrk="0" hangingPunct="0"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kumimoji="0" lang="en-US" altLang="en-US" sz="2000" b="0">
                <a:latin typeface="Consolas" panose="020B0609020204030204" pitchFamily="49" charset="0"/>
              </a:rPr>
              <a:t>123</a:t>
            </a:r>
          </a:p>
          <a:p>
            <a:pPr eaLnBrk="1" hangingPunct="1"/>
            <a:r>
              <a:rPr lang="en-US" altLang="en-US" sz="2000" b="0">
                <a:latin typeface="Consolas" panose="020B0609020204030204" pitchFamily="49" charset="0"/>
              </a:rPr>
              <a:t>456</a:t>
            </a:r>
          </a:p>
          <a:p>
            <a:pPr eaLnBrk="1" hangingPunct="1"/>
            <a:r>
              <a:rPr kumimoji="0" lang="en-US" altLang="en-US" sz="2000" b="0">
                <a:latin typeface="Consolas" panose="020B0609020204030204" pitchFamily="49" charset="0"/>
              </a:rPr>
              <a:t>333</a:t>
            </a:r>
          </a:p>
          <a:p>
            <a:pPr eaLnBrk="1" hangingPunct="1"/>
            <a:r>
              <a:rPr lang="en-US" altLang="en-US" sz="2000" b="0">
                <a:latin typeface="Consolas" panose="020B0609020204030204" pitchFamily="49" charset="0"/>
              </a:rPr>
              <a:t>666</a:t>
            </a:r>
          </a:p>
          <a:p>
            <a:pPr eaLnBrk="1" hangingPunct="1"/>
            <a:r>
              <a:rPr kumimoji="0" lang="en-US" altLang="en-US" sz="2000" b="0">
                <a:latin typeface="Consolas" panose="020B0609020204030204" pitchFamily="49" charset="0"/>
              </a:rPr>
              <a:t>999</a:t>
            </a:r>
          </a:p>
          <a:p>
            <a:pPr eaLnBrk="1" hangingPunct="1"/>
            <a:r>
              <a:rPr lang="en-US" altLang="en-US" sz="2000" b="0">
                <a:latin typeface="Consolas" panose="020B0609020204030204" pitchFamily="49" charset="0"/>
              </a:rPr>
              <a:t>…</a:t>
            </a:r>
            <a:endParaRPr kumimoji="0" lang="en-US" altLang="en-US" sz="2000" b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8062854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209800" y="3308480"/>
            <a:ext cx="3276600" cy="39089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DDE72-8E1C-48AE-AAB0-105C85EE517D}" type="slidenum">
              <a:rPr lang="zh-TW" altLang="en-US"/>
              <a:pPr/>
              <a:t>15</a:t>
            </a:fld>
            <a:endParaRPr lang="en-US" altLang="zh-TW"/>
          </a:p>
        </p:txBody>
      </p:sp>
      <p:sp>
        <p:nvSpPr>
          <p:cNvPr id="108546" name="Rectangle 2"/>
          <p:cNvSpPr>
            <a:spLocks noChangeArrowheads="1"/>
          </p:cNvSpPr>
          <p:nvPr/>
        </p:nvSpPr>
        <p:spPr bwMode="auto">
          <a:xfrm>
            <a:off x="466725" y="990600"/>
            <a:ext cx="8677275" cy="53213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kumimoji="0" lang="en-US" altLang="zh-TW" sz="2000" b="0">
                <a:solidFill>
                  <a:srgbClr val="000000"/>
                </a:solidFill>
                <a:latin typeface="Consolas" panose="020B0609020204030204" pitchFamily="49" charset="0"/>
              </a:rPr>
              <a:t> main(</a:t>
            </a:r>
            <a:r>
              <a:rPr lang="en-US" altLang="zh-TW" sz="2000" b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kumimoji="0" lang="en-US" altLang="zh-TW" sz="2000" b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0000FF"/>
                </a:solidFill>
                <a:latin typeface="Consolas" panose="020B0609020204030204" pitchFamily="49" charset="0"/>
              </a:rPr>
              <a:t>    </a:t>
            </a:r>
            <a:r>
              <a:rPr lang="en-US" altLang="zh-TW" sz="2000" b="0">
                <a:latin typeface="Consolas" panose="020B0609020204030204" pitchFamily="49" charset="0"/>
              </a:rPr>
              <a:t>FILE *</a:t>
            </a:r>
            <a:r>
              <a:rPr lang="en-US" altLang="zh-TW" sz="2000" b="0" err="1">
                <a:latin typeface="Consolas" panose="020B0609020204030204" pitchFamily="49" charset="0"/>
              </a:rPr>
              <a:t>fptr</a:t>
            </a:r>
            <a:r>
              <a:rPr lang="en-US" altLang="zh-TW" sz="2000" b="0">
                <a:latin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0000FF"/>
                </a:solidFill>
                <a:latin typeface="Consolas" panose="020B0609020204030204" pitchFamily="49" charset="0"/>
              </a:rPr>
              <a:t>    int </a:t>
            </a:r>
            <a:r>
              <a:rPr lang="en-US" altLang="zh-TW" sz="2000" b="0">
                <a:latin typeface="Consolas" panose="020B0609020204030204" pitchFamily="49" charset="0"/>
              </a:rPr>
              <a:t>num;</a:t>
            </a:r>
          </a:p>
          <a:p>
            <a:pPr eaLnBrk="1" hangingPunct="1">
              <a:lnSpc>
                <a:spcPct val="110000"/>
              </a:lnSpc>
            </a:pPr>
            <a:endParaRPr kumimoji="0" lang="en-US" altLang="zh-TW" sz="2000" b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latin typeface="Consolas" panose="020B0609020204030204" pitchFamily="49" charset="0"/>
              </a:rPr>
              <a:t>    </a:t>
            </a:r>
            <a:r>
              <a:rPr lang="en-US" altLang="zh-TW" sz="2000" b="0" err="1">
                <a:latin typeface="Consolas" panose="020B0609020204030204" pitchFamily="49" charset="0"/>
              </a:rPr>
              <a:t>fptr</a:t>
            </a:r>
            <a:r>
              <a:rPr lang="en-US" altLang="zh-TW" sz="2000" b="0">
                <a:latin typeface="Consolas" panose="020B0609020204030204" pitchFamily="49" charset="0"/>
              </a:rPr>
              <a:t> = </a:t>
            </a:r>
            <a:r>
              <a:rPr lang="en-US" altLang="zh-TW" sz="2000" b="0" err="1">
                <a:latin typeface="Consolas" panose="020B0609020204030204" pitchFamily="49" charset="0"/>
              </a:rPr>
              <a:t>fopen</a:t>
            </a:r>
            <a:r>
              <a:rPr lang="en-US" altLang="zh-TW" sz="2000" b="0">
                <a:latin typeface="Consolas" panose="020B0609020204030204" pitchFamily="49" charset="0"/>
              </a:rPr>
              <a:t>(</a:t>
            </a:r>
            <a:r>
              <a:rPr lang="en-US" altLang="zh-TW" sz="2000" b="0">
                <a:solidFill>
                  <a:srgbClr val="0099FF"/>
                </a:solidFill>
                <a:latin typeface="Consolas" panose="020B0609020204030204" pitchFamily="49" charset="0"/>
              </a:rPr>
              <a:t>"data.txt"</a:t>
            </a:r>
            <a:r>
              <a:rPr lang="en-US" altLang="zh-TW" sz="2000" b="0">
                <a:latin typeface="Consolas" panose="020B0609020204030204" pitchFamily="49" charset="0"/>
              </a:rPr>
              <a:t>, </a:t>
            </a:r>
            <a:r>
              <a:rPr lang="en-US" altLang="zh-TW" sz="2000" b="0">
                <a:solidFill>
                  <a:srgbClr val="0099FF"/>
                </a:solidFill>
                <a:latin typeface="Consolas" panose="020B0609020204030204" pitchFamily="49" charset="0"/>
              </a:rPr>
              <a:t>"r"</a:t>
            </a:r>
            <a:r>
              <a:rPr lang="en-US" altLang="zh-TW" sz="2000" b="0">
                <a:latin typeface="Consolas" panose="020B0609020204030204" pitchFamily="49" charset="0"/>
              </a:rPr>
              <a:t>);  </a:t>
            </a:r>
            <a:r>
              <a:rPr lang="en-US" altLang="zh-TW" sz="2000" b="0">
                <a:solidFill>
                  <a:srgbClr val="008000"/>
                </a:solidFill>
                <a:latin typeface="Consolas" panose="020B0609020204030204" pitchFamily="49" charset="0"/>
              </a:rPr>
              <a:t>// open file for reading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008000"/>
                </a:solidFill>
                <a:latin typeface="Consolas" panose="020B0609020204030204" pitchFamily="49" charset="0"/>
              </a:rPr>
              <a:t>  </a:t>
            </a:r>
            <a:r>
              <a:rPr lang="en-US" altLang="zh-TW" sz="2000" b="0">
                <a:latin typeface="Consolas" panose="020B0609020204030204" pitchFamily="49" charset="0"/>
              </a:rPr>
              <a:t>  </a:t>
            </a:r>
            <a:r>
              <a:rPr lang="en-US" altLang="zh-TW" sz="2000" b="0">
                <a:solidFill>
                  <a:srgbClr val="0000FF"/>
                </a:solidFill>
                <a:latin typeface="Consolas" panose="020B0609020204030204" pitchFamily="49" charset="0"/>
              </a:rPr>
              <a:t>while</a:t>
            </a:r>
            <a:r>
              <a:rPr lang="en-US" altLang="zh-TW" sz="2000" b="0">
                <a:latin typeface="Consolas" panose="020B0609020204030204" pitchFamily="49" charset="0"/>
              </a:rPr>
              <a:t> (</a:t>
            </a:r>
            <a:r>
              <a:rPr lang="en-US" altLang="zh-TW" sz="2000" b="0">
                <a:solidFill>
                  <a:srgbClr val="0099FF"/>
                </a:solidFill>
                <a:latin typeface="Consolas" panose="020B0609020204030204" pitchFamily="49" charset="0"/>
              </a:rPr>
              <a:t>1</a:t>
            </a:r>
            <a:r>
              <a:rPr lang="en-US" altLang="zh-TW" sz="2000" b="0">
                <a:latin typeface="Consolas" panose="020B0609020204030204" pitchFamily="49" charset="0"/>
              </a:rPr>
              <a:t>) {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latin typeface="Consolas" panose="020B0609020204030204" pitchFamily="49" charset="0"/>
              </a:rPr>
              <a:t>        </a:t>
            </a:r>
            <a:r>
              <a:rPr lang="en-US" altLang="zh-TW" sz="2000" b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altLang="zh-TW" sz="2000" b="0">
                <a:latin typeface="Consolas" panose="020B0609020204030204" pitchFamily="49" charset="0"/>
              </a:rPr>
              <a:t> (</a:t>
            </a:r>
            <a:r>
              <a:rPr lang="en-US" altLang="zh-TW" sz="2000" b="0" err="1">
                <a:latin typeface="Consolas" panose="020B0609020204030204" pitchFamily="49" charset="0"/>
              </a:rPr>
              <a:t>fscanf</a:t>
            </a:r>
            <a:r>
              <a:rPr lang="en-US" altLang="zh-TW" sz="2000" b="0">
                <a:latin typeface="Consolas" panose="020B0609020204030204" pitchFamily="49" charset="0"/>
              </a:rPr>
              <a:t>(</a:t>
            </a:r>
            <a:r>
              <a:rPr lang="en-US" altLang="zh-TW" sz="2000" b="0" err="1">
                <a:latin typeface="Consolas" panose="020B0609020204030204" pitchFamily="49" charset="0"/>
              </a:rPr>
              <a:t>fptr</a:t>
            </a:r>
            <a:r>
              <a:rPr lang="en-US" altLang="zh-TW" sz="2000" b="0">
                <a:latin typeface="Consolas" panose="020B0609020204030204" pitchFamily="49" charset="0"/>
              </a:rPr>
              <a:t>, </a:t>
            </a:r>
            <a:r>
              <a:rPr lang="en-US" altLang="zh-TW" sz="2000" b="0">
                <a:solidFill>
                  <a:srgbClr val="0099FF"/>
                </a:solidFill>
                <a:latin typeface="Consolas" panose="020B0609020204030204" pitchFamily="49" charset="0"/>
              </a:rPr>
              <a:t>"%d"</a:t>
            </a:r>
            <a:r>
              <a:rPr lang="en-US" altLang="zh-TW" sz="2000" b="0">
                <a:latin typeface="Consolas" panose="020B0609020204030204" pitchFamily="49" charset="0"/>
              </a:rPr>
              <a:t>, &amp;num) != </a:t>
            </a:r>
            <a:r>
              <a:rPr lang="en-US" altLang="zh-TW" sz="2000" b="0">
                <a:solidFill>
                  <a:srgbClr val="0099FF"/>
                </a:solidFill>
                <a:latin typeface="Consolas" panose="020B0609020204030204" pitchFamily="49" charset="0"/>
              </a:rPr>
              <a:t>1</a:t>
            </a:r>
            <a:r>
              <a:rPr lang="en-US" altLang="zh-TW" sz="2000" b="0">
                <a:latin typeface="Consolas" panose="020B0609020204030204" pitchFamily="49" charset="0"/>
              </a:rPr>
              <a:t>)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latin typeface="Consolas" panose="020B0609020204030204" pitchFamily="49" charset="0"/>
              </a:rPr>
              <a:t>            </a:t>
            </a:r>
            <a:r>
              <a:rPr lang="en-US" altLang="zh-TW" sz="2000" b="0">
                <a:solidFill>
                  <a:srgbClr val="0000FF"/>
                </a:solidFill>
                <a:latin typeface="Consolas" panose="020B0609020204030204" pitchFamily="49" charset="0"/>
              </a:rPr>
              <a:t>break</a:t>
            </a:r>
            <a:r>
              <a:rPr lang="en-US" altLang="zh-TW" sz="2000" b="0">
                <a:latin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latin typeface="Consolas" panose="020B0609020204030204" pitchFamily="49" charset="0"/>
              </a:rPr>
              <a:t>        …  </a:t>
            </a:r>
            <a:r>
              <a:rPr lang="en-US" altLang="zh-TW" sz="2000" b="0">
                <a:solidFill>
                  <a:srgbClr val="008000"/>
                </a:solidFill>
                <a:latin typeface="Consolas" panose="020B0609020204030204" pitchFamily="49" charset="0"/>
              </a:rPr>
              <a:t>// Process num here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latin typeface="Consolas" panose="020B0609020204030204" pitchFamily="49" charset="0"/>
              </a:rPr>
              <a:t>    }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latin typeface="Consolas" panose="020B0609020204030204" pitchFamily="49" charset="0"/>
              </a:rPr>
              <a:t>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latin typeface="Consolas" panose="020B0609020204030204" pitchFamily="49" charset="0"/>
              </a:rPr>
              <a:t>    </a:t>
            </a:r>
            <a:r>
              <a:rPr lang="en-US" altLang="zh-TW" sz="2000" b="0" err="1">
                <a:latin typeface="Consolas" panose="020B0609020204030204" pitchFamily="49" charset="0"/>
              </a:rPr>
              <a:t>fclose</a:t>
            </a:r>
            <a:r>
              <a:rPr lang="en-US" altLang="zh-TW" sz="2000" b="0">
                <a:latin typeface="Consolas" panose="020B0609020204030204" pitchFamily="49" charset="0"/>
              </a:rPr>
              <a:t>(</a:t>
            </a:r>
            <a:r>
              <a:rPr lang="en-US" altLang="zh-TW" sz="2000" b="0" err="1">
                <a:latin typeface="Consolas" panose="020B0609020204030204" pitchFamily="49" charset="0"/>
              </a:rPr>
              <a:t>fptr</a:t>
            </a:r>
            <a:r>
              <a:rPr lang="en-US" altLang="zh-TW" sz="2000" b="0">
                <a:latin typeface="Consolas" panose="020B0609020204030204" pitchFamily="49" charset="0"/>
              </a:rPr>
              <a:t>);  </a:t>
            </a:r>
            <a:r>
              <a:rPr lang="en-US" altLang="zh-TW" sz="2000" b="0">
                <a:solidFill>
                  <a:srgbClr val="008000"/>
                </a:solidFill>
                <a:latin typeface="Consolas" panose="020B0609020204030204" pitchFamily="49" charset="0"/>
              </a:rPr>
              <a:t>// close file</a:t>
            </a:r>
            <a:endParaRPr lang="en-US" altLang="zh-TW" sz="2000" b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0000FF"/>
                </a:solidFill>
                <a:latin typeface="Consolas" panose="020B0609020204030204" pitchFamily="49" charset="0"/>
              </a:rPr>
              <a:t>    return</a:t>
            </a:r>
            <a:r>
              <a:rPr kumimoji="0" lang="en-US" altLang="zh-TW" sz="2000" b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kumimoji="0" lang="en-US" altLang="zh-TW" sz="2000" b="0">
                <a:solidFill>
                  <a:srgbClr val="0099FF"/>
                </a:solidFill>
                <a:latin typeface="Consolas" panose="020B0609020204030204" pitchFamily="49" charset="0"/>
              </a:rPr>
              <a:t>0</a:t>
            </a:r>
            <a:r>
              <a:rPr kumimoji="0" lang="en-US" altLang="zh-TW" sz="2000" b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08547" name="Rectangle 3"/>
          <p:cNvSpPr>
            <a:spLocks noChangeArrowheads="1"/>
          </p:cNvSpPr>
          <p:nvPr/>
        </p:nvSpPr>
        <p:spPr bwMode="auto">
          <a:xfrm>
            <a:off x="4763" y="990600"/>
            <a:ext cx="461962" cy="53213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Ins="0"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2</a:t>
            </a:r>
            <a:endParaRPr kumimoji="0" lang="en-US" altLang="zh-TW" sz="2000" b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3</a:t>
            </a:r>
            <a:endParaRPr kumimoji="0" lang="en-US" altLang="zh-TW" sz="2000" b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4</a:t>
            </a:r>
            <a:endParaRPr kumimoji="0" lang="en-US" altLang="zh-TW" sz="2000" b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12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13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1415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70338" y="76200"/>
            <a:ext cx="8921262" cy="838200"/>
          </a:xfrm>
        </p:spPr>
        <p:txBody>
          <a:bodyPr>
            <a:noAutofit/>
          </a:bodyPr>
          <a:lstStyle/>
          <a:p>
            <a:r>
              <a:rPr lang="en-US" altLang="zh-TW" sz="3600"/>
              <a:t>Example #3: Reading all integers from a file</a:t>
            </a:r>
            <a:endParaRPr lang="en-US" altLang="zh-TW" sz="2400"/>
          </a:p>
        </p:txBody>
      </p:sp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5125718" y="3739477"/>
            <a:ext cx="3865882" cy="1905000"/>
          </a:xfrm>
          <a:prstGeom prst="rect">
            <a:avLst/>
          </a:prstGeom>
          <a:solidFill>
            <a:srgbClr val="CCFFCC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50000"/>
              </a:spcBef>
            </a:pPr>
            <a:r>
              <a:rPr lang="en-US" altLang="zh-TW" sz="2400"/>
              <a:t>We expect </a:t>
            </a:r>
            <a:r>
              <a:rPr lang="en-US" altLang="zh-TW" sz="2400" err="1">
                <a:latin typeface="Consolas" panose="020B0609020204030204" pitchFamily="49" charset="0"/>
                <a:cs typeface="Consolas" panose="020B0609020204030204" pitchFamily="49" charset="0"/>
              </a:rPr>
              <a:t>fscanf</a:t>
            </a:r>
            <a:r>
              <a:rPr lang="en-US" altLang="zh-TW" sz="240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en-US" altLang="zh-TW" sz="2400"/>
              <a:t> to read one integer. If it cannot read any integer, that means we have read all the integers in the file.</a:t>
            </a:r>
          </a:p>
          <a:p>
            <a:pPr>
              <a:spcBef>
                <a:spcPct val="50000"/>
              </a:spcBef>
            </a:pPr>
            <a:endParaRPr lang="en-US" altLang="zh-TW" sz="24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936267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338" y="76200"/>
            <a:ext cx="8921262" cy="838200"/>
          </a:xfrm>
        </p:spPr>
        <p:txBody>
          <a:bodyPr>
            <a:normAutofit/>
          </a:bodyPr>
          <a:lstStyle/>
          <a:p>
            <a:r>
              <a:rPr lang="en-US" altLang="zh-TW" sz="3600" b="1"/>
              <a:t>Example #4: Reading all numbers from a file</a:t>
            </a:r>
            <a:endParaRPr lang="en-US" sz="3600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747" y="3200400"/>
            <a:ext cx="8932985" cy="3048000"/>
          </a:xfrm>
        </p:spPr>
        <p:txBody>
          <a:bodyPr>
            <a:normAutofit lnSpcReduction="10000"/>
          </a:bodyPr>
          <a:lstStyle/>
          <a:p>
            <a:r>
              <a:rPr lang="en-US" sz="2800" b="1"/>
              <a:t>Objective</a:t>
            </a:r>
            <a:r>
              <a:rPr lang="en-US" sz="2800"/>
              <a:t>: To read the data from a file in the above format. i.e., each line contains an integer and two floating point numbers that are separated by white space characters.</a:t>
            </a:r>
          </a:p>
          <a:p>
            <a:endParaRPr lang="en-US" sz="2800"/>
          </a:p>
          <a:p>
            <a:r>
              <a:rPr lang="en-US" sz="2800"/>
              <a:t>Suppose the file is named "data.txt" and its format is valid.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463040" y="1066800"/>
            <a:ext cx="6248400" cy="198120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>
            <a:lvl1pPr eaLnBrk="0" hangingPunct="0"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eaLnBrk="0" hangingPunct="0"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eaLnBrk="0" hangingPunct="0"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eaLnBrk="0" hangingPunct="0"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eaLnBrk="0" hangingPunct="0"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kumimoji="0" lang="en-US" altLang="en-US" sz="2000" b="0">
                <a:latin typeface="Consolas" panose="020B0609020204030204" pitchFamily="49" charset="0"/>
              </a:rPr>
              <a:t>123   1.0   2.0</a:t>
            </a:r>
          </a:p>
          <a:p>
            <a:pPr eaLnBrk="1" hangingPunct="1"/>
            <a:r>
              <a:rPr lang="en-US" altLang="en-US" sz="2000" b="0">
                <a:latin typeface="Consolas" panose="020B0609020204030204" pitchFamily="49" charset="0"/>
              </a:rPr>
              <a:t>456   3.5   4.4</a:t>
            </a:r>
          </a:p>
          <a:p>
            <a:pPr eaLnBrk="1" hangingPunct="1"/>
            <a:r>
              <a:rPr kumimoji="0" lang="en-US" altLang="en-US" sz="2000" b="0">
                <a:latin typeface="Consolas" panose="020B0609020204030204" pitchFamily="49" charset="0"/>
              </a:rPr>
              <a:t>333   2.6   7.8</a:t>
            </a:r>
          </a:p>
          <a:p>
            <a:pPr eaLnBrk="1" hangingPunct="1"/>
            <a:r>
              <a:rPr lang="en-US" altLang="en-US" sz="2000" b="0">
                <a:latin typeface="Consolas" panose="020B0609020204030204" pitchFamily="49" charset="0"/>
              </a:rPr>
              <a:t>666   7.7   3.32</a:t>
            </a:r>
          </a:p>
          <a:p>
            <a:pPr eaLnBrk="1" hangingPunct="1"/>
            <a:r>
              <a:rPr kumimoji="0" lang="en-US" altLang="en-US" sz="2000" b="0">
                <a:latin typeface="Consolas" panose="020B0609020204030204" pitchFamily="49" charset="0"/>
              </a:rPr>
              <a:t>999   9.2   5.2</a:t>
            </a:r>
          </a:p>
          <a:p>
            <a:pPr eaLnBrk="1" hangingPunct="1"/>
            <a:r>
              <a:rPr lang="en-US" altLang="en-US" sz="2000" b="0">
                <a:latin typeface="Consolas" panose="020B0609020204030204" pitchFamily="49" charset="0"/>
              </a:rPr>
              <a:t>…</a:t>
            </a:r>
            <a:endParaRPr kumimoji="0" lang="en-US" altLang="en-US" sz="2000" b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168637"/>
      </p:ext>
    </p:extLst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905000" y="3703318"/>
            <a:ext cx="6228398" cy="39089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DDE72-8E1C-48AE-AAB0-105C85EE517D}" type="slidenum">
              <a:rPr lang="zh-TW" altLang="en-US"/>
              <a:pPr/>
              <a:t>17</a:t>
            </a:fld>
            <a:endParaRPr lang="en-US" altLang="zh-TW"/>
          </a:p>
        </p:txBody>
      </p:sp>
      <p:sp>
        <p:nvSpPr>
          <p:cNvPr id="108546" name="Rectangle 2"/>
          <p:cNvSpPr>
            <a:spLocks noChangeArrowheads="1"/>
          </p:cNvSpPr>
          <p:nvPr/>
        </p:nvSpPr>
        <p:spPr bwMode="auto">
          <a:xfrm>
            <a:off x="466725" y="990600"/>
            <a:ext cx="8677275" cy="53213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kumimoji="0" lang="en-US" altLang="zh-TW" sz="2000" b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kumimoji="0" lang="en-US" altLang="zh-TW" sz="2000" b="0">
                <a:solidFill>
                  <a:srgbClr val="000000"/>
                </a:solidFill>
                <a:latin typeface="Consolas" panose="020B0609020204030204" pitchFamily="49" charset="0"/>
              </a:rPr>
              <a:t> main(</a:t>
            </a:r>
            <a:r>
              <a:rPr lang="en-US" altLang="zh-TW" sz="2000" b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kumimoji="0" lang="en-US" altLang="zh-TW" sz="2000" b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0000FF"/>
                </a:solidFill>
                <a:latin typeface="Consolas" panose="020B0609020204030204" pitchFamily="49" charset="0"/>
              </a:rPr>
              <a:t>    </a:t>
            </a:r>
            <a:r>
              <a:rPr lang="en-US" altLang="zh-TW" sz="2000" b="0">
                <a:latin typeface="Consolas" panose="020B0609020204030204" pitchFamily="49" charset="0"/>
              </a:rPr>
              <a:t>FILE *</a:t>
            </a:r>
            <a:r>
              <a:rPr lang="en-US" altLang="zh-TW" sz="2000" b="0" err="1">
                <a:latin typeface="Consolas" panose="020B0609020204030204" pitchFamily="49" charset="0"/>
              </a:rPr>
              <a:t>fptr</a:t>
            </a:r>
            <a:r>
              <a:rPr lang="en-US" altLang="zh-TW" sz="2000" b="0">
                <a:latin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0000FF"/>
                </a:solidFill>
                <a:latin typeface="Consolas" panose="020B0609020204030204" pitchFamily="49" charset="0"/>
              </a:rPr>
              <a:t>    </a:t>
            </a:r>
            <a:r>
              <a:rPr kumimoji="0" lang="en-US" altLang="zh-TW" sz="2000" b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kumimoji="0" lang="en-US" altLang="zh-TW" sz="2000" b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2000" b="0">
                <a:latin typeface="Consolas" panose="020B0609020204030204" pitchFamily="49" charset="0"/>
              </a:rPr>
              <a:t>num1;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latin typeface="Consolas" panose="020B0609020204030204" pitchFamily="49" charset="0"/>
              </a:rPr>
              <a:t>    </a:t>
            </a:r>
            <a:r>
              <a:rPr lang="en-US" altLang="zh-TW" sz="2000" b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altLang="zh-TW" sz="2000" b="0">
                <a:latin typeface="Consolas" panose="020B0609020204030204" pitchFamily="49" charset="0"/>
              </a:rPr>
              <a:t> num2, num3;</a:t>
            </a:r>
          </a:p>
          <a:p>
            <a:pPr eaLnBrk="1" hangingPunct="1">
              <a:lnSpc>
                <a:spcPct val="110000"/>
              </a:lnSpc>
            </a:pPr>
            <a:endParaRPr kumimoji="0" lang="en-US" altLang="zh-TW" sz="2000" b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latin typeface="Consolas" panose="020B0609020204030204" pitchFamily="49" charset="0"/>
              </a:rPr>
              <a:t>    </a:t>
            </a:r>
            <a:r>
              <a:rPr lang="en-US" altLang="zh-TW" sz="2000" b="0" err="1">
                <a:latin typeface="Consolas" panose="020B0609020204030204" pitchFamily="49" charset="0"/>
              </a:rPr>
              <a:t>fptr</a:t>
            </a:r>
            <a:r>
              <a:rPr lang="en-US" altLang="zh-TW" sz="2000" b="0">
                <a:latin typeface="Consolas" panose="020B0609020204030204" pitchFamily="49" charset="0"/>
              </a:rPr>
              <a:t> = </a:t>
            </a:r>
            <a:r>
              <a:rPr lang="en-US" altLang="zh-TW" sz="2000" b="0" err="1">
                <a:latin typeface="Consolas" panose="020B0609020204030204" pitchFamily="49" charset="0"/>
              </a:rPr>
              <a:t>fopen</a:t>
            </a:r>
            <a:r>
              <a:rPr lang="en-US" altLang="zh-TW" sz="2000" b="0">
                <a:latin typeface="Consolas" panose="020B0609020204030204" pitchFamily="49" charset="0"/>
              </a:rPr>
              <a:t>(</a:t>
            </a:r>
            <a:r>
              <a:rPr lang="en-US" altLang="zh-TW" sz="2000" b="0">
                <a:solidFill>
                  <a:srgbClr val="0099FF"/>
                </a:solidFill>
                <a:latin typeface="Consolas" panose="020B0609020204030204" pitchFamily="49" charset="0"/>
              </a:rPr>
              <a:t>"data.txt"</a:t>
            </a:r>
            <a:r>
              <a:rPr lang="en-US" altLang="zh-TW" sz="2000" b="0">
                <a:latin typeface="Consolas" panose="020B0609020204030204" pitchFamily="49" charset="0"/>
              </a:rPr>
              <a:t>, </a:t>
            </a:r>
            <a:r>
              <a:rPr lang="en-US" altLang="zh-TW" sz="2000" b="0">
                <a:solidFill>
                  <a:srgbClr val="0099FF"/>
                </a:solidFill>
                <a:latin typeface="Consolas" panose="020B0609020204030204" pitchFamily="49" charset="0"/>
              </a:rPr>
              <a:t>"r"</a:t>
            </a:r>
            <a:r>
              <a:rPr lang="en-US" altLang="zh-TW" sz="2000" b="0">
                <a:latin typeface="Consolas" panose="020B0609020204030204" pitchFamily="49" charset="0"/>
              </a:rPr>
              <a:t>);  </a:t>
            </a:r>
            <a:r>
              <a:rPr lang="en-US" altLang="zh-TW" sz="2000" b="0">
                <a:solidFill>
                  <a:srgbClr val="008000"/>
                </a:solidFill>
                <a:latin typeface="Consolas" panose="020B0609020204030204" pitchFamily="49" charset="0"/>
              </a:rPr>
              <a:t>// open file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008000"/>
                </a:solidFill>
                <a:latin typeface="Consolas" panose="020B0609020204030204" pitchFamily="49" charset="0"/>
              </a:rPr>
              <a:t>  </a:t>
            </a:r>
            <a:r>
              <a:rPr lang="en-US" altLang="zh-TW" sz="2000" b="0">
                <a:latin typeface="Consolas" panose="020B0609020204030204" pitchFamily="49" charset="0"/>
              </a:rPr>
              <a:t>  </a:t>
            </a:r>
            <a:r>
              <a:rPr lang="en-US" altLang="zh-TW" sz="2000" b="0">
                <a:solidFill>
                  <a:srgbClr val="0000FF"/>
                </a:solidFill>
                <a:latin typeface="Consolas" panose="020B0609020204030204" pitchFamily="49" charset="0"/>
              </a:rPr>
              <a:t>while</a:t>
            </a:r>
            <a:r>
              <a:rPr lang="en-US" altLang="zh-TW" sz="2000" b="0">
                <a:latin typeface="Consolas" panose="020B0609020204030204" pitchFamily="49" charset="0"/>
              </a:rPr>
              <a:t> (</a:t>
            </a:r>
            <a:r>
              <a:rPr lang="en-US" altLang="zh-TW" sz="2000" b="0">
                <a:solidFill>
                  <a:srgbClr val="0099FF"/>
                </a:solidFill>
                <a:latin typeface="Consolas" panose="020B0609020204030204" pitchFamily="49" charset="0"/>
              </a:rPr>
              <a:t>1</a:t>
            </a:r>
            <a:r>
              <a:rPr lang="en-US" altLang="zh-TW" sz="2000" b="0">
                <a:latin typeface="Consolas" panose="020B0609020204030204" pitchFamily="49" charset="0"/>
              </a:rPr>
              <a:t>) {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latin typeface="Consolas" panose="020B0609020204030204" pitchFamily="49" charset="0"/>
              </a:rPr>
              <a:t>      </a:t>
            </a:r>
            <a:r>
              <a:rPr lang="en-US" altLang="zh-TW" sz="2000" b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altLang="zh-TW" sz="2000" b="0">
                <a:latin typeface="Consolas" panose="020B0609020204030204" pitchFamily="49" charset="0"/>
              </a:rPr>
              <a:t> (</a:t>
            </a:r>
            <a:r>
              <a:rPr lang="en-US" altLang="zh-TW" sz="2000" b="0" err="1">
                <a:latin typeface="Consolas" panose="020B0609020204030204" pitchFamily="49" charset="0"/>
              </a:rPr>
              <a:t>fscanf</a:t>
            </a:r>
            <a:r>
              <a:rPr lang="en-US" altLang="zh-TW" sz="2000" b="0">
                <a:latin typeface="Consolas" panose="020B0609020204030204" pitchFamily="49" charset="0"/>
              </a:rPr>
              <a:t>(</a:t>
            </a:r>
            <a:r>
              <a:rPr lang="en-US" altLang="zh-TW" sz="2000" b="0" err="1">
                <a:latin typeface="Consolas" panose="020B0609020204030204" pitchFamily="49" charset="0"/>
              </a:rPr>
              <a:t>fptr</a:t>
            </a:r>
            <a:r>
              <a:rPr lang="en-US" altLang="zh-TW" sz="2000" b="0">
                <a:latin typeface="Consolas" panose="020B0609020204030204" pitchFamily="49" charset="0"/>
              </a:rPr>
              <a:t>, </a:t>
            </a:r>
            <a:r>
              <a:rPr lang="en-US" altLang="zh-TW" sz="2000" b="0">
                <a:solidFill>
                  <a:srgbClr val="0099FF"/>
                </a:solidFill>
                <a:latin typeface="Consolas" panose="020B0609020204030204" pitchFamily="49" charset="0"/>
              </a:rPr>
              <a:t>"%</a:t>
            </a:r>
            <a:r>
              <a:rPr lang="en-US" altLang="zh-TW" sz="2000" b="0" err="1">
                <a:solidFill>
                  <a:srgbClr val="0099FF"/>
                </a:solidFill>
                <a:latin typeface="Consolas" panose="020B0609020204030204" pitchFamily="49" charset="0"/>
              </a:rPr>
              <a:t>d%lf%lf</a:t>
            </a:r>
            <a:r>
              <a:rPr lang="en-US" altLang="zh-TW" sz="2000" b="0">
                <a:solidFill>
                  <a:srgbClr val="0099FF"/>
                </a:solidFill>
                <a:latin typeface="Consolas" panose="020B0609020204030204" pitchFamily="49" charset="0"/>
              </a:rPr>
              <a:t>"</a:t>
            </a:r>
            <a:r>
              <a:rPr lang="en-US" altLang="zh-TW" sz="2000" b="0">
                <a:latin typeface="Consolas" panose="020B0609020204030204" pitchFamily="49" charset="0"/>
              </a:rPr>
              <a:t>, &amp;num1, &amp;num2, &amp;num3) != </a:t>
            </a:r>
            <a:r>
              <a:rPr lang="en-US" altLang="zh-TW" sz="2000" b="0">
                <a:solidFill>
                  <a:srgbClr val="0099FF"/>
                </a:solidFill>
                <a:latin typeface="Consolas" panose="020B0609020204030204" pitchFamily="49" charset="0"/>
              </a:rPr>
              <a:t>3</a:t>
            </a:r>
            <a:r>
              <a:rPr lang="en-US" altLang="zh-TW" sz="2000" b="0">
                <a:latin typeface="Consolas" panose="020B0609020204030204" pitchFamily="49" charset="0"/>
              </a:rPr>
              <a:t>)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latin typeface="Consolas" panose="020B0609020204030204" pitchFamily="49" charset="0"/>
              </a:rPr>
              <a:t>            </a:t>
            </a:r>
            <a:r>
              <a:rPr lang="en-US" altLang="zh-TW" sz="2000" b="0">
                <a:solidFill>
                  <a:srgbClr val="0000FF"/>
                </a:solidFill>
                <a:latin typeface="Consolas" panose="020B0609020204030204" pitchFamily="49" charset="0"/>
              </a:rPr>
              <a:t>break</a:t>
            </a:r>
            <a:r>
              <a:rPr lang="en-US" altLang="zh-TW" sz="2000" b="0">
                <a:latin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latin typeface="Consolas" panose="020B0609020204030204" pitchFamily="49" charset="0"/>
              </a:rPr>
              <a:t>        …  </a:t>
            </a:r>
            <a:r>
              <a:rPr lang="en-US" altLang="zh-TW" sz="2000" b="0">
                <a:solidFill>
                  <a:srgbClr val="008000"/>
                </a:solidFill>
                <a:latin typeface="Consolas" panose="020B0609020204030204" pitchFamily="49" charset="0"/>
              </a:rPr>
              <a:t>// Process num1, num2, num3 here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latin typeface="Consolas" panose="020B0609020204030204" pitchFamily="49" charset="0"/>
              </a:rPr>
              <a:t>    }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latin typeface="Consolas" panose="020B0609020204030204" pitchFamily="49" charset="0"/>
              </a:rPr>
              <a:t>    </a:t>
            </a:r>
            <a:r>
              <a:rPr lang="en-US" altLang="zh-TW" sz="2000" b="0" err="1">
                <a:latin typeface="Consolas" panose="020B0609020204030204" pitchFamily="49" charset="0"/>
              </a:rPr>
              <a:t>fclose</a:t>
            </a:r>
            <a:r>
              <a:rPr lang="en-US" altLang="zh-TW" sz="2000" b="0">
                <a:latin typeface="Consolas" panose="020B0609020204030204" pitchFamily="49" charset="0"/>
              </a:rPr>
              <a:t>(</a:t>
            </a:r>
            <a:r>
              <a:rPr lang="en-US" altLang="zh-TW" sz="2000" b="0" err="1">
                <a:latin typeface="Consolas" panose="020B0609020204030204" pitchFamily="49" charset="0"/>
              </a:rPr>
              <a:t>fptr</a:t>
            </a:r>
            <a:r>
              <a:rPr lang="en-US" altLang="zh-TW" sz="2000" b="0">
                <a:latin typeface="Consolas" panose="020B0609020204030204" pitchFamily="49" charset="0"/>
              </a:rPr>
              <a:t>);  </a:t>
            </a:r>
            <a:r>
              <a:rPr lang="en-US" altLang="zh-TW" sz="2000" b="0">
                <a:solidFill>
                  <a:srgbClr val="008000"/>
                </a:solidFill>
                <a:latin typeface="Consolas" panose="020B0609020204030204" pitchFamily="49" charset="0"/>
              </a:rPr>
              <a:t>// close file</a:t>
            </a:r>
            <a:endParaRPr lang="en-US" altLang="zh-TW" sz="2000" b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0000FF"/>
                </a:solidFill>
                <a:latin typeface="Consolas" panose="020B0609020204030204" pitchFamily="49" charset="0"/>
              </a:rPr>
              <a:t>    return</a:t>
            </a:r>
            <a:r>
              <a:rPr kumimoji="0" lang="en-US" altLang="zh-TW" sz="2000" b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kumimoji="0" lang="en-US" altLang="zh-TW" sz="2000" b="0">
                <a:solidFill>
                  <a:srgbClr val="0099FF"/>
                </a:solidFill>
                <a:latin typeface="Consolas" panose="020B0609020204030204" pitchFamily="49" charset="0"/>
              </a:rPr>
              <a:t>0</a:t>
            </a:r>
            <a:r>
              <a:rPr kumimoji="0" lang="en-US" altLang="zh-TW" sz="2000" b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08547" name="Rectangle 3"/>
          <p:cNvSpPr>
            <a:spLocks noChangeArrowheads="1"/>
          </p:cNvSpPr>
          <p:nvPr/>
        </p:nvSpPr>
        <p:spPr bwMode="auto">
          <a:xfrm>
            <a:off x="4763" y="990600"/>
            <a:ext cx="461962" cy="53213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Ins="0"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2</a:t>
            </a:r>
            <a:endParaRPr kumimoji="0" lang="en-US" altLang="zh-TW" sz="2000" b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3</a:t>
            </a:r>
            <a:endParaRPr kumimoji="0" lang="en-US" altLang="zh-TW" sz="2000" b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4</a:t>
            </a:r>
            <a:endParaRPr kumimoji="0" lang="en-US" altLang="zh-TW" sz="2000" b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12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13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1415</a:t>
            </a: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70338" y="76200"/>
            <a:ext cx="8921262" cy="838200"/>
          </a:xfrm>
        </p:spPr>
        <p:txBody>
          <a:bodyPr>
            <a:noAutofit/>
          </a:bodyPr>
          <a:lstStyle/>
          <a:p>
            <a:r>
              <a:rPr lang="en-US" altLang="zh-TW" sz="3200"/>
              <a:t>Example #4: Reading all numbers from a file</a:t>
            </a:r>
            <a:endParaRPr lang="en-US" altLang="zh-TW" sz="2000"/>
          </a:p>
        </p:txBody>
      </p:sp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5211921" y="1601466"/>
            <a:ext cx="3779679" cy="2057400"/>
          </a:xfrm>
          <a:prstGeom prst="rect">
            <a:avLst/>
          </a:prstGeom>
          <a:solidFill>
            <a:srgbClr val="CCFFCC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50000"/>
              </a:spcBef>
            </a:pPr>
            <a:r>
              <a:rPr lang="en-US" altLang="zh-TW" sz="2400"/>
              <a:t>We expect </a:t>
            </a:r>
            <a:r>
              <a:rPr lang="en-US" altLang="zh-TW" sz="2400" err="1">
                <a:latin typeface="Consolas" panose="020B0609020204030204" pitchFamily="49" charset="0"/>
                <a:cs typeface="Consolas" panose="020B0609020204030204" pitchFamily="49" charset="0"/>
              </a:rPr>
              <a:t>fscanf</a:t>
            </a:r>
            <a:r>
              <a:rPr lang="en-US" altLang="zh-TW" sz="240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en-US" altLang="zh-TW" sz="2400"/>
              <a:t> to read three values. If it cannot read exactly three values, that means we have read all the data in the file.</a:t>
            </a:r>
            <a:endParaRPr lang="en-US" altLang="zh-TW" sz="240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447708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DDE72-8E1C-48AE-AAB0-105C85EE517D}" type="slidenum">
              <a:rPr lang="zh-TW" altLang="en-US"/>
              <a:pPr/>
              <a:t>18</a:t>
            </a:fld>
            <a:endParaRPr lang="en-US" altLang="zh-TW"/>
          </a:p>
        </p:txBody>
      </p:sp>
      <p:sp>
        <p:nvSpPr>
          <p:cNvPr id="108546" name="Rectangle 2"/>
          <p:cNvSpPr>
            <a:spLocks noChangeArrowheads="1"/>
          </p:cNvSpPr>
          <p:nvPr/>
        </p:nvSpPr>
        <p:spPr bwMode="auto">
          <a:xfrm>
            <a:off x="466725" y="990600"/>
            <a:ext cx="8677275" cy="54102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latin typeface="Consolas" panose="020B0609020204030204" pitchFamily="49" charset="0"/>
              </a:rPr>
              <a:t>#include &lt;</a:t>
            </a:r>
            <a:r>
              <a:rPr kumimoji="0" lang="en-US" altLang="zh-TW" sz="2000" b="0" err="1">
                <a:latin typeface="Consolas" panose="020B0609020204030204" pitchFamily="49" charset="0"/>
              </a:rPr>
              <a:t>stdio.h</a:t>
            </a:r>
            <a:r>
              <a:rPr kumimoji="0" lang="en-US" altLang="zh-TW" sz="2000" b="0">
                <a:latin typeface="Consolas" panose="020B0609020204030204" pitchFamily="49" charset="0"/>
              </a:rPr>
              <a:t>&gt;</a:t>
            </a:r>
          </a:p>
          <a:p>
            <a:pPr eaLnBrk="1" hangingPunct="1">
              <a:lnSpc>
                <a:spcPct val="110000"/>
              </a:lnSpc>
            </a:pPr>
            <a:endParaRPr kumimoji="0" lang="en-US" altLang="zh-TW" sz="2000" b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kumimoji="0" lang="en-US" altLang="zh-TW" sz="2000" b="0">
                <a:solidFill>
                  <a:srgbClr val="000000"/>
                </a:solidFill>
                <a:latin typeface="Consolas" panose="020B0609020204030204" pitchFamily="49" charset="0"/>
              </a:rPr>
              <a:t> main(</a:t>
            </a:r>
            <a:r>
              <a:rPr lang="en-US" altLang="zh-TW" sz="2000" b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kumimoji="0" lang="en-US" altLang="zh-TW" sz="2000" b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0000FF"/>
                </a:solidFill>
                <a:latin typeface="Consolas" panose="020B0609020204030204" pitchFamily="49" charset="0"/>
              </a:rPr>
              <a:t>    </a:t>
            </a:r>
            <a:r>
              <a:rPr lang="en-US" altLang="zh-TW" sz="2000" b="0">
                <a:latin typeface="Consolas" panose="020B0609020204030204" pitchFamily="49" charset="0"/>
              </a:rPr>
              <a:t>FILE *</a:t>
            </a:r>
            <a:r>
              <a:rPr lang="en-US" altLang="zh-TW" sz="2000" b="0" err="1">
                <a:latin typeface="Consolas" panose="020B0609020204030204" pitchFamily="49" charset="0"/>
              </a:rPr>
              <a:t>fptr</a:t>
            </a:r>
            <a:r>
              <a:rPr lang="en-US" altLang="zh-TW" sz="2000" b="0">
                <a:latin typeface="Consolas" panose="020B0609020204030204" pitchFamily="49" charset="0"/>
              </a:rPr>
              <a:t>;</a:t>
            </a:r>
            <a:endParaRPr kumimoji="0" lang="en-US" altLang="zh-TW" sz="2000" b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0000FF"/>
                </a:solidFill>
                <a:latin typeface="Consolas" panose="020B0609020204030204" pitchFamily="49" charset="0"/>
              </a:rPr>
              <a:t>    int</a:t>
            </a:r>
            <a:r>
              <a:rPr kumimoji="0" lang="en-US" altLang="zh-TW" sz="2000" b="0">
                <a:latin typeface="Consolas" panose="020B0609020204030204" pitchFamily="49" charset="0"/>
              </a:rPr>
              <a:t> </a:t>
            </a:r>
            <a:r>
              <a:rPr kumimoji="0" lang="en-US" altLang="zh-TW" sz="2000" b="0" err="1">
                <a:latin typeface="Consolas" panose="020B0609020204030204" pitchFamily="49" charset="0"/>
              </a:rPr>
              <a:t>i</a:t>
            </a:r>
            <a:r>
              <a:rPr lang="en-US" altLang="zh-TW" sz="2000" b="0">
                <a:latin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endParaRPr kumimoji="0" lang="en-US" altLang="zh-TW" sz="2000" b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latin typeface="Consolas" panose="020B0609020204030204" pitchFamily="49" charset="0"/>
              </a:rPr>
              <a:t>    </a:t>
            </a:r>
            <a:r>
              <a:rPr lang="en-US" altLang="zh-TW" sz="2000" b="0" err="1">
                <a:latin typeface="Consolas" panose="020B0609020204030204" pitchFamily="49" charset="0"/>
              </a:rPr>
              <a:t>fptr</a:t>
            </a:r>
            <a:r>
              <a:rPr lang="en-US" altLang="zh-TW" sz="2000" b="0">
                <a:latin typeface="Consolas" panose="020B0609020204030204" pitchFamily="49" charset="0"/>
              </a:rPr>
              <a:t> = </a:t>
            </a:r>
            <a:r>
              <a:rPr lang="en-US" altLang="zh-TW" sz="2000" b="0" err="1">
                <a:solidFill>
                  <a:srgbClr val="C00000"/>
                </a:solidFill>
                <a:latin typeface="Consolas" panose="020B0609020204030204" pitchFamily="49" charset="0"/>
              </a:rPr>
              <a:t>fopen</a:t>
            </a:r>
            <a:r>
              <a:rPr lang="en-US" altLang="zh-TW" sz="2000" b="0">
                <a:latin typeface="Consolas" panose="020B0609020204030204" pitchFamily="49" charset="0"/>
              </a:rPr>
              <a:t>(</a:t>
            </a:r>
            <a:r>
              <a:rPr lang="en-US" altLang="zh-TW" sz="2000" b="0">
                <a:solidFill>
                  <a:srgbClr val="0099FF"/>
                </a:solidFill>
                <a:latin typeface="Consolas" panose="020B0609020204030204" pitchFamily="49" charset="0"/>
              </a:rPr>
              <a:t>"data.txt"</a:t>
            </a:r>
            <a:r>
              <a:rPr lang="en-US" altLang="zh-TW" sz="2000" b="0">
                <a:latin typeface="Consolas" panose="020B0609020204030204" pitchFamily="49" charset="0"/>
              </a:rPr>
              <a:t>, </a:t>
            </a:r>
            <a:r>
              <a:rPr lang="en-US" altLang="zh-TW" sz="2000" b="0">
                <a:solidFill>
                  <a:srgbClr val="0099FF"/>
                </a:solidFill>
                <a:latin typeface="Consolas" panose="020B0609020204030204" pitchFamily="49" charset="0"/>
              </a:rPr>
              <a:t>"w"</a:t>
            </a:r>
            <a:r>
              <a:rPr lang="en-US" altLang="zh-TW" sz="2000" b="0">
                <a:latin typeface="Consolas" panose="020B0609020204030204" pitchFamily="49" charset="0"/>
              </a:rPr>
              <a:t>);</a:t>
            </a:r>
            <a:r>
              <a:rPr lang="en-US" altLang="zh-TW" sz="2000" b="0">
                <a:solidFill>
                  <a:srgbClr val="008000"/>
                </a:solidFill>
                <a:latin typeface="Consolas" panose="020B0609020204030204" pitchFamily="49" charset="0"/>
              </a:rPr>
              <a:t> // open file for writing</a:t>
            </a:r>
            <a:endParaRPr lang="en-US" altLang="zh-TW" sz="2000" b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endParaRPr kumimoji="0" lang="en-US" altLang="zh-TW" sz="2000" b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008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TW" sz="2000" b="0" err="1">
                <a:latin typeface="Consolas" panose="020B0609020204030204" pitchFamily="49" charset="0"/>
              </a:rPr>
              <a:t>fprintf</a:t>
            </a:r>
            <a:r>
              <a:rPr lang="en-US" altLang="zh-TW" sz="2000" b="0">
                <a:latin typeface="Consolas" panose="020B0609020204030204" pitchFamily="49" charset="0"/>
              </a:rPr>
              <a:t>(</a:t>
            </a:r>
            <a:r>
              <a:rPr lang="en-US" altLang="zh-TW" sz="2000" b="0" err="1">
                <a:latin typeface="Consolas" panose="020B0609020204030204" pitchFamily="49" charset="0"/>
              </a:rPr>
              <a:t>fptr</a:t>
            </a:r>
            <a:r>
              <a:rPr lang="en-US" altLang="zh-TW" sz="2000" b="0">
                <a:latin typeface="Consolas" panose="020B0609020204030204" pitchFamily="49" charset="0"/>
              </a:rPr>
              <a:t>, </a:t>
            </a:r>
            <a:r>
              <a:rPr lang="en-US" altLang="zh-TW" sz="2000" b="0">
                <a:solidFill>
                  <a:srgbClr val="0099FF"/>
                </a:solidFill>
                <a:latin typeface="Consolas" panose="020B0609020204030204" pitchFamily="49" charset="0"/>
              </a:rPr>
              <a:t>"Hello!\n"</a:t>
            </a:r>
            <a:r>
              <a:rPr lang="en-US" altLang="zh-TW" sz="2000" b="0">
                <a:latin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latin typeface="Consolas" panose="020B0609020204030204" pitchFamily="49" charset="0"/>
              </a:rPr>
              <a:t>    </a:t>
            </a:r>
            <a:r>
              <a:rPr lang="en-US" altLang="zh-TW" sz="2000" b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altLang="zh-TW" sz="2000" b="0">
                <a:latin typeface="Consolas" panose="020B0609020204030204" pitchFamily="49" charset="0"/>
              </a:rPr>
              <a:t> (</a:t>
            </a:r>
            <a:r>
              <a:rPr lang="en-US" altLang="zh-TW" sz="2000" b="0" err="1">
                <a:latin typeface="Consolas" panose="020B0609020204030204" pitchFamily="49" charset="0"/>
              </a:rPr>
              <a:t>i</a:t>
            </a:r>
            <a:r>
              <a:rPr lang="en-US" altLang="zh-TW" sz="2000" b="0">
                <a:latin typeface="Consolas" panose="020B0609020204030204" pitchFamily="49" charset="0"/>
              </a:rPr>
              <a:t> = </a:t>
            </a:r>
            <a:r>
              <a:rPr lang="en-US" altLang="zh-TW" sz="2000" b="0">
                <a:solidFill>
                  <a:srgbClr val="0099FF"/>
                </a:solidFill>
                <a:latin typeface="Consolas" panose="020B0609020204030204" pitchFamily="49" charset="0"/>
              </a:rPr>
              <a:t>0</a:t>
            </a:r>
            <a:r>
              <a:rPr lang="en-US" altLang="zh-TW" sz="2000" b="0">
                <a:latin typeface="Consolas" panose="020B0609020204030204" pitchFamily="49" charset="0"/>
              </a:rPr>
              <a:t>; </a:t>
            </a:r>
            <a:r>
              <a:rPr lang="en-US" altLang="zh-TW" sz="2000" b="0" err="1">
                <a:latin typeface="Consolas" panose="020B0609020204030204" pitchFamily="49" charset="0"/>
              </a:rPr>
              <a:t>i</a:t>
            </a:r>
            <a:r>
              <a:rPr lang="en-US" altLang="zh-TW" sz="2000" b="0">
                <a:latin typeface="Consolas" panose="020B0609020204030204" pitchFamily="49" charset="0"/>
              </a:rPr>
              <a:t> &lt; </a:t>
            </a:r>
            <a:r>
              <a:rPr lang="en-US" altLang="zh-TW" sz="2000" b="0">
                <a:solidFill>
                  <a:srgbClr val="0099FF"/>
                </a:solidFill>
                <a:latin typeface="Consolas" panose="020B0609020204030204" pitchFamily="49" charset="0"/>
              </a:rPr>
              <a:t>10</a:t>
            </a:r>
            <a:r>
              <a:rPr lang="en-US" altLang="zh-TW" sz="2000" b="0">
                <a:latin typeface="Consolas" panose="020B0609020204030204" pitchFamily="49" charset="0"/>
              </a:rPr>
              <a:t>; </a:t>
            </a:r>
            <a:r>
              <a:rPr lang="en-US" altLang="zh-TW" sz="2000" b="0" err="1">
                <a:latin typeface="Consolas" panose="020B0609020204030204" pitchFamily="49" charset="0"/>
              </a:rPr>
              <a:t>i</a:t>
            </a:r>
            <a:r>
              <a:rPr lang="en-US" altLang="zh-TW" sz="2000" b="0">
                <a:latin typeface="Consolas" panose="020B0609020204030204" pitchFamily="49" charset="0"/>
              </a:rPr>
              <a:t>++)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latin typeface="Consolas" panose="020B0609020204030204" pitchFamily="49" charset="0"/>
              </a:rPr>
              <a:t>        </a:t>
            </a:r>
            <a:r>
              <a:rPr lang="en-US" altLang="zh-TW" sz="2000" b="0" err="1">
                <a:latin typeface="Consolas" panose="020B0609020204030204" pitchFamily="49" charset="0"/>
              </a:rPr>
              <a:t>fprintf</a:t>
            </a:r>
            <a:r>
              <a:rPr lang="en-US" altLang="zh-TW" sz="2000" b="0">
                <a:latin typeface="Consolas" panose="020B0609020204030204" pitchFamily="49" charset="0"/>
              </a:rPr>
              <a:t>(</a:t>
            </a:r>
            <a:r>
              <a:rPr lang="en-US" altLang="zh-TW" sz="2000" b="0" err="1">
                <a:latin typeface="Consolas" panose="020B0609020204030204" pitchFamily="49" charset="0"/>
              </a:rPr>
              <a:t>fptr</a:t>
            </a:r>
            <a:r>
              <a:rPr lang="en-US" altLang="zh-TW" sz="2000" b="0">
                <a:latin typeface="Consolas" panose="020B0609020204030204" pitchFamily="49" charset="0"/>
              </a:rPr>
              <a:t>, </a:t>
            </a:r>
            <a:r>
              <a:rPr lang="en-US" altLang="zh-TW" sz="2000" b="0">
                <a:solidFill>
                  <a:srgbClr val="0099FF"/>
                </a:solidFill>
                <a:latin typeface="Consolas" panose="020B0609020204030204" pitchFamily="49" charset="0"/>
              </a:rPr>
              <a:t>"%d "</a:t>
            </a:r>
            <a:r>
              <a:rPr lang="en-US" altLang="zh-TW" sz="2000" b="0">
                <a:latin typeface="Consolas" panose="020B0609020204030204" pitchFamily="49" charset="0"/>
              </a:rPr>
              <a:t>, </a:t>
            </a:r>
            <a:r>
              <a:rPr lang="en-US" altLang="zh-TW" sz="2000" b="0" err="1">
                <a:latin typeface="Consolas" panose="020B0609020204030204" pitchFamily="49" charset="0"/>
              </a:rPr>
              <a:t>i</a:t>
            </a:r>
            <a:r>
              <a:rPr lang="en-US" altLang="zh-TW" sz="2000" b="0">
                <a:latin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latin typeface="Consolas" panose="020B0609020204030204" pitchFamily="49" charset="0"/>
              </a:rPr>
              <a:t>    </a:t>
            </a:r>
            <a:r>
              <a:rPr lang="en-US" altLang="zh-TW" sz="2000" b="0" err="1">
                <a:latin typeface="Consolas" panose="020B0609020204030204" pitchFamily="49" charset="0"/>
              </a:rPr>
              <a:t>fprintf</a:t>
            </a:r>
            <a:r>
              <a:rPr lang="en-US" altLang="zh-TW" sz="2000" b="0">
                <a:latin typeface="Consolas" panose="020B0609020204030204" pitchFamily="49" charset="0"/>
              </a:rPr>
              <a:t>(</a:t>
            </a:r>
            <a:r>
              <a:rPr lang="en-US" altLang="zh-TW" sz="2000" b="0" err="1">
                <a:latin typeface="Consolas" panose="020B0609020204030204" pitchFamily="49" charset="0"/>
              </a:rPr>
              <a:t>fptr</a:t>
            </a:r>
            <a:r>
              <a:rPr lang="en-US" altLang="zh-TW" sz="2000" b="0">
                <a:latin typeface="Consolas" panose="020B0609020204030204" pitchFamily="49" charset="0"/>
              </a:rPr>
              <a:t>, </a:t>
            </a:r>
            <a:r>
              <a:rPr lang="en-US" altLang="zh-TW" sz="2000" b="0">
                <a:solidFill>
                  <a:srgbClr val="0099FF"/>
                </a:solidFill>
                <a:latin typeface="Consolas" panose="020B0609020204030204" pitchFamily="49" charset="0"/>
              </a:rPr>
              <a:t>"\n"</a:t>
            </a:r>
            <a:r>
              <a:rPr lang="en-US" altLang="zh-TW" sz="2000" b="0">
                <a:latin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latin typeface="Consolas" panose="020B0609020204030204" pitchFamily="49" charset="0"/>
              </a:rPr>
              <a:t>   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latin typeface="Consolas" panose="020B0609020204030204" pitchFamily="49" charset="0"/>
              </a:rPr>
              <a:t>    </a:t>
            </a:r>
            <a:r>
              <a:rPr lang="en-US" altLang="zh-TW" sz="2000" b="0" err="1">
                <a:solidFill>
                  <a:srgbClr val="C00000"/>
                </a:solidFill>
                <a:latin typeface="Consolas" panose="020B0609020204030204" pitchFamily="49" charset="0"/>
              </a:rPr>
              <a:t>fclose</a:t>
            </a:r>
            <a:r>
              <a:rPr lang="en-US" altLang="zh-TW" sz="2000" b="0">
                <a:latin typeface="Consolas" panose="020B0609020204030204" pitchFamily="49" charset="0"/>
              </a:rPr>
              <a:t>(</a:t>
            </a:r>
            <a:r>
              <a:rPr lang="en-US" altLang="zh-TW" sz="2000" b="0" err="1">
                <a:latin typeface="Consolas" panose="020B0609020204030204" pitchFamily="49" charset="0"/>
              </a:rPr>
              <a:t>fptr</a:t>
            </a:r>
            <a:r>
              <a:rPr lang="en-US" altLang="zh-TW" sz="2000" b="0">
                <a:latin typeface="Consolas" panose="020B0609020204030204" pitchFamily="49" charset="0"/>
              </a:rPr>
              <a:t>);  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0000FF"/>
                </a:solidFill>
                <a:latin typeface="Consolas" panose="020B0609020204030204" pitchFamily="49" charset="0"/>
              </a:rPr>
              <a:t>    return</a:t>
            </a:r>
            <a:r>
              <a:rPr kumimoji="0" lang="en-US" altLang="zh-TW" sz="2000" b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kumimoji="0" lang="en-US" altLang="zh-TW" sz="2000" b="0">
                <a:solidFill>
                  <a:srgbClr val="0099FF"/>
                </a:solidFill>
                <a:latin typeface="Consolas" panose="020B0609020204030204" pitchFamily="49" charset="0"/>
              </a:rPr>
              <a:t>0</a:t>
            </a:r>
            <a:r>
              <a:rPr kumimoji="0" lang="en-US" altLang="zh-TW" sz="2000" b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08547" name="Rectangle 3"/>
          <p:cNvSpPr>
            <a:spLocks noChangeArrowheads="1"/>
          </p:cNvSpPr>
          <p:nvPr/>
        </p:nvSpPr>
        <p:spPr bwMode="auto">
          <a:xfrm>
            <a:off x="4763" y="990600"/>
            <a:ext cx="461962" cy="54102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Ins="0"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2</a:t>
            </a:r>
            <a:endParaRPr kumimoji="0" lang="en-US" altLang="zh-TW" sz="2000" b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3</a:t>
            </a:r>
            <a:endParaRPr kumimoji="0" lang="en-US" altLang="zh-TW" sz="2000" b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4</a:t>
            </a:r>
            <a:endParaRPr kumimoji="0" lang="en-US" altLang="zh-TW" sz="2000" b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12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13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1415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16</a:t>
            </a:r>
            <a:endParaRPr kumimoji="0" lang="en-US" altLang="zh-TW" sz="2000" b="0">
              <a:solidFill>
                <a:srgbClr val="5F5F5F"/>
              </a:solidFill>
              <a:latin typeface="Consolas" panose="020B0609020204030204" pitchFamily="49" charset="0"/>
            </a:endParaRPr>
          </a:p>
        </p:txBody>
      </p:sp>
      <p:sp>
        <p:nvSpPr>
          <p:cNvPr id="108548" name="Rectangle 4"/>
          <p:cNvSpPr>
            <a:spLocks noChangeArrowheads="1"/>
          </p:cNvSpPr>
          <p:nvPr/>
        </p:nvSpPr>
        <p:spPr bwMode="auto">
          <a:xfrm>
            <a:off x="4495801" y="5486400"/>
            <a:ext cx="4543948" cy="76200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>
            <a:lvl1pPr eaLnBrk="0" hangingPunct="0"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eaLnBrk="0" hangingPunct="0"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eaLnBrk="0" hangingPunct="0"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eaLnBrk="0" hangingPunct="0"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eaLnBrk="0" hangingPunct="0"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kumimoji="0" lang="en-US" altLang="en-US" sz="2000" b="0">
                <a:latin typeface="Consolas" panose="020B0609020204030204" pitchFamily="49" charset="0"/>
              </a:rPr>
              <a:t>Hello!</a:t>
            </a:r>
          </a:p>
          <a:p>
            <a:pPr eaLnBrk="1" hangingPunct="1"/>
            <a:r>
              <a:rPr lang="en-US" altLang="en-US" sz="2000" b="0">
                <a:latin typeface="Consolas" panose="020B0609020204030204" pitchFamily="49" charset="0"/>
              </a:rPr>
              <a:t>0 1 2 3 4 5 6 7 8 9</a:t>
            </a:r>
            <a:endParaRPr kumimoji="0" lang="en-US" altLang="en-US" sz="2000" b="0">
              <a:latin typeface="Consolas" panose="020B0609020204030204" pitchFamily="49" charset="0"/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70338" y="76200"/>
            <a:ext cx="8921262" cy="838200"/>
          </a:xfrm>
        </p:spPr>
        <p:txBody>
          <a:bodyPr>
            <a:normAutofit/>
          </a:bodyPr>
          <a:lstStyle/>
          <a:p>
            <a:r>
              <a:rPr lang="en-US" altLang="zh-TW" sz="4000" b="1"/>
              <a:t>Example #5: Writing data to a file</a:t>
            </a:r>
            <a:endParaRPr lang="en-US" altLang="zh-TW" sz="2800" b="1"/>
          </a:p>
        </p:txBody>
      </p:sp>
      <p:sp>
        <p:nvSpPr>
          <p:cNvPr id="2" name="TextBox 1"/>
          <p:cNvSpPr txBox="1"/>
          <p:nvPr/>
        </p:nvSpPr>
        <p:spPr>
          <a:xfrm>
            <a:off x="4495801" y="5117068"/>
            <a:ext cx="24333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Content of "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data.txt</a:t>
            </a:r>
            <a:r>
              <a:rPr lang="en-US"/>
              <a:t>"</a:t>
            </a:r>
          </a:p>
        </p:txBody>
      </p:sp>
    </p:spTree>
    <p:extLst>
      <p:ext uri="{BB962C8B-B14F-4D97-AF65-F5344CB8AC3E}">
        <p14:creationId xmlns:p14="http://schemas.microsoft.com/office/powerpoint/2010/main" val="1684018004"/>
      </p:ext>
    </p:extLst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4572000" y="3048001"/>
            <a:ext cx="533400" cy="3048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DDE72-8E1C-48AE-AAB0-105C85EE517D}" type="slidenum">
              <a:rPr lang="zh-TW" altLang="en-US"/>
              <a:pPr/>
              <a:t>19</a:t>
            </a:fld>
            <a:endParaRPr lang="en-US" altLang="zh-TW"/>
          </a:p>
        </p:txBody>
      </p:sp>
      <p:sp>
        <p:nvSpPr>
          <p:cNvPr id="108546" name="Rectangle 2"/>
          <p:cNvSpPr>
            <a:spLocks noChangeArrowheads="1"/>
          </p:cNvSpPr>
          <p:nvPr/>
        </p:nvSpPr>
        <p:spPr bwMode="auto">
          <a:xfrm>
            <a:off x="466725" y="990600"/>
            <a:ext cx="8677275" cy="5410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latin typeface="Consolas" panose="020B0609020204030204" pitchFamily="49" charset="0"/>
              </a:rPr>
              <a:t>#include &lt;</a:t>
            </a:r>
            <a:r>
              <a:rPr kumimoji="0" lang="en-US" altLang="zh-TW" sz="2000" b="0" err="1">
                <a:latin typeface="Consolas" panose="020B0609020204030204" pitchFamily="49" charset="0"/>
              </a:rPr>
              <a:t>stdio.h</a:t>
            </a:r>
            <a:r>
              <a:rPr kumimoji="0" lang="en-US" altLang="zh-TW" sz="2000" b="0">
                <a:latin typeface="Consolas" panose="020B0609020204030204" pitchFamily="49" charset="0"/>
              </a:rPr>
              <a:t>&gt;</a:t>
            </a:r>
          </a:p>
          <a:p>
            <a:pPr eaLnBrk="1" hangingPunct="1">
              <a:lnSpc>
                <a:spcPct val="110000"/>
              </a:lnSpc>
            </a:pPr>
            <a:endParaRPr kumimoji="0" lang="en-US" altLang="zh-TW" sz="2000" b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kumimoji="0" lang="en-US" altLang="zh-TW" sz="2000" b="0">
                <a:solidFill>
                  <a:srgbClr val="000000"/>
                </a:solidFill>
                <a:latin typeface="Consolas" panose="020B0609020204030204" pitchFamily="49" charset="0"/>
              </a:rPr>
              <a:t> main(</a:t>
            </a:r>
            <a:r>
              <a:rPr lang="en-US" altLang="zh-TW" sz="2000" b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kumimoji="0" lang="en-US" altLang="zh-TW" sz="2000" b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0000FF"/>
                </a:solidFill>
                <a:latin typeface="Consolas" panose="020B0609020204030204" pitchFamily="49" charset="0"/>
              </a:rPr>
              <a:t>    </a:t>
            </a:r>
            <a:r>
              <a:rPr lang="en-US" altLang="zh-TW" sz="2000" b="0">
                <a:latin typeface="Consolas" panose="020B0609020204030204" pitchFamily="49" charset="0"/>
              </a:rPr>
              <a:t>FILE *</a:t>
            </a:r>
            <a:r>
              <a:rPr lang="en-US" altLang="zh-TW" sz="2000" b="0" err="1">
                <a:latin typeface="Consolas" panose="020B0609020204030204" pitchFamily="49" charset="0"/>
              </a:rPr>
              <a:t>fptr</a:t>
            </a:r>
            <a:r>
              <a:rPr lang="en-US" altLang="zh-TW" sz="2000" b="0">
                <a:latin typeface="Consolas" panose="020B0609020204030204" pitchFamily="49" charset="0"/>
              </a:rPr>
              <a:t>;</a:t>
            </a:r>
            <a:endParaRPr kumimoji="0" lang="en-US" altLang="zh-TW" sz="2000" b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0000FF"/>
                </a:solidFill>
                <a:latin typeface="Consolas" panose="020B0609020204030204" pitchFamily="49" charset="0"/>
              </a:rPr>
              <a:t>    int</a:t>
            </a:r>
            <a:r>
              <a:rPr kumimoji="0" lang="en-US" altLang="zh-TW" sz="2000" b="0">
                <a:latin typeface="Consolas" panose="020B0609020204030204" pitchFamily="49" charset="0"/>
              </a:rPr>
              <a:t> </a:t>
            </a:r>
            <a:r>
              <a:rPr kumimoji="0" lang="en-US" altLang="zh-TW" sz="2000" b="0" err="1">
                <a:latin typeface="Consolas" panose="020B0609020204030204" pitchFamily="49" charset="0"/>
              </a:rPr>
              <a:t>i</a:t>
            </a:r>
            <a:r>
              <a:rPr lang="en-US" altLang="zh-TW" sz="2000" b="0">
                <a:latin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endParaRPr kumimoji="0" lang="en-US" altLang="zh-TW" sz="2000" b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latin typeface="Consolas" panose="020B0609020204030204" pitchFamily="49" charset="0"/>
              </a:rPr>
              <a:t>    </a:t>
            </a:r>
            <a:r>
              <a:rPr lang="en-US" altLang="zh-TW" sz="2000" b="0" err="1">
                <a:highlight>
                  <a:srgbClr val="FFFF00"/>
                </a:highlight>
                <a:latin typeface="Consolas" panose="020B0609020204030204" pitchFamily="49" charset="0"/>
              </a:rPr>
              <a:t>fptr</a:t>
            </a:r>
            <a:r>
              <a:rPr lang="en-US" altLang="zh-TW" sz="2000" b="0"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en-US" altLang="zh-TW" sz="2000" b="0" err="1">
                <a:solidFill>
                  <a:srgbClr val="C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fopen</a:t>
            </a:r>
            <a:r>
              <a:rPr lang="en-US" altLang="zh-TW" sz="2000" b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2000" b="0">
                <a:solidFill>
                  <a:srgbClr val="0099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"data.txt"</a:t>
            </a:r>
            <a:r>
              <a:rPr lang="en-US" altLang="zh-TW" sz="2000" b="0">
                <a:highlight>
                  <a:srgbClr val="FFFF00"/>
                </a:highlight>
                <a:latin typeface="Consolas" panose="020B0609020204030204" pitchFamily="49" charset="0"/>
              </a:rPr>
              <a:t>, </a:t>
            </a:r>
            <a:r>
              <a:rPr lang="en-US" altLang="zh-TW" sz="2000" b="0">
                <a:solidFill>
                  <a:srgbClr val="0099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"w"</a:t>
            </a:r>
            <a:r>
              <a:rPr lang="en-US" altLang="zh-TW" sz="2000" b="0"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  <a:r>
              <a:rPr lang="en-US" altLang="zh-TW" sz="2000" b="0">
                <a:latin typeface="Consolas" panose="020B0609020204030204" pitchFamily="49" charset="0"/>
              </a:rPr>
              <a:t> </a:t>
            </a:r>
            <a:r>
              <a:rPr lang="en-US" altLang="zh-TW" sz="2000" b="0">
                <a:solidFill>
                  <a:srgbClr val="008000"/>
                </a:solidFill>
                <a:latin typeface="Consolas" panose="020B0609020204030204" pitchFamily="49" charset="0"/>
              </a:rPr>
              <a:t>// open file for writing</a:t>
            </a:r>
            <a:endParaRPr lang="en-US" altLang="zh-TW" sz="2000" b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endParaRPr kumimoji="0" lang="en-US" altLang="zh-TW" sz="2000" b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008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TW" sz="2000" b="0" err="1">
                <a:latin typeface="Consolas" panose="020B0609020204030204" pitchFamily="49" charset="0"/>
              </a:rPr>
              <a:t>fprintf</a:t>
            </a:r>
            <a:r>
              <a:rPr lang="en-US" altLang="zh-TW" sz="2000" b="0">
                <a:latin typeface="Consolas" panose="020B0609020204030204" pitchFamily="49" charset="0"/>
              </a:rPr>
              <a:t>(</a:t>
            </a:r>
            <a:r>
              <a:rPr lang="en-US" altLang="zh-TW" sz="2000" b="0" err="1">
                <a:latin typeface="Consolas" panose="020B0609020204030204" pitchFamily="49" charset="0"/>
              </a:rPr>
              <a:t>fptr</a:t>
            </a:r>
            <a:r>
              <a:rPr lang="en-US" altLang="zh-TW" sz="2000" b="0">
                <a:latin typeface="Consolas" panose="020B0609020204030204" pitchFamily="49" charset="0"/>
              </a:rPr>
              <a:t>, </a:t>
            </a:r>
            <a:r>
              <a:rPr lang="en-US" altLang="zh-TW" sz="2000" b="0">
                <a:solidFill>
                  <a:srgbClr val="0099FF"/>
                </a:solidFill>
                <a:latin typeface="Consolas" panose="020B0609020204030204" pitchFamily="49" charset="0"/>
              </a:rPr>
              <a:t>"Hello!\n"</a:t>
            </a:r>
            <a:r>
              <a:rPr lang="en-US" altLang="zh-TW" sz="2000" b="0">
                <a:latin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latin typeface="Consolas" panose="020B0609020204030204" pitchFamily="49" charset="0"/>
              </a:rPr>
              <a:t>    </a:t>
            </a:r>
            <a:r>
              <a:rPr lang="en-US" altLang="zh-TW" sz="2000" b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altLang="zh-TW" sz="2000" b="0">
                <a:latin typeface="Consolas" panose="020B0609020204030204" pitchFamily="49" charset="0"/>
              </a:rPr>
              <a:t> (</a:t>
            </a:r>
            <a:r>
              <a:rPr lang="en-US" altLang="zh-TW" sz="2000" b="0" err="1">
                <a:latin typeface="Consolas" panose="020B0609020204030204" pitchFamily="49" charset="0"/>
              </a:rPr>
              <a:t>i</a:t>
            </a:r>
            <a:r>
              <a:rPr lang="en-US" altLang="zh-TW" sz="2000" b="0">
                <a:latin typeface="Consolas" panose="020B0609020204030204" pitchFamily="49" charset="0"/>
              </a:rPr>
              <a:t> = </a:t>
            </a:r>
            <a:r>
              <a:rPr lang="en-US" altLang="zh-TW" sz="2000" b="0">
                <a:solidFill>
                  <a:srgbClr val="0099FF"/>
                </a:solidFill>
                <a:latin typeface="Consolas" panose="020B0609020204030204" pitchFamily="49" charset="0"/>
              </a:rPr>
              <a:t>0</a:t>
            </a:r>
            <a:r>
              <a:rPr lang="en-US" altLang="zh-TW" sz="2000" b="0">
                <a:latin typeface="Consolas" panose="020B0609020204030204" pitchFamily="49" charset="0"/>
              </a:rPr>
              <a:t>; </a:t>
            </a:r>
            <a:r>
              <a:rPr lang="en-US" altLang="zh-TW" sz="2000" b="0" err="1">
                <a:latin typeface="Consolas" panose="020B0609020204030204" pitchFamily="49" charset="0"/>
              </a:rPr>
              <a:t>i</a:t>
            </a:r>
            <a:r>
              <a:rPr lang="en-US" altLang="zh-TW" sz="2000" b="0">
                <a:latin typeface="Consolas" panose="020B0609020204030204" pitchFamily="49" charset="0"/>
              </a:rPr>
              <a:t> &lt; </a:t>
            </a:r>
            <a:r>
              <a:rPr lang="en-US" altLang="zh-TW" sz="2000" b="0">
                <a:solidFill>
                  <a:srgbClr val="0099FF"/>
                </a:solidFill>
                <a:latin typeface="Consolas" panose="020B0609020204030204" pitchFamily="49" charset="0"/>
              </a:rPr>
              <a:t>10</a:t>
            </a:r>
            <a:r>
              <a:rPr lang="en-US" altLang="zh-TW" sz="2000" b="0">
                <a:latin typeface="Consolas" panose="020B0609020204030204" pitchFamily="49" charset="0"/>
              </a:rPr>
              <a:t>; </a:t>
            </a:r>
            <a:r>
              <a:rPr lang="en-US" altLang="zh-TW" sz="2000" b="0" err="1">
                <a:latin typeface="Consolas" panose="020B0609020204030204" pitchFamily="49" charset="0"/>
              </a:rPr>
              <a:t>i</a:t>
            </a:r>
            <a:r>
              <a:rPr lang="en-US" altLang="zh-TW" sz="2000" b="0">
                <a:latin typeface="Consolas" panose="020B0609020204030204" pitchFamily="49" charset="0"/>
              </a:rPr>
              <a:t>++)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latin typeface="Consolas" panose="020B0609020204030204" pitchFamily="49" charset="0"/>
              </a:rPr>
              <a:t>        </a:t>
            </a:r>
            <a:r>
              <a:rPr lang="en-US" altLang="zh-TW" sz="2000" b="0" err="1">
                <a:latin typeface="Consolas" panose="020B0609020204030204" pitchFamily="49" charset="0"/>
              </a:rPr>
              <a:t>fprintf</a:t>
            </a:r>
            <a:r>
              <a:rPr lang="en-US" altLang="zh-TW" sz="2000" b="0">
                <a:latin typeface="Consolas" panose="020B0609020204030204" pitchFamily="49" charset="0"/>
              </a:rPr>
              <a:t>(</a:t>
            </a:r>
            <a:r>
              <a:rPr lang="en-US" altLang="zh-TW" sz="2000" b="0" err="1">
                <a:latin typeface="Consolas" panose="020B0609020204030204" pitchFamily="49" charset="0"/>
              </a:rPr>
              <a:t>fptr</a:t>
            </a:r>
            <a:r>
              <a:rPr lang="en-US" altLang="zh-TW" sz="2000" b="0">
                <a:latin typeface="Consolas" panose="020B0609020204030204" pitchFamily="49" charset="0"/>
              </a:rPr>
              <a:t>, </a:t>
            </a:r>
            <a:r>
              <a:rPr lang="en-US" altLang="zh-TW" sz="2000" b="0">
                <a:solidFill>
                  <a:srgbClr val="0099FF"/>
                </a:solidFill>
                <a:latin typeface="Consolas" panose="020B0609020204030204" pitchFamily="49" charset="0"/>
              </a:rPr>
              <a:t>"%d "</a:t>
            </a:r>
            <a:r>
              <a:rPr lang="en-US" altLang="zh-TW" sz="2000" b="0">
                <a:latin typeface="Consolas" panose="020B0609020204030204" pitchFamily="49" charset="0"/>
              </a:rPr>
              <a:t>, </a:t>
            </a:r>
            <a:r>
              <a:rPr lang="en-US" altLang="zh-TW" sz="2000" b="0" err="1">
                <a:latin typeface="Consolas" panose="020B0609020204030204" pitchFamily="49" charset="0"/>
              </a:rPr>
              <a:t>i</a:t>
            </a:r>
            <a:r>
              <a:rPr lang="en-US" altLang="zh-TW" sz="2000" b="0">
                <a:latin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latin typeface="Consolas" panose="020B0609020204030204" pitchFamily="49" charset="0"/>
              </a:rPr>
              <a:t>    </a:t>
            </a:r>
            <a:r>
              <a:rPr lang="en-US" altLang="zh-TW" sz="2000" b="0" err="1">
                <a:latin typeface="Consolas" panose="020B0609020204030204" pitchFamily="49" charset="0"/>
              </a:rPr>
              <a:t>fprintf</a:t>
            </a:r>
            <a:r>
              <a:rPr lang="en-US" altLang="zh-TW" sz="2000" b="0">
                <a:latin typeface="Consolas" panose="020B0609020204030204" pitchFamily="49" charset="0"/>
              </a:rPr>
              <a:t>(</a:t>
            </a:r>
            <a:r>
              <a:rPr lang="en-US" altLang="zh-TW" sz="2000" b="0" err="1">
                <a:latin typeface="Consolas" panose="020B0609020204030204" pitchFamily="49" charset="0"/>
              </a:rPr>
              <a:t>fptr</a:t>
            </a:r>
            <a:r>
              <a:rPr lang="en-US" altLang="zh-TW" sz="2000" b="0">
                <a:latin typeface="Consolas" panose="020B0609020204030204" pitchFamily="49" charset="0"/>
              </a:rPr>
              <a:t>, </a:t>
            </a:r>
            <a:r>
              <a:rPr lang="en-US" altLang="zh-TW" sz="2000" b="0">
                <a:solidFill>
                  <a:srgbClr val="0099FF"/>
                </a:solidFill>
                <a:latin typeface="Consolas" panose="020B0609020204030204" pitchFamily="49" charset="0"/>
              </a:rPr>
              <a:t>"\n"</a:t>
            </a:r>
            <a:r>
              <a:rPr lang="en-US" altLang="zh-TW" sz="2000" b="0">
                <a:latin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latin typeface="Consolas" panose="020B0609020204030204" pitchFamily="49" charset="0"/>
              </a:rPr>
              <a:t>   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latin typeface="Consolas" panose="020B0609020204030204" pitchFamily="49" charset="0"/>
              </a:rPr>
              <a:t>    </a:t>
            </a:r>
            <a:r>
              <a:rPr lang="en-US" altLang="zh-TW" sz="2000" b="0" err="1">
                <a:solidFill>
                  <a:srgbClr val="C00000"/>
                </a:solidFill>
                <a:latin typeface="Consolas" panose="020B0609020204030204" pitchFamily="49" charset="0"/>
              </a:rPr>
              <a:t>fclose</a:t>
            </a:r>
            <a:r>
              <a:rPr lang="en-US" altLang="zh-TW" sz="2000" b="0">
                <a:latin typeface="Consolas" panose="020B0609020204030204" pitchFamily="49" charset="0"/>
              </a:rPr>
              <a:t>(</a:t>
            </a:r>
            <a:r>
              <a:rPr lang="en-US" altLang="zh-TW" sz="2000" b="0" err="1">
                <a:latin typeface="Consolas" panose="020B0609020204030204" pitchFamily="49" charset="0"/>
              </a:rPr>
              <a:t>fptr</a:t>
            </a:r>
            <a:r>
              <a:rPr lang="en-US" altLang="zh-TW" sz="2000" b="0">
                <a:latin typeface="Consolas" panose="020B0609020204030204" pitchFamily="49" charset="0"/>
              </a:rPr>
              <a:t>);  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0000FF"/>
                </a:solidFill>
                <a:latin typeface="Consolas" panose="020B0609020204030204" pitchFamily="49" charset="0"/>
              </a:rPr>
              <a:t>    return</a:t>
            </a:r>
            <a:r>
              <a:rPr kumimoji="0" lang="en-US" altLang="zh-TW" sz="2000" b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kumimoji="0" lang="en-US" altLang="zh-TW" sz="2000" b="0">
                <a:solidFill>
                  <a:srgbClr val="0099FF"/>
                </a:solidFill>
                <a:latin typeface="Consolas" panose="020B0609020204030204" pitchFamily="49" charset="0"/>
              </a:rPr>
              <a:t>0</a:t>
            </a:r>
            <a:r>
              <a:rPr kumimoji="0" lang="en-US" altLang="zh-TW" sz="2000" b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08547" name="Rectangle 3"/>
          <p:cNvSpPr>
            <a:spLocks noChangeArrowheads="1"/>
          </p:cNvSpPr>
          <p:nvPr/>
        </p:nvSpPr>
        <p:spPr bwMode="auto">
          <a:xfrm>
            <a:off x="4763" y="990600"/>
            <a:ext cx="461962" cy="54102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Ins="0"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2</a:t>
            </a:r>
            <a:endParaRPr kumimoji="0" lang="en-US" altLang="zh-TW" sz="2000" b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3</a:t>
            </a:r>
            <a:endParaRPr kumimoji="0" lang="en-US" altLang="zh-TW" sz="2000" b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4</a:t>
            </a:r>
            <a:endParaRPr kumimoji="0" lang="en-US" altLang="zh-TW" sz="2000" b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12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13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1415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16</a:t>
            </a:r>
            <a:endParaRPr kumimoji="0" lang="en-US" altLang="zh-TW" sz="2000" b="0">
              <a:solidFill>
                <a:srgbClr val="5F5F5F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70338" y="76200"/>
            <a:ext cx="8921262" cy="838200"/>
          </a:xfrm>
        </p:spPr>
        <p:txBody>
          <a:bodyPr>
            <a:normAutofit/>
          </a:bodyPr>
          <a:lstStyle/>
          <a:p>
            <a:r>
              <a:rPr lang="en-US" altLang="zh-TW" sz="4000"/>
              <a:t>Example #5: Writing data to a file</a:t>
            </a:r>
            <a:endParaRPr lang="en-US" altLang="zh-TW" sz="2800"/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4419600" y="1752601"/>
            <a:ext cx="4627878" cy="1295400"/>
          </a:xfrm>
          <a:prstGeom prst="rect">
            <a:avLst/>
          </a:prstGeom>
          <a:solidFill>
            <a:srgbClr val="CCFFCC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50000"/>
              </a:spcBef>
            </a:pPr>
            <a:r>
              <a:rPr lang="en-US" altLang="zh-TW" sz="2400"/>
              <a:t>The 2</a:t>
            </a:r>
            <a:r>
              <a:rPr lang="en-US" altLang="zh-TW" sz="2400" baseline="30000"/>
              <a:t>nd</a:t>
            </a:r>
            <a:r>
              <a:rPr lang="en-US" altLang="zh-TW" sz="2400"/>
              <a:t> argument, </a:t>
            </a:r>
            <a:r>
              <a:rPr lang="en-US" altLang="zh-TW" sz="2400">
                <a:solidFill>
                  <a:srgbClr val="0070C0"/>
                </a:solidFill>
              </a:rPr>
              <a:t>"w"</a:t>
            </a:r>
            <a:r>
              <a:rPr lang="en-US" altLang="zh-TW" sz="2400"/>
              <a:t>, indicates that we are opening the file for writing only.</a:t>
            </a:r>
          </a:p>
        </p:txBody>
      </p:sp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4419600" y="3505200"/>
            <a:ext cx="4627878" cy="2362200"/>
          </a:xfrm>
          <a:prstGeom prst="rect">
            <a:avLst/>
          </a:prstGeom>
          <a:solidFill>
            <a:srgbClr val="CCFFCC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50000"/>
              </a:spcBef>
            </a:pPr>
            <a:r>
              <a:rPr lang="en-US" altLang="zh-TW" sz="2400"/>
              <a:t>If the file does not exist, </a:t>
            </a:r>
            <a:r>
              <a:rPr lang="en-US" altLang="zh-TW" sz="2400" err="1">
                <a:latin typeface="Consolas" panose="020B0609020204030204" pitchFamily="49" charset="0"/>
                <a:cs typeface="Consolas" panose="020B0609020204030204" pitchFamily="49" charset="0"/>
              </a:rPr>
              <a:t>fopen</a:t>
            </a:r>
            <a:r>
              <a:rPr lang="en-US" altLang="zh-TW" sz="240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en-US" altLang="zh-TW" sz="2400"/>
              <a:t> will create a new file.</a:t>
            </a:r>
          </a:p>
          <a:p>
            <a:pPr>
              <a:spcBef>
                <a:spcPct val="50000"/>
              </a:spcBef>
            </a:pPr>
            <a:endParaRPr lang="en-US" altLang="zh-TW" sz="2400"/>
          </a:p>
          <a:p>
            <a:pPr>
              <a:spcBef>
                <a:spcPct val="50000"/>
              </a:spcBef>
            </a:pPr>
            <a:r>
              <a:rPr lang="en-US" altLang="zh-TW" sz="2400"/>
              <a:t>If the file already exists, </a:t>
            </a:r>
            <a:r>
              <a:rPr lang="en-US" altLang="zh-TW" sz="2400" err="1">
                <a:latin typeface="Consolas" panose="020B0609020204030204" pitchFamily="49" charset="0"/>
                <a:cs typeface="Consolas" panose="020B0609020204030204" pitchFamily="49" charset="0"/>
              </a:rPr>
              <a:t>fopen</a:t>
            </a:r>
            <a:r>
              <a:rPr lang="en-US" altLang="zh-TW" sz="240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en-US" altLang="zh-TW" sz="2400"/>
              <a:t> will replace the existing file.</a:t>
            </a:r>
          </a:p>
        </p:txBody>
      </p:sp>
    </p:spTree>
    <p:extLst>
      <p:ext uri="{BB962C8B-B14F-4D97-AF65-F5344CB8AC3E}">
        <p14:creationId xmlns:p14="http://schemas.microsoft.com/office/powerpoint/2010/main" val="37910397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066800" y="3726180"/>
            <a:ext cx="4267200" cy="145541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DDE72-8E1C-48AE-AAB0-105C85EE517D}" type="slidenum">
              <a:rPr lang="zh-TW" altLang="en-US"/>
              <a:pPr/>
              <a:t>20</a:t>
            </a:fld>
            <a:endParaRPr lang="en-US" altLang="zh-TW"/>
          </a:p>
        </p:txBody>
      </p:sp>
      <p:sp>
        <p:nvSpPr>
          <p:cNvPr id="108546" name="Rectangle 2"/>
          <p:cNvSpPr>
            <a:spLocks noChangeArrowheads="1"/>
          </p:cNvSpPr>
          <p:nvPr/>
        </p:nvSpPr>
        <p:spPr bwMode="auto">
          <a:xfrm>
            <a:off x="466725" y="990600"/>
            <a:ext cx="8677275" cy="5410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latin typeface="Consolas" panose="020B0609020204030204" pitchFamily="49" charset="0"/>
              </a:rPr>
              <a:t>#include &lt;</a:t>
            </a:r>
            <a:r>
              <a:rPr kumimoji="0" lang="en-US" altLang="zh-TW" sz="2000" b="0" err="1">
                <a:latin typeface="Consolas" panose="020B0609020204030204" pitchFamily="49" charset="0"/>
              </a:rPr>
              <a:t>stdio.h</a:t>
            </a:r>
            <a:r>
              <a:rPr kumimoji="0" lang="en-US" altLang="zh-TW" sz="2000" b="0">
                <a:latin typeface="Consolas" panose="020B0609020204030204" pitchFamily="49" charset="0"/>
              </a:rPr>
              <a:t>&gt;</a:t>
            </a:r>
          </a:p>
          <a:p>
            <a:pPr eaLnBrk="1" hangingPunct="1">
              <a:lnSpc>
                <a:spcPct val="110000"/>
              </a:lnSpc>
            </a:pPr>
            <a:endParaRPr kumimoji="0" lang="en-US" altLang="zh-TW" sz="2000" b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kumimoji="0" lang="en-US" altLang="zh-TW" sz="2000" b="0">
                <a:solidFill>
                  <a:srgbClr val="000000"/>
                </a:solidFill>
                <a:latin typeface="Consolas" panose="020B0609020204030204" pitchFamily="49" charset="0"/>
              </a:rPr>
              <a:t> main(</a:t>
            </a:r>
            <a:r>
              <a:rPr lang="en-US" altLang="zh-TW" sz="2000" b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kumimoji="0" lang="en-US" altLang="zh-TW" sz="2000" b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0000FF"/>
                </a:solidFill>
                <a:latin typeface="Consolas" panose="020B0609020204030204" pitchFamily="49" charset="0"/>
              </a:rPr>
              <a:t>    </a:t>
            </a:r>
            <a:r>
              <a:rPr lang="en-US" altLang="zh-TW" sz="2000" b="0">
                <a:latin typeface="Consolas" panose="020B0609020204030204" pitchFamily="49" charset="0"/>
              </a:rPr>
              <a:t>FILE *</a:t>
            </a:r>
            <a:r>
              <a:rPr lang="en-US" altLang="zh-TW" sz="2000" b="0" err="1">
                <a:latin typeface="Consolas" panose="020B0609020204030204" pitchFamily="49" charset="0"/>
              </a:rPr>
              <a:t>fptr</a:t>
            </a:r>
            <a:r>
              <a:rPr lang="en-US" altLang="zh-TW" sz="2000" b="0">
                <a:latin typeface="Consolas" panose="020B0609020204030204" pitchFamily="49" charset="0"/>
              </a:rPr>
              <a:t>;</a:t>
            </a:r>
            <a:endParaRPr kumimoji="0" lang="en-US" altLang="zh-TW" sz="2000" b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0000FF"/>
                </a:solidFill>
                <a:latin typeface="Consolas" panose="020B0609020204030204" pitchFamily="49" charset="0"/>
              </a:rPr>
              <a:t>    int</a:t>
            </a:r>
            <a:r>
              <a:rPr kumimoji="0" lang="en-US" altLang="zh-TW" sz="2000" b="0">
                <a:latin typeface="Consolas" panose="020B0609020204030204" pitchFamily="49" charset="0"/>
              </a:rPr>
              <a:t> </a:t>
            </a:r>
            <a:r>
              <a:rPr kumimoji="0" lang="en-US" altLang="zh-TW" sz="2000" b="0" err="1">
                <a:latin typeface="Consolas" panose="020B0609020204030204" pitchFamily="49" charset="0"/>
              </a:rPr>
              <a:t>i</a:t>
            </a:r>
            <a:r>
              <a:rPr lang="en-US" altLang="zh-TW" sz="2000" b="0">
                <a:latin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endParaRPr kumimoji="0" lang="en-US" altLang="zh-TW" sz="2000" b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latin typeface="Consolas" panose="020B0609020204030204" pitchFamily="49" charset="0"/>
              </a:rPr>
              <a:t>    </a:t>
            </a:r>
            <a:r>
              <a:rPr lang="en-US" altLang="zh-TW" sz="2000" b="0" err="1">
                <a:latin typeface="Consolas" panose="020B0609020204030204" pitchFamily="49" charset="0"/>
              </a:rPr>
              <a:t>fptr</a:t>
            </a:r>
            <a:r>
              <a:rPr lang="en-US" altLang="zh-TW" sz="2000" b="0">
                <a:latin typeface="Consolas" panose="020B0609020204030204" pitchFamily="49" charset="0"/>
              </a:rPr>
              <a:t> = </a:t>
            </a:r>
            <a:r>
              <a:rPr lang="en-US" altLang="zh-TW" sz="2000" b="0" err="1">
                <a:solidFill>
                  <a:srgbClr val="C00000"/>
                </a:solidFill>
                <a:latin typeface="Consolas" panose="020B0609020204030204" pitchFamily="49" charset="0"/>
              </a:rPr>
              <a:t>fopen</a:t>
            </a:r>
            <a:r>
              <a:rPr lang="en-US" altLang="zh-TW" sz="2000" b="0">
                <a:latin typeface="Consolas" panose="020B0609020204030204" pitchFamily="49" charset="0"/>
              </a:rPr>
              <a:t>(</a:t>
            </a:r>
            <a:r>
              <a:rPr lang="en-US" altLang="zh-TW" sz="2000" b="0">
                <a:solidFill>
                  <a:srgbClr val="0099FF"/>
                </a:solidFill>
                <a:latin typeface="Consolas" panose="020B0609020204030204" pitchFamily="49" charset="0"/>
              </a:rPr>
              <a:t>"data.txt"</a:t>
            </a:r>
            <a:r>
              <a:rPr lang="en-US" altLang="zh-TW" sz="2000" b="0">
                <a:latin typeface="Consolas" panose="020B0609020204030204" pitchFamily="49" charset="0"/>
              </a:rPr>
              <a:t>, </a:t>
            </a:r>
            <a:r>
              <a:rPr lang="en-US" altLang="zh-TW" sz="2000" b="0">
                <a:solidFill>
                  <a:srgbClr val="0099FF"/>
                </a:solidFill>
                <a:latin typeface="Consolas" panose="020B0609020204030204" pitchFamily="49" charset="0"/>
              </a:rPr>
              <a:t>"w"</a:t>
            </a:r>
            <a:r>
              <a:rPr lang="en-US" altLang="zh-TW" sz="2000" b="0">
                <a:latin typeface="Consolas" panose="020B0609020204030204" pitchFamily="49" charset="0"/>
              </a:rPr>
              <a:t>); </a:t>
            </a:r>
            <a:r>
              <a:rPr lang="en-US" altLang="zh-TW" sz="2000" b="0">
                <a:solidFill>
                  <a:srgbClr val="008000"/>
                </a:solidFill>
                <a:latin typeface="Consolas" panose="020B0609020204030204" pitchFamily="49" charset="0"/>
              </a:rPr>
              <a:t>// open file for writing</a:t>
            </a:r>
            <a:endParaRPr lang="en-US" altLang="zh-TW" sz="2000" b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endParaRPr kumimoji="0" lang="en-US" altLang="zh-TW" sz="2000" b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008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TW" sz="2000" b="0" err="1">
                <a:highlight>
                  <a:srgbClr val="00FF00"/>
                </a:highlight>
                <a:latin typeface="Consolas" panose="020B0609020204030204" pitchFamily="49" charset="0"/>
              </a:rPr>
              <a:t>fprintf</a:t>
            </a:r>
            <a:r>
              <a:rPr lang="en-US" altLang="zh-TW" sz="2000" b="0">
                <a:highlight>
                  <a:srgbClr val="00FF00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2000" b="0" err="1">
                <a:highlight>
                  <a:srgbClr val="00FF00"/>
                </a:highlight>
                <a:latin typeface="Consolas" panose="020B0609020204030204" pitchFamily="49" charset="0"/>
              </a:rPr>
              <a:t>fptr</a:t>
            </a:r>
            <a:r>
              <a:rPr lang="en-US" altLang="zh-TW" sz="2000" b="0">
                <a:highlight>
                  <a:srgbClr val="00FF00"/>
                </a:highlight>
                <a:latin typeface="Consolas" panose="020B0609020204030204" pitchFamily="49" charset="0"/>
              </a:rPr>
              <a:t>, </a:t>
            </a:r>
            <a:r>
              <a:rPr lang="en-US" altLang="zh-TW" sz="2000" b="0">
                <a:solidFill>
                  <a:srgbClr val="0099FF"/>
                </a:solidFill>
                <a:highlight>
                  <a:srgbClr val="00FF00"/>
                </a:highlight>
                <a:latin typeface="Consolas" panose="020B0609020204030204" pitchFamily="49" charset="0"/>
              </a:rPr>
              <a:t>"Hello!\n"</a:t>
            </a:r>
            <a:r>
              <a:rPr lang="en-US" altLang="zh-TW" sz="2000" b="0">
                <a:highlight>
                  <a:srgbClr val="00FF00"/>
                </a:highlight>
                <a:latin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latin typeface="Consolas" panose="020B0609020204030204" pitchFamily="49" charset="0"/>
              </a:rPr>
              <a:t>    </a:t>
            </a:r>
            <a:r>
              <a:rPr lang="en-US" altLang="zh-TW" sz="2000" b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altLang="zh-TW" sz="2000" b="0">
                <a:latin typeface="Consolas" panose="020B0609020204030204" pitchFamily="49" charset="0"/>
              </a:rPr>
              <a:t> (</a:t>
            </a:r>
            <a:r>
              <a:rPr lang="en-US" altLang="zh-TW" sz="2000" b="0" err="1">
                <a:latin typeface="Consolas" panose="020B0609020204030204" pitchFamily="49" charset="0"/>
              </a:rPr>
              <a:t>i</a:t>
            </a:r>
            <a:r>
              <a:rPr lang="en-US" altLang="zh-TW" sz="2000" b="0">
                <a:latin typeface="Consolas" panose="020B0609020204030204" pitchFamily="49" charset="0"/>
              </a:rPr>
              <a:t> = </a:t>
            </a:r>
            <a:r>
              <a:rPr lang="en-US" altLang="zh-TW" sz="2000" b="0">
                <a:solidFill>
                  <a:srgbClr val="0099FF"/>
                </a:solidFill>
                <a:latin typeface="Consolas" panose="020B0609020204030204" pitchFamily="49" charset="0"/>
              </a:rPr>
              <a:t>0</a:t>
            </a:r>
            <a:r>
              <a:rPr lang="en-US" altLang="zh-TW" sz="2000" b="0">
                <a:latin typeface="Consolas" panose="020B0609020204030204" pitchFamily="49" charset="0"/>
              </a:rPr>
              <a:t>; </a:t>
            </a:r>
            <a:r>
              <a:rPr lang="en-US" altLang="zh-TW" sz="2000" b="0" err="1">
                <a:latin typeface="Consolas" panose="020B0609020204030204" pitchFamily="49" charset="0"/>
              </a:rPr>
              <a:t>i</a:t>
            </a:r>
            <a:r>
              <a:rPr lang="en-US" altLang="zh-TW" sz="2000" b="0">
                <a:latin typeface="Consolas" panose="020B0609020204030204" pitchFamily="49" charset="0"/>
              </a:rPr>
              <a:t> &lt; </a:t>
            </a:r>
            <a:r>
              <a:rPr lang="en-US" altLang="zh-TW" sz="2000" b="0">
                <a:solidFill>
                  <a:srgbClr val="0099FF"/>
                </a:solidFill>
                <a:latin typeface="Consolas" panose="020B0609020204030204" pitchFamily="49" charset="0"/>
              </a:rPr>
              <a:t>10</a:t>
            </a:r>
            <a:r>
              <a:rPr lang="en-US" altLang="zh-TW" sz="2000" b="0">
                <a:latin typeface="Consolas" panose="020B0609020204030204" pitchFamily="49" charset="0"/>
              </a:rPr>
              <a:t>; </a:t>
            </a:r>
            <a:r>
              <a:rPr lang="en-US" altLang="zh-TW" sz="2000" b="0" err="1">
                <a:latin typeface="Consolas" panose="020B0609020204030204" pitchFamily="49" charset="0"/>
              </a:rPr>
              <a:t>i</a:t>
            </a:r>
            <a:r>
              <a:rPr lang="en-US" altLang="zh-TW" sz="2000" b="0">
                <a:latin typeface="Consolas" panose="020B0609020204030204" pitchFamily="49" charset="0"/>
              </a:rPr>
              <a:t>++)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latin typeface="Consolas" panose="020B0609020204030204" pitchFamily="49" charset="0"/>
              </a:rPr>
              <a:t>        </a:t>
            </a:r>
            <a:r>
              <a:rPr lang="en-US" altLang="zh-TW" sz="2000" b="0" err="1">
                <a:highlight>
                  <a:srgbClr val="00FF00"/>
                </a:highlight>
                <a:latin typeface="Consolas" panose="020B0609020204030204" pitchFamily="49" charset="0"/>
              </a:rPr>
              <a:t>fprintf</a:t>
            </a:r>
            <a:r>
              <a:rPr lang="en-US" altLang="zh-TW" sz="2000" b="0">
                <a:highlight>
                  <a:srgbClr val="00FF00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2000" b="0" err="1">
                <a:highlight>
                  <a:srgbClr val="00FF00"/>
                </a:highlight>
                <a:latin typeface="Consolas" panose="020B0609020204030204" pitchFamily="49" charset="0"/>
              </a:rPr>
              <a:t>fptr</a:t>
            </a:r>
            <a:r>
              <a:rPr lang="en-US" altLang="zh-TW" sz="2000" b="0">
                <a:highlight>
                  <a:srgbClr val="00FF00"/>
                </a:highlight>
                <a:latin typeface="Consolas" panose="020B0609020204030204" pitchFamily="49" charset="0"/>
              </a:rPr>
              <a:t>, </a:t>
            </a:r>
            <a:r>
              <a:rPr lang="en-US" altLang="zh-TW" sz="2000" b="0">
                <a:solidFill>
                  <a:srgbClr val="0099FF"/>
                </a:solidFill>
                <a:highlight>
                  <a:srgbClr val="00FF00"/>
                </a:highlight>
                <a:latin typeface="Consolas" panose="020B0609020204030204" pitchFamily="49" charset="0"/>
              </a:rPr>
              <a:t>"%d "</a:t>
            </a:r>
            <a:r>
              <a:rPr lang="en-US" altLang="zh-TW" sz="2000" b="0">
                <a:highlight>
                  <a:srgbClr val="00FF00"/>
                </a:highlight>
                <a:latin typeface="Consolas" panose="020B0609020204030204" pitchFamily="49" charset="0"/>
              </a:rPr>
              <a:t>, </a:t>
            </a:r>
            <a:r>
              <a:rPr lang="en-US" altLang="zh-TW" sz="2000" b="0" err="1">
                <a:highlight>
                  <a:srgbClr val="00FF00"/>
                </a:highlight>
                <a:latin typeface="Consolas" panose="020B0609020204030204" pitchFamily="49" charset="0"/>
              </a:rPr>
              <a:t>i</a:t>
            </a:r>
            <a:r>
              <a:rPr lang="en-US" altLang="zh-TW" sz="2000" b="0">
                <a:highlight>
                  <a:srgbClr val="00FF00"/>
                </a:highlight>
                <a:latin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latin typeface="Consolas" panose="020B0609020204030204" pitchFamily="49" charset="0"/>
              </a:rPr>
              <a:t>    </a:t>
            </a:r>
            <a:r>
              <a:rPr lang="en-US" altLang="zh-TW" sz="2000" b="0" err="1">
                <a:highlight>
                  <a:srgbClr val="00FF00"/>
                </a:highlight>
                <a:latin typeface="Consolas" panose="020B0609020204030204" pitchFamily="49" charset="0"/>
              </a:rPr>
              <a:t>fprintf</a:t>
            </a:r>
            <a:r>
              <a:rPr lang="en-US" altLang="zh-TW" sz="2000" b="0">
                <a:highlight>
                  <a:srgbClr val="00FF00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2000" b="0" err="1">
                <a:highlight>
                  <a:srgbClr val="00FF00"/>
                </a:highlight>
                <a:latin typeface="Consolas" panose="020B0609020204030204" pitchFamily="49" charset="0"/>
              </a:rPr>
              <a:t>fptr</a:t>
            </a:r>
            <a:r>
              <a:rPr lang="en-US" altLang="zh-TW" sz="2000" b="0">
                <a:highlight>
                  <a:srgbClr val="00FF00"/>
                </a:highlight>
                <a:latin typeface="Consolas" panose="020B0609020204030204" pitchFamily="49" charset="0"/>
              </a:rPr>
              <a:t>, </a:t>
            </a:r>
            <a:r>
              <a:rPr lang="en-US" altLang="zh-TW" sz="2000" b="0">
                <a:solidFill>
                  <a:srgbClr val="0099FF"/>
                </a:solidFill>
                <a:highlight>
                  <a:srgbClr val="00FF00"/>
                </a:highlight>
                <a:latin typeface="Consolas" panose="020B0609020204030204" pitchFamily="49" charset="0"/>
              </a:rPr>
              <a:t>"\n"</a:t>
            </a:r>
            <a:r>
              <a:rPr lang="en-US" altLang="zh-TW" sz="2000" b="0">
                <a:highlight>
                  <a:srgbClr val="00FF00"/>
                </a:highlight>
                <a:latin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latin typeface="Consolas" panose="020B0609020204030204" pitchFamily="49" charset="0"/>
              </a:rPr>
              <a:t>   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latin typeface="Consolas" panose="020B0609020204030204" pitchFamily="49" charset="0"/>
              </a:rPr>
              <a:t>    </a:t>
            </a:r>
            <a:r>
              <a:rPr lang="en-US" altLang="zh-TW" sz="2000" b="0" err="1">
                <a:solidFill>
                  <a:srgbClr val="C00000"/>
                </a:solidFill>
                <a:latin typeface="Consolas" panose="020B0609020204030204" pitchFamily="49" charset="0"/>
              </a:rPr>
              <a:t>fclose</a:t>
            </a:r>
            <a:r>
              <a:rPr lang="en-US" altLang="zh-TW" sz="2000" b="0">
                <a:latin typeface="Consolas" panose="020B0609020204030204" pitchFamily="49" charset="0"/>
              </a:rPr>
              <a:t>(</a:t>
            </a:r>
            <a:r>
              <a:rPr lang="en-US" altLang="zh-TW" sz="2000" b="0" err="1">
                <a:latin typeface="Consolas" panose="020B0609020204030204" pitchFamily="49" charset="0"/>
              </a:rPr>
              <a:t>fptr</a:t>
            </a:r>
            <a:r>
              <a:rPr lang="en-US" altLang="zh-TW" sz="2000" b="0">
                <a:latin typeface="Consolas" panose="020B0609020204030204" pitchFamily="49" charset="0"/>
              </a:rPr>
              <a:t>); </a:t>
            </a:r>
            <a:r>
              <a:rPr lang="en-US" altLang="zh-TW" sz="2000" b="0">
                <a:solidFill>
                  <a:srgbClr val="008000"/>
                </a:solidFill>
                <a:latin typeface="Consolas" panose="020B0609020204030204" pitchFamily="49" charset="0"/>
              </a:rPr>
              <a:t>// close file</a:t>
            </a:r>
            <a:endParaRPr lang="en-US" altLang="zh-TW" sz="2000" b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0000FF"/>
                </a:solidFill>
                <a:latin typeface="Consolas" panose="020B0609020204030204" pitchFamily="49" charset="0"/>
              </a:rPr>
              <a:t>    return</a:t>
            </a:r>
            <a:r>
              <a:rPr kumimoji="0" lang="en-US" altLang="zh-TW" sz="2000" b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kumimoji="0" lang="en-US" altLang="zh-TW" sz="2000" b="0">
                <a:solidFill>
                  <a:srgbClr val="0099FF"/>
                </a:solidFill>
                <a:latin typeface="Consolas" panose="020B0609020204030204" pitchFamily="49" charset="0"/>
              </a:rPr>
              <a:t>0</a:t>
            </a:r>
            <a:r>
              <a:rPr kumimoji="0" lang="en-US" altLang="zh-TW" sz="2000" b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08547" name="Rectangle 3"/>
          <p:cNvSpPr>
            <a:spLocks noChangeArrowheads="1"/>
          </p:cNvSpPr>
          <p:nvPr/>
        </p:nvSpPr>
        <p:spPr bwMode="auto">
          <a:xfrm>
            <a:off x="4763" y="990600"/>
            <a:ext cx="461962" cy="54102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Ins="0"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2</a:t>
            </a:r>
            <a:endParaRPr kumimoji="0" lang="en-US" altLang="zh-TW" sz="2000" b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3</a:t>
            </a:r>
            <a:endParaRPr kumimoji="0" lang="en-US" altLang="zh-TW" sz="2000" b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4</a:t>
            </a:r>
            <a:endParaRPr kumimoji="0" lang="en-US" altLang="zh-TW" sz="2000" b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12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13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1415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16</a:t>
            </a:r>
            <a:endParaRPr kumimoji="0" lang="en-US" altLang="zh-TW" sz="2000" b="0">
              <a:solidFill>
                <a:srgbClr val="5F5F5F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70338" y="76200"/>
            <a:ext cx="8921262" cy="838200"/>
          </a:xfrm>
        </p:spPr>
        <p:txBody>
          <a:bodyPr>
            <a:normAutofit/>
          </a:bodyPr>
          <a:lstStyle/>
          <a:p>
            <a:r>
              <a:rPr lang="en-US" altLang="zh-TW"/>
              <a:t>Example #5: Writing data to a file</a:t>
            </a:r>
            <a:endParaRPr lang="en-US" altLang="zh-TW" sz="3000"/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4419600" y="1295401"/>
            <a:ext cx="4627878" cy="1676400"/>
          </a:xfrm>
          <a:prstGeom prst="rect">
            <a:avLst/>
          </a:prstGeom>
          <a:solidFill>
            <a:srgbClr val="CCFFCC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50000"/>
              </a:spcBef>
            </a:pPr>
            <a:r>
              <a:rPr lang="en-US" altLang="zh-TW" sz="2400" err="1">
                <a:latin typeface="Consolas" panose="020B0609020204030204" pitchFamily="49" charset="0"/>
                <a:cs typeface="Consolas" panose="020B0609020204030204" pitchFamily="49" charset="0"/>
              </a:rPr>
              <a:t>fprintf</a:t>
            </a:r>
            <a:r>
              <a:rPr lang="en-US" altLang="zh-TW" sz="2400"/>
              <a:t> behaves like </a:t>
            </a:r>
            <a:r>
              <a:rPr lang="en-US" altLang="zh-TW" sz="2400" err="1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lang="en-US" altLang="zh-TW" sz="240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en-US" altLang="zh-TW" sz="2400"/>
              <a:t> except that </a:t>
            </a:r>
            <a:r>
              <a:rPr lang="en-US" altLang="zh-TW" sz="2400" err="1">
                <a:latin typeface="Consolas" panose="020B0609020204030204" pitchFamily="49" charset="0"/>
                <a:cs typeface="Consolas" panose="020B0609020204030204" pitchFamily="49" charset="0"/>
              </a:rPr>
              <a:t>fprintf</a:t>
            </a:r>
            <a:r>
              <a:rPr lang="en-US" altLang="zh-TW" sz="240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en-US" altLang="zh-TW" sz="2400"/>
              <a:t> requires a "file pointer variable" as its first argument.</a:t>
            </a:r>
          </a:p>
        </p:txBody>
      </p:sp>
    </p:spTree>
    <p:extLst>
      <p:ext uri="{BB962C8B-B14F-4D97-AF65-F5344CB8AC3E}">
        <p14:creationId xmlns:p14="http://schemas.microsoft.com/office/powerpoint/2010/main" val="251575191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338" y="76200"/>
            <a:ext cx="8997462" cy="838200"/>
          </a:xfrm>
        </p:spPr>
        <p:txBody>
          <a:bodyPr>
            <a:noAutofit/>
          </a:bodyPr>
          <a:lstStyle/>
          <a:p>
            <a:r>
              <a:rPr lang="en-US" altLang="zh-TW" sz="3200" b="1"/>
              <a:t>Example #6: Dealing with multiple files in a program.</a:t>
            </a:r>
            <a:endParaRPr lang="en-US" sz="3200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0747" y="3505200"/>
            <a:ext cx="8932985" cy="2743200"/>
          </a:xfrm>
        </p:spPr>
        <p:txBody>
          <a:bodyPr>
            <a:normAutofit/>
          </a:bodyPr>
          <a:lstStyle/>
          <a:p>
            <a:r>
              <a:rPr lang="en-US" sz="2800" b="1"/>
              <a:t>Objective</a:t>
            </a:r>
            <a:r>
              <a:rPr lang="en-US" sz="2800"/>
              <a:t>: Read the data from "input.txt" and output the result as shown above to "output.txt".</a:t>
            </a:r>
          </a:p>
          <a:p>
            <a:endParaRPr lang="en-US" sz="2800"/>
          </a:p>
          <a:p>
            <a:r>
              <a:rPr lang="en-US" sz="2800"/>
              <a:t>We assume the input file format is valid.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2177865" y="1600082"/>
            <a:ext cx="1331572" cy="167640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>
            <a:lvl1pPr eaLnBrk="0" hangingPunct="0"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eaLnBrk="0" hangingPunct="0"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eaLnBrk="0" hangingPunct="0"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eaLnBrk="0" hangingPunct="0"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eaLnBrk="0" hangingPunct="0"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 altLang="en-US" sz="2000" b="0">
                <a:latin typeface="Consolas" panose="020B0609020204030204" pitchFamily="49" charset="0"/>
              </a:rPr>
              <a:t>10</a:t>
            </a:r>
            <a:endParaRPr kumimoji="0" lang="en-US" altLang="en-US" sz="2000" b="0">
              <a:latin typeface="Consolas" panose="020B0609020204030204" pitchFamily="49" charset="0"/>
            </a:endParaRPr>
          </a:p>
          <a:p>
            <a:pPr eaLnBrk="1" hangingPunct="1"/>
            <a:r>
              <a:rPr lang="en-US" altLang="en-US" sz="2000" b="0">
                <a:latin typeface="Consolas" panose="020B0609020204030204" pitchFamily="49" charset="0"/>
              </a:rPr>
              <a:t>456 </a:t>
            </a:r>
            <a:r>
              <a:rPr kumimoji="0" lang="en-US" altLang="en-US" sz="2000" b="0">
                <a:latin typeface="Consolas" panose="020B0609020204030204" pitchFamily="49" charset="0"/>
              </a:rPr>
              <a:t>333</a:t>
            </a:r>
          </a:p>
          <a:p>
            <a:pPr eaLnBrk="1" hangingPunct="1"/>
            <a:r>
              <a:rPr lang="en-US" altLang="en-US" sz="2000" b="0">
                <a:latin typeface="Consolas" panose="020B0609020204030204" pitchFamily="49" charset="0"/>
              </a:rPr>
              <a:t>10 23</a:t>
            </a:r>
          </a:p>
          <a:p>
            <a:pPr eaLnBrk="1" hangingPunct="1"/>
            <a:r>
              <a:rPr kumimoji="0" lang="en-US" altLang="en-US" sz="2000" b="0">
                <a:latin typeface="Consolas" panose="020B0609020204030204" pitchFamily="49" charset="0"/>
              </a:rPr>
              <a:t>571 323</a:t>
            </a:r>
          </a:p>
          <a:p>
            <a:pPr eaLnBrk="1" hangingPunct="1"/>
            <a:r>
              <a:rPr lang="en-US" altLang="en-US" sz="2000" b="0">
                <a:latin typeface="Consolas" panose="020B0609020204030204" pitchFamily="49" charset="0"/>
              </a:rPr>
              <a:t>…</a:t>
            </a:r>
            <a:endParaRPr kumimoji="0" lang="en-US" altLang="en-US" sz="2000" b="0">
              <a:latin typeface="Consolas" panose="020B0609020204030204" pitchFamily="49" charset="0"/>
            </a:endParaRPr>
          </a:p>
          <a:p>
            <a:pPr eaLnBrk="1" hangingPunct="1"/>
            <a:endParaRPr kumimoji="0" lang="en-US" altLang="en-US" sz="2000" b="0">
              <a:latin typeface="Consolas" panose="020B0609020204030204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531056" y="1193851"/>
            <a:ext cx="11326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output.txt</a:t>
            </a:r>
          </a:p>
        </p:txBody>
      </p:sp>
      <p:sp>
        <p:nvSpPr>
          <p:cNvPr id="7" name="Right Brace 6"/>
          <p:cNvSpPr/>
          <p:nvPr/>
        </p:nvSpPr>
        <p:spPr>
          <a:xfrm>
            <a:off x="3509437" y="1981082"/>
            <a:ext cx="493373" cy="1295400"/>
          </a:xfrm>
          <a:prstGeom prst="righ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1722855" y="1747402"/>
            <a:ext cx="571500" cy="70366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78579" y="1198484"/>
            <a:ext cx="14299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# of data sets in the file (N)</a:t>
            </a:r>
          </a:p>
        </p:txBody>
      </p:sp>
      <p:cxnSp>
        <p:nvCxnSpPr>
          <p:cNvPr id="16" name="Straight Arrow Connector 15"/>
          <p:cNvCxnSpPr/>
          <p:nvPr/>
        </p:nvCxnSpPr>
        <p:spPr>
          <a:xfrm flipV="1">
            <a:off x="1722855" y="2122570"/>
            <a:ext cx="457199" cy="386832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78578" y="1981082"/>
            <a:ext cx="15442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Each row contains one set of data (two integers)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12828" y="2411950"/>
            <a:ext cx="9585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N rows</a:t>
            </a:r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7499328" y="1577224"/>
            <a:ext cx="1331572" cy="1676400"/>
          </a:xfrm>
          <a:prstGeom prst="rect">
            <a:avLst/>
          </a:prstGeom>
          <a:solidFill>
            <a:srgbClr val="FFFFCC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>
            <a:lvl1pPr eaLnBrk="0" hangingPunct="0"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eaLnBrk="0" hangingPunct="0"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eaLnBrk="0" hangingPunct="0"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eaLnBrk="0" hangingPunct="0"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eaLnBrk="0" hangingPunct="0"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61963" algn="l"/>
                <a:tab pos="1025525" algn="l"/>
                <a:tab pos="160655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/>
            <a:r>
              <a:rPr lang="en-US" altLang="en-US" sz="2000" b="0">
                <a:latin typeface="Consolas" panose="020B0609020204030204" pitchFamily="49" charset="0"/>
              </a:rPr>
              <a:t>10</a:t>
            </a:r>
            <a:endParaRPr kumimoji="0" lang="en-US" altLang="en-US" sz="2000" b="0">
              <a:latin typeface="Consolas" panose="020B0609020204030204" pitchFamily="49" charset="0"/>
            </a:endParaRPr>
          </a:p>
          <a:p>
            <a:pPr eaLnBrk="1" hangingPunct="1"/>
            <a:r>
              <a:rPr lang="en-US" altLang="en-US" sz="2000" b="0">
                <a:latin typeface="Consolas" panose="020B0609020204030204" pitchFamily="49" charset="0"/>
              </a:rPr>
              <a:t>456</a:t>
            </a:r>
            <a:endParaRPr kumimoji="0" lang="en-US" altLang="en-US" sz="2000" b="0">
              <a:latin typeface="Consolas" panose="020B0609020204030204" pitchFamily="49" charset="0"/>
            </a:endParaRPr>
          </a:p>
          <a:p>
            <a:pPr eaLnBrk="1" hangingPunct="1"/>
            <a:r>
              <a:rPr lang="en-US" altLang="en-US" sz="2000" b="0">
                <a:latin typeface="Consolas" panose="020B0609020204030204" pitchFamily="49" charset="0"/>
              </a:rPr>
              <a:t>23</a:t>
            </a:r>
          </a:p>
          <a:p>
            <a:pPr eaLnBrk="1" hangingPunct="1"/>
            <a:r>
              <a:rPr kumimoji="0" lang="en-US" altLang="en-US" sz="2000" b="0">
                <a:latin typeface="Consolas" panose="020B0609020204030204" pitchFamily="49" charset="0"/>
              </a:rPr>
              <a:t>571</a:t>
            </a:r>
          </a:p>
          <a:p>
            <a:pPr eaLnBrk="1" hangingPunct="1"/>
            <a:r>
              <a:rPr lang="en-US" altLang="en-US" sz="2000" b="0">
                <a:latin typeface="Consolas" panose="020B0609020204030204" pitchFamily="49" charset="0"/>
              </a:rPr>
              <a:t>…</a:t>
            </a:r>
            <a:endParaRPr kumimoji="0" lang="en-US" altLang="en-US" sz="2000" b="0">
              <a:latin typeface="Consolas" panose="020B0609020204030204" pitchFamily="49" charset="0"/>
            </a:endParaRPr>
          </a:p>
          <a:p>
            <a:pPr eaLnBrk="1" hangingPunct="1"/>
            <a:endParaRPr kumimoji="0" lang="en-US" altLang="en-US" sz="2000" b="0">
              <a:latin typeface="Consolas" panose="020B0609020204030204" pitchFamily="49" charset="0"/>
            </a:endParaRPr>
          </a:p>
        </p:txBody>
      </p:sp>
      <p:cxnSp>
        <p:nvCxnSpPr>
          <p:cNvPr id="25" name="Straight Arrow Connector 24"/>
          <p:cNvCxnSpPr/>
          <p:nvPr/>
        </p:nvCxnSpPr>
        <p:spPr>
          <a:xfrm flipV="1">
            <a:off x="7032889" y="2027867"/>
            <a:ext cx="457199" cy="386832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562601" y="1844814"/>
            <a:ext cx="166840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Each row contains the largest number of a data set in input.txt.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4971373" y="2295506"/>
            <a:ext cx="438827" cy="48577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/>
          <p:cNvSpPr txBox="1"/>
          <p:nvPr/>
        </p:nvSpPr>
        <p:spPr>
          <a:xfrm>
            <a:off x="2239611" y="1227038"/>
            <a:ext cx="9915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input.txt</a:t>
            </a:r>
          </a:p>
        </p:txBody>
      </p:sp>
      <p:cxnSp>
        <p:nvCxnSpPr>
          <p:cNvPr id="29" name="Straight Arrow Connector 28"/>
          <p:cNvCxnSpPr/>
          <p:nvPr/>
        </p:nvCxnSpPr>
        <p:spPr>
          <a:xfrm>
            <a:off x="6952342" y="1655844"/>
            <a:ext cx="571500" cy="70366"/>
          </a:xfrm>
          <a:prstGeom prst="straightConnector1">
            <a:avLst/>
          </a:prstGeom>
          <a:ln w="285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408066" y="1106926"/>
            <a:ext cx="14299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# of data sets in the file (N)</a:t>
            </a:r>
          </a:p>
        </p:txBody>
      </p:sp>
    </p:spTree>
    <p:extLst>
      <p:ext uri="{BB962C8B-B14F-4D97-AF65-F5344CB8AC3E}">
        <p14:creationId xmlns:p14="http://schemas.microsoft.com/office/powerpoint/2010/main" val="3276479647"/>
      </p:ext>
    </p:extLst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DDE72-8E1C-48AE-AAB0-105C85EE517D}" type="slidenum">
              <a:rPr lang="zh-TW" altLang="en-US"/>
              <a:pPr/>
              <a:t>22</a:t>
            </a:fld>
            <a:endParaRPr lang="en-US" altLang="zh-TW"/>
          </a:p>
        </p:txBody>
      </p:sp>
      <p:sp>
        <p:nvSpPr>
          <p:cNvPr id="108546" name="Rectangle 2"/>
          <p:cNvSpPr>
            <a:spLocks noChangeArrowheads="1"/>
          </p:cNvSpPr>
          <p:nvPr/>
        </p:nvSpPr>
        <p:spPr bwMode="auto">
          <a:xfrm>
            <a:off x="466725" y="990600"/>
            <a:ext cx="8677275" cy="5410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latin typeface="Consolas" panose="020B0609020204030204" pitchFamily="49" charset="0"/>
              </a:rPr>
              <a:t>#include &lt;</a:t>
            </a:r>
            <a:r>
              <a:rPr kumimoji="0" lang="en-US" altLang="zh-TW" sz="2000" b="0" err="1">
                <a:latin typeface="Consolas" panose="020B0609020204030204" pitchFamily="49" charset="0"/>
              </a:rPr>
              <a:t>stdio.h</a:t>
            </a:r>
            <a:r>
              <a:rPr kumimoji="0" lang="en-US" altLang="zh-TW" sz="2000" b="0">
                <a:latin typeface="Consolas" panose="020B0609020204030204" pitchFamily="49" charset="0"/>
              </a:rPr>
              <a:t>&gt;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000000"/>
                </a:solidFill>
                <a:latin typeface="Consolas" panose="020B0609020204030204" pitchFamily="49" charset="0"/>
              </a:rPr>
              <a:t>#include &lt;</a:t>
            </a:r>
            <a:r>
              <a:rPr kumimoji="0" lang="en-US" altLang="zh-TW" sz="2000" b="0" err="1">
                <a:solidFill>
                  <a:srgbClr val="000000"/>
                </a:solidFill>
                <a:latin typeface="Consolas" panose="020B0609020204030204" pitchFamily="49" charset="0"/>
              </a:rPr>
              <a:t>stdlib.h</a:t>
            </a:r>
            <a:r>
              <a:rPr kumimoji="0" lang="en-US" altLang="zh-TW" sz="2000" b="0">
                <a:solidFill>
                  <a:srgbClr val="000000"/>
                </a:solidFill>
                <a:latin typeface="Consolas" panose="020B0609020204030204" pitchFamily="49" charset="0"/>
              </a:rPr>
              <a:t>&gt;</a:t>
            </a:r>
          </a:p>
          <a:p>
            <a:pPr eaLnBrk="1" hangingPunct="1">
              <a:lnSpc>
                <a:spcPct val="110000"/>
              </a:lnSpc>
            </a:pPr>
            <a:endParaRPr kumimoji="0" lang="en-US" altLang="zh-TW" sz="2000" b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kumimoji="0" lang="en-US" altLang="zh-TW" sz="2000" b="0">
                <a:solidFill>
                  <a:srgbClr val="000000"/>
                </a:solidFill>
                <a:latin typeface="Consolas" panose="020B0609020204030204" pitchFamily="49" charset="0"/>
              </a:rPr>
              <a:t> main(</a:t>
            </a:r>
            <a:r>
              <a:rPr lang="en-US" altLang="zh-TW" sz="2000" b="0">
                <a:solidFill>
                  <a:srgbClr val="0000FF"/>
                </a:solidFill>
                <a:latin typeface="Consolas" panose="020B0609020204030204" pitchFamily="49" charset="0"/>
              </a:rPr>
              <a:t>void</a:t>
            </a:r>
            <a:r>
              <a:rPr kumimoji="0" lang="en-US" altLang="zh-TW" sz="2000" b="0">
                <a:solidFill>
                  <a:srgbClr val="000000"/>
                </a:solidFill>
                <a:latin typeface="Consolas" panose="020B0609020204030204" pitchFamily="49" charset="0"/>
              </a:rPr>
              <a:t>) {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0000FF"/>
                </a:solidFill>
                <a:latin typeface="Consolas" panose="020B0609020204030204" pitchFamily="49" charset="0"/>
              </a:rPr>
              <a:t>    </a:t>
            </a:r>
            <a:r>
              <a:rPr lang="en-US" altLang="zh-TW" sz="2000" b="0">
                <a:highlight>
                  <a:srgbClr val="00FFFF"/>
                </a:highlight>
                <a:latin typeface="Consolas" panose="020B0609020204030204" pitchFamily="49" charset="0"/>
              </a:rPr>
              <a:t>FILE *</a:t>
            </a:r>
            <a:r>
              <a:rPr lang="en-US" altLang="zh-TW" sz="2000" b="0">
                <a:highlight>
                  <a:srgbClr val="00FF00"/>
                </a:highlight>
                <a:latin typeface="Consolas" panose="020B0609020204030204" pitchFamily="49" charset="0"/>
              </a:rPr>
              <a:t>fin</a:t>
            </a:r>
            <a:r>
              <a:rPr lang="en-US" altLang="zh-TW" sz="2000" b="0">
                <a:latin typeface="Consolas" panose="020B0609020204030204" pitchFamily="49" charset="0"/>
              </a:rPr>
              <a:t>, </a:t>
            </a:r>
            <a:r>
              <a:rPr lang="en-US" altLang="zh-TW" sz="2000" b="0">
                <a:highlight>
                  <a:srgbClr val="00FFFF"/>
                </a:highlight>
                <a:latin typeface="Consolas" panose="020B0609020204030204" pitchFamily="49" charset="0"/>
              </a:rPr>
              <a:t>*</a:t>
            </a:r>
            <a:r>
              <a:rPr lang="en-US" altLang="zh-TW" sz="2000" b="0" err="1">
                <a:highlight>
                  <a:srgbClr val="FFFF00"/>
                </a:highlight>
                <a:latin typeface="Consolas" panose="020B0609020204030204" pitchFamily="49" charset="0"/>
              </a:rPr>
              <a:t>fout</a:t>
            </a:r>
            <a:r>
              <a:rPr lang="en-US" altLang="zh-TW" sz="2000" b="0">
                <a:latin typeface="Consolas" panose="020B0609020204030204" pitchFamily="49" charset="0"/>
              </a:rPr>
              <a:t>;   </a:t>
            </a:r>
            <a:r>
              <a:rPr lang="en-US" altLang="zh-TW" sz="2000" b="0">
                <a:solidFill>
                  <a:srgbClr val="008000"/>
                </a:solidFill>
                <a:latin typeface="Consolas" panose="020B0609020204030204" pitchFamily="49" charset="0"/>
              </a:rPr>
              <a:t>// For input and output streams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0000FF"/>
                </a:solidFill>
                <a:latin typeface="Consolas" panose="020B0609020204030204" pitchFamily="49" charset="0"/>
              </a:rPr>
              <a:t>    int</a:t>
            </a:r>
            <a:r>
              <a:rPr kumimoji="0" lang="en-US" altLang="zh-TW" sz="2000" b="0">
                <a:latin typeface="Consolas" panose="020B0609020204030204" pitchFamily="49" charset="0"/>
              </a:rPr>
              <a:t> </a:t>
            </a:r>
            <a:r>
              <a:rPr lang="en-US" altLang="zh-TW" sz="2000" b="0" err="1">
                <a:latin typeface="Consolas" panose="020B0609020204030204" pitchFamily="49" charset="0"/>
              </a:rPr>
              <a:t>i</a:t>
            </a:r>
            <a:r>
              <a:rPr kumimoji="0" lang="en-US" altLang="zh-TW" sz="2000" b="0">
                <a:latin typeface="Consolas" panose="020B0609020204030204" pitchFamily="49" charset="0"/>
              </a:rPr>
              <a:t>, </a:t>
            </a:r>
            <a:r>
              <a:rPr lang="en-US" altLang="zh-TW" sz="2000" b="0">
                <a:latin typeface="Consolas" panose="020B0609020204030204" pitchFamily="49" charset="0"/>
              </a:rPr>
              <a:t>N, n</a:t>
            </a:r>
            <a:r>
              <a:rPr kumimoji="0" lang="en-US" altLang="zh-TW" sz="2000" b="0">
                <a:latin typeface="Consolas" panose="020B0609020204030204" pitchFamily="49" charset="0"/>
              </a:rPr>
              <a:t>um1, num2, max;</a:t>
            </a:r>
          </a:p>
          <a:p>
            <a:pPr eaLnBrk="1" hangingPunct="1">
              <a:lnSpc>
                <a:spcPct val="110000"/>
              </a:lnSpc>
            </a:pPr>
            <a:endParaRPr kumimoji="0" lang="en-US" altLang="zh-TW" sz="2000" b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latin typeface="Consolas" panose="020B0609020204030204" pitchFamily="49" charset="0"/>
              </a:rPr>
              <a:t>    </a:t>
            </a:r>
            <a:r>
              <a:rPr lang="en-US" altLang="zh-TW" sz="2000" b="0">
                <a:highlight>
                  <a:srgbClr val="00FF00"/>
                </a:highlight>
                <a:latin typeface="Consolas" panose="020B0609020204030204" pitchFamily="49" charset="0"/>
              </a:rPr>
              <a:t>fin</a:t>
            </a:r>
            <a:r>
              <a:rPr lang="en-US" altLang="zh-TW" sz="2000" b="0">
                <a:latin typeface="Consolas" panose="020B0609020204030204" pitchFamily="49" charset="0"/>
              </a:rPr>
              <a:t> = </a:t>
            </a:r>
            <a:r>
              <a:rPr lang="en-US" altLang="zh-TW" sz="2000" b="0" err="1">
                <a:latin typeface="Consolas" panose="020B0609020204030204" pitchFamily="49" charset="0"/>
              </a:rPr>
              <a:t>fopen</a:t>
            </a:r>
            <a:r>
              <a:rPr lang="en-US" altLang="zh-TW" sz="2000" b="0">
                <a:latin typeface="Consolas" panose="020B0609020204030204" pitchFamily="49" charset="0"/>
              </a:rPr>
              <a:t>(</a:t>
            </a:r>
            <a:r>
              <a:rPr lang="en-US" altLang="zh-TW" sz="2000" b="0">
                <a:solidFill>
                  <a:srgbClr val="0099FF"/>
                </a:solidFill>
                <a:latin typeface="Consolas" panose="020B0609020204030204" pitchFamily="49" charset="0"/>
              </a:rPr>
              <a:t>"input.txt"</a:t>
            </a:r>
            <a:r>
              <a:rPr lang="en-US" altLang="zh-TW" sz="2000" b="0">
                <a:latin typeface="Consolas" panose="020B0609020204030204" pitchFamily="49" charset="0"/>
              </a:rPr>
              <a:t>, </a:t>
            </a:r>
            <a:r>
              <a:rPr lang="en-US" altLang="zh-TW" sz="2000" b="0">
                <a:solidFill>
                  <a:srgbClr val="0099FF"/>
                </a:solidFill>
                <a:highlight>
                  <a:srgbClr val="00FF00"/>
                </a:highlight>
                <a:latin typeface="Consolas" panose="020B0609020204030204" pitchFamily="49" charset="0"/>
              </a:rPr>
              <a:t>"r"</a:t>
            </a:r>
            <a:r>
              <a:rPr lang="en-US" altLang="zh-TW" sz="2000" b="0">
                <a:latin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latin typeface="Consolas" panose="020B0609020204030204" pitchFamily="49" charset="0"/>
              </a:rPr>
              <a:t>    </a:t>
            </a:r>
            <a:r>
              <a:rPr lang="en-US" altLang="zh-TW" sz="2000" b="0" err="1">
                <a:highlight>
                  <a:srgbClr val="FFFF00"/>
                </a:highlight>
                <a:latin typeface="Consolas" panose="020B0609020204030204" pitchFamily="49" charset="0"/>
              </a:rPr>
              <a:t>fout</a:t>
            </a:r>
            <a:r>
              <a:rPr lang="en-US" altLang="zh-TW" sz="2000" b="0">
                <a:latin typeface="Consolas" panose="020B0609020204030204" pitchFamily="49" charset="0"/>
              </a:rPr>
              <a:t> = </a:t>
            </a:r>
            <a:r>
              <a:rPr lang="en-US" altLang="zh-TW" sz="2000" b="0" err="1">
                <a:latin typeface="Consolas" panose="020B0609020204030204" pitchFamily="49" charset="0"/>
              </a:rPr>
              <a:t>fopen</a:t>
            </a:r>
            <a:r>
              <a:rPr lang="en-US" altLang="zh-TW" sz="2000" b="0">
                <a:latin typeface="Consolas" panose="020B0609020204030204" pitchFamily="49" charset="0"/>
              </a:rPr>
              <a:t>(</a:t>
            </a:r>
            <a:r>
              <a:rPr lang="en-US" altLang="zh-TW" sz="2000" b="0">
                <a:solidFill>
                  <a:srgbClr val="0099FF"/>
                </a:solidFill>
                <a:latin typeface="Consolas" panose="020B0609020204030204" pitchFamily="49" charset="0"/>
              </a:rPr>
              <a:t>"output.txt"</a:t>
            </a:r>
            <a:r>
              <a:rPr lang="en-US" altLang="zh-TW" sz="2000" b="0">
                <a:latin typeface="Consolas" panose="020B0609020204030204" pitchFamily="49" charset="0"/>
              </a:rPr>
              <a:t>, </a:t>
            </a:r>
            <a:r>
              <a:rPr lang="en-US" altLang="zh-TW" sz="2000" b="0">
                <a:solidFill>
                  <a:srgbClr val="0099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"w"</a:t>
            </a:r>
            <a:r>
              <a:rPr lang="en-US" altLang="zh-TW" sz="2000" b="0">
                <a:latin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110000"/>
              </a:lnSpc>
            </a:pPr>
            <a:endParaRPr lang="en-US" altLang="zh-TW" sz="2000" b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latin typeface="Consolas" panose="020B0609020204030204" pitchFamily="49" charset="0"/>
              </a:rPr>
              <a:t>    </a:t>
            </a:r>
            <a:r>
              <a:rPr lang="en-US" altLang="zh-TW" sz="2000" b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altLang="zh-TW" sz="2000" b="0">
                <a:latin typeface="Consolas" panose="020B0609020204030204" pitchFamily="49" charset="0"/>
              </a:rPr>
              <a:t> (fin == NULL || </a:t>
            </a:r>
            <a:r>
              <a:rPr lang="en-US" altLang="zh-TW" sz="2000" b="0" err="1">
                <a:latin typeface="Consolas" panose="020B0609020204030204" pitchFamily="49" charset="0"/>
              </a:rPr>
              <a:t>fout</a:t>
            </a:r>
            <a:r>
              <a:rPr lang="en-US" altLang="zh-TW" sz="2000" b="0">
                <a:latin typeface="Consolas" panose="020B0609020204030204" pitchFamily="49" charset="0"/>
              </a:rPr>
              <a:t> == NULL) {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latin typeface="Consolas" panose="020B0609020204030204" pitchFamily="49" charset="0"/>
              </a:rPr>
              <a:t>        </a:t>
            </a:r>
            <a:r>
              <a:rPr lang="en-US" altLang="zh-TW" sz="2000" b="0" err="1">
                <a:latin typeface="Consolas" panose="020B0609020204030204" pitchFamily="49" charset="0"/>
              </a:rPr>
              <a:t>printf</a:t>
            </a:r>
            <a:r>
              <a:rPr lang="en-US" altLang="zh-TW" sz="2000" b="0">
                <a:latin typeface="Consolas" panose="020B0609020204030204" pitchFamily="49" charset="0"/>
              </a:rPr>
              <a:t>(</a:t>
            </a:r>
            <a:r>
              <a:rPr lang="en-US" altLang="zh-TW" sz="2000" b="0">
                <a:solidFill>
                  <a:srgbClr val="0099FF"/>
                </a:solidFill>
                <a:latin typeface="Consolas" panose="020B0609020204030204" pitchFamily="49" charset="0"/>
              </a:rPr>
              <a:t>"Failed to open input or output file.\n"</a:t>
            </a:r>
            <a:r>
              <a:rPr lang="en-US" altLang="zh-TW" sz="2000" b="0">
                <a:latin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latin typeface="Consolas" panose="020B0609020204030204" pitchFamily="49" charset="0"/>
              </a:rPr>
              <a:t>        exit(</a:t>
            </a:r>
            <a:r>
              <a:rPr lang="en-US" altLang="zh-TW" sz="2000" b="0">
                <a:solidFill>
                  <a:srgbClr val="0099FF"/>
                </a:solidFill>
                <a:latin typeface="Consolas" panose="020B0609020204030204" pitchFamily="49" charset="0"/>
              </a:rPr>
              <a:t>1</a:t>
            </a:r>
            <a:r>
              <a:rPr lang="en-US" altLang="zh-TW" sz="2000" b="0">
                <a:latin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latin typeface="Consolas" panose="020B0609020204030204" pitchFamily="49" charset="0"/>
              </a:rPr>
              <a:t>    }</a:t>
            </a:r>
          </a:p>
        </p:txBody>
      </p:sp>
      <p:sp>
        <p:nvSpPr>
          <p:cNvPr id="108547" name="Rectangle 3"/>
          <p:cNvSpPr>
            <a:spLocks noChangeArrowheads="1"/>
          </p:cNvSpPr>
          <p:nvPr/>
        </p:nvSpPr>
        <p:spPr bwMode="auto">
          <a:xfrm>
            <a:off x="4763" y="990600"/>
            <a:ext cx="461962" cy="54102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Ins="0"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1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2</a:t>
            </a:r>
            <a:endParaRPr kumimoji="0" lang="en-US" altLang="zh-TW" sz="2000" b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3</a:t>
            </a:r>
            <a:endParaRPr kumimoji="0" lang="en-US" altLang="zh-TW" sz="2000" b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4</a:t>
            </a:r>
            <a:endParaRPr kumimoji="0" lang="en-US" altLang="zh-TW" sz="2000" b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5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6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7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8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9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10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11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12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13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1415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16</a:t>
            </a:r>
            <a:endParaRPr kumimoji="0" lang="en-US" altLang="zh-TW" sz="2000" b="0">
              <a:solidFill>
                <a:srgbClr val="5F5F5F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70338" y="76200"/>
            <a:ext cx="8921262" cy="838200"/>
          </a:xfrm>
        </p:spPr>
        <p:txBody>
          <a:bodyPr>
            <a:noAutofit/>
          </a:bodyPr>
          <a:lstStyle/>
          <a:p>
            <a:r>
              <a:rPr lang="en-US" altLang="zh-TW" sz="3200"/>
              <a:t>Example #6: Dealing with multiple files in a program.</a:t>
            </a:r>
            <a:endParaRPr lang="en-US" altLang="zh-TW" sz="2000"/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9E5733F1-F399-63E6-34EF-DF8BD9D206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86200" y="1143000"/>
            <a:ext cx="4778114" cy="1223010"/>
          </a:xfrm>
          <a:prstGeom prst="rect">
            <a:avLst/>
          </a:prstGeom>
          <a:solidFill>
            <a:srgbClr val="CCFFCC"/>
          </a:solidFill>
          <a:ln w="9525" algn="ctr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50000"/>
              </a:spcBef>
            </a:pPr>
            <a:r>
              <a:rPr lang="en-HK" altLang="zh-TW" sz="2400"/>
              <a:t>Note that </a:t>
            </a:r>
            <a:r>
              <a:rPr lang="en-HK" altLang="zh-TW" sz="2400">
                <a:highlight>
                  <a:srgbClr val="00FFFF"/>
                </a:highlight>
              </a:rPr>
              <a:t>*</a:t>
            </a:r>
            <a:r>
              <a:rPr lang="en-HK" altLang="zh-TW" sz="2400"/>
              <a:t> is needed for defining both </a:t>
            </a:r>
            <a:r>
              <a:rPr lang="en-HK" altLang="zh-TW" sz="2400">
                <a:solidFill>
                  <a:srgbClr val="0070C0"/>
                </a:solidFill>
              </a:rPr>
              <a:t>fin</a:t>
            </a:r>
            <a:r>
              <a:rPr lang="en-HK" altLang="zh-TW" sz="2400"/>
              <a:t> an </a:t>
            </a:r>
            <a:r>
              <a:rPr lang="en-HK" altLang="zh-TW" sz="2400" err="1">
                <a:solidFill>
                  <a:srgbClr val="0070C0"/>
                </a:solidFill>
              </a:rPr>
              <a:t>fout</a:t>
            </a:r>
            <a:r>
              <a:rPr lang="en-HK" altLang="zh-TW" sz="2400"/>
              <a:t>. This is a </a:t>
            </a:r>
            <a:r>
              <a:rPr lang="en-HK" altLang="zh-TW" sz="2400" b="1" i="1">
                <a:solidFill>
                  <a:schemeClr val="tx1">
                    <a:lumMod val="50000"/>
                    <a:lumOff val="50000"/>
                  </a:schemeClr>
                </a:solidFill>
              </a:rPr>
              <a:t>pointer</a:t>
            </a:r>
            <a:r>
              <a:rPr lang="en-HK" altLang="zh-TW" sz="2400"/>
              <a:t> syntax to be discussed later</a:t>
            </a:r>
            <a:r>
              <a:rPr lang="en-US" altLang="zh-TW" sz="240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642251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9DDE72-8E1C-48AE-AAB0-105C85EE517D}" type="slidenum">
              <a:rPr lang="zh-TW" altLang="en-US"/>
              <a:pPr/>
              <a:t>23</a:t>
            </a:fld>
            <a:endParaRPr lang="en-US" altLang="zh-TW"/>
          </a:p>
        </p:txBody>
      </p:sp>
      <p:sp>
        <p:nvSpPr>
          <p:cNvPr id="108546" name="Rectangle 2"/>
          <p:cNvSpPr>
            <a:spLocks noChangeArrowheads="1"/>
          </p:cNvSpPr>
          <p:nvPr/>
        </p:nvSpPr>
        <p:spPr bwMode="auto">
          <a:xfrm>
            <a:off x="466725" y="609600"/>
            <a:ext cx="8677275" cy="57912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latin typeface="Consolas" panose="020B0609020204030204" pitchFamily="49" charset="0"/>
              </a:rPr>
              <a:t>    </a:t>
            </a:r>
            <a:r>
              <a:rPr lang="en-US" altLang="zh-TW" sz="2000" b="0">
                <a:solidFill>
                  <a:srgbClr val="008000"/>
                </a:solidFill>
                <a:latin typeface="Consolas" panose="020B0609020204030204" pitchFamily="49" charset="0"/>
              </a:rPr>
              <a:t>// Read # of data sets from the input file and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008000"/>
                </a:solidFill>
                <a:latin typeface="Consolas" panose="020B0609020204030204" pitchFamily="49" charset="0"/>
              </a:rPr>
              <a:t>    // write the number to the output file</a:t>
            </a:r>
            <a:endParaRPr kumimoji="0" lang="en-US" altLang="zh-TW" sz="2000" b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latin typeface="Consolas" panose="020B0609020204030204" pitchFamily="49" charset="0"/>
              </a:rPr>
              <a:t>    </a:t>
            </a:r>
            <a:r>
              <a:rPr kumimoji="0" lang="en-US" altLang="zh-TW" sz="2000" b="0" err="1">
                <a:highlight>
                  <a:srgbClr val="00FF00"/>
                </a:highlight>
                <a:latin typeface="Consolas" panose="020B0609020204030204" pitchFamily="49" charset="0"/>
              </a:rPr>
              <a:t>fscanf</a:t>
            </a:r>
            <a:r>
              <a:rPr kumimoji="0" lang="en-US" altLang="zh-TW" sz="2000" b="0">
                <a:highlight>
                  <a:srgbClr val="00FF00"/>
                </a:highlight>
                <a:latin typeface="Consolas" panose="020B0609020204030204" pitchFamily="49" charset="0"/>
              </a:rPr>
              <a:t>(fin, </a:t>
            </a:r>
            <a:r>
              <a:rPr lang="en-US" altLang="zh-TW" sz="2000" b="0">
                <a:solidFill>
                  <a:srgbClr val="0099FF"/>
                </a:solidFill>
                <a:highlight>
                  <a:srgbClr val="00FF00"/>
                </a:highlight>
                <a:latin typeface="Consolas" panose="020B0609020204030204" pitchFamily="49" charset="0"/>
              </a:rPr>
              <a:t>"%d"</a:t>
            </a:r>
            <a:r>
              <a:rPr kumimoji="0" lang="en-US" altLang="zh-TW" sz="2000" b="0">
                <a:highlight>
                  <a:srgbClr val="00FF00"/>
                </a:highlight>
                <a:latin typeface="Consolas" panose="020B0609020204030204" pitchFamily="49" charset="0"/>
              </a:rPr>
              <a:t>, &amp;N);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latin typeface="Consolas" panose="020B0609020204030204" pitchFamily="49" charset="0"/>
              </a:rPr>
              <a:t>    </a:t>
            </a:r>
            <a:r>
              <a:rPr kumimoji="0" lang="en-US" altLang="zh-TW" sz="2000" b="0" err="1">
                <a:highlight>
                  <a:srgbClr val="FFFF00"/>
                </a:highlight>
                <a:latin typeface="Consolas" panose="020B0609020204030204" pitchFamily="49" charset="0"/>
              </a:rPr>
              <a:t>fprintf</a:t>
            </a:r>
            <a:r>
              <a:rPr kumimoji="0" lang="en-US" altLang="zh-TW" sz="2000" b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kumimoji="0" lang="en-US" altLang="zh-TW" sz="2000" b="0" err="1">
                <a:highlight>
                  <a:srgbClr val="FFFF00"/>
                </a:highlight>
                <a:latin typeface="Consolas" panose="020B0609020204030204" pitchFamily="49" charset="0"/>
              </a:rPr>
              <a:t>fout</a:t>
            </a:r>
            <a:r>
              <a:rPr kumimoji="0" lang="en-US" altLang="zh-TW" sz="2000" b="0">
                <a:highlight>
                  <a:srgbClr val="FFFF00"/>
                </a:highlight>
                <a:latin typeface="Consolas" panose="020B0609020204030204" pitchFamily="49" charset="0"/>
              </a:rPr>
              <a:t>, </a:t>
            </a:r>
            <a:r>
              <a:rPr lang="en-US" altLang="zh-TW" sz="2000" b="0">
                <a:solidFill>
                  <a:srgbClr val="0099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"%d\n"</a:t>
            </a:r>
            <a:r>
              <a:rPr kumimoji="0" lang="en-US" altLang="zh-TW" sz="2000" b="0">
                <a:highlight>
                  <a:srgbClr val="FFFF00"/>
                </a:highlight>
                <a:latin typeface="Consolas" panose="020B0609020204030204" pitchFamily="49" charset="0"/>
              </a:rPr>
              <a:t>, N);</a:t>
            </a:r>
            <a:r>
              <a:rPr kumimoji="0" lang="en-US" altLang="zh-TW" sz="2000" b="0">
                <a:latin typeface="Consolas" panose="020B0609020204030204" pitchFamily="49" charset="0"/>
              </a:rPr>
              <a:t> </a:t>
            </a:r>
          </a:p>
          <a:p>
            <a:pPr eaLnBrk="1" hangingPunct="1">
              <a:lnSpc>
                <a:spcPct val="110000"/>
              </a:lnSpc>
            </a:pPr>
            <a:endParaRPr kumimoji="0" lang="en-US" altLang="zh-TW" sz="2000" b="0"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latin typeface="Consolas" panose="020B0609020204030204" pitchFamily="49" charset="0"/>
              </a:rPr>
              <a:t>    </a:t>
            </a:r>
            <a:r>
              <a:rPr lang="en-US" altLang="zh-TW" sz="2000" b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altLang="zh-TW" sz="2000" b="0">
                <a:latin typeface="Consolas" panose="020B0609020204030204" pitchFamily="49" charset="0"/>
              </a:rPr>
              <a:t> (</a:t>
            </a:r>
            <a:r>
              <a:rPr lang="en-US" altLang="zh-TW" sz="2000" b="0" err="1">
                <a:latin typeface="Consolas" panose="020B0609020204030204" pitchFamily="49" charset="0"/>
              </a:rPr>
              <a:t>i</a:t>
            </a:r>
            <a:r>
              <a:rPr lang="en-US" altLang="zh-TW" sz="2000" b="0">
                <a:latin typeface="Consolas" panose="020B0609020204030204" pitchFamily="49" charset="0"/>
              </a:rPr>
              <a:t> = </a:t>
            </a:r>
            <a:r>
              <a:rPr lang="en-US" altLang="zh-TW" sz="2000" b="0">
                <a:solidFill>
                  <a:srgbClr val="0099FF"/>
                </a:solidFill>
                <a:latin typeface="Consolas" panose="020B0609020204030204" pitchFamily="49" charset="0"/>
              </a:rPr>
              <a:t>0</a:t>
            </a:r>
            <a:r>
              <a:rPr lang="en-US" altLang="zh-TW" sz="2000" b="0">
                <a:latin typeface="Consolas" panose="020B0609020204030204" pitchFamily="49" charset="0"/>
              </a:rPr>
              <a:t>; </a:t>
            </a:r>
            <a:r>
              <a:rPr lang="en-US" altLang="zh-TW" sz="2000" b="0" err="1">
                <a:latin typeface="Consolas" panose="020B0609020204030204" pitchFamily="49" charset="0"/>
              </a:rPr>
              <a:t>i</a:t>
            </a:r>
            <a:r>
              <a:rPr lang="en-US" altLang="zh-TW" sz="2000" b="0">
                <a:latin typeface="Consolas" panose="020B0609020204030204" pitchFamily="49" charset="0"/>
              </a:rPr>
              <a:t> &lt; N; </a:t>
            </a:r>
            <a:r>
              <a:rPr lang="en-US" altLang="zh-TW" sz="2000" b="0" err="1">
                <a:latin typeface="Consolas" panose="020B0609020204030204" pitchFamily="49" charset="0"/>
              </a:rPr>
              <a:t>i</a:t>
            </a:r>
            <a:r>
              <a:rPr lang="en-US" altLang="zh-TW" sz="2000" b="0">
                <a:latin typeface="Consolas" panose="020B0609020204030204" pitchFamily="49" charset="0"/>
              </a:rPr>
              <a:t>++) {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latin typeface="Consolas" panose="020B0609020204030204" pitchFamily="49" charset="0"/>
              </a:rPr>
              <a:t>        </a:t>
            </a:r>
            <a:r>
              <a:rPr kumimoji="0" lang="en-US" altLang="zh-TW" sz="2000" b="0" err="1">
                <a:highlight>
                  <a:srgbClr val="00FF00"/>
                </a:highlight>
                <a:latin typeface="Consolas" panose="020B0609020204030204" pitchFamily="49" charset="0"/>
              </a:rPr>
              <a:t>fscanf</a:t>
            </a:r>
            <a:r>
              <a:rPr kumimoji="0" lang="en-US" altLang="zh-TW" sz="2000" b="0">
                <a:highlight>
                  <a:srgbClr val="00FF00"/>
                </a:highlight>
                <a:latin typeface="Consolas" panose="020B0609020204030204" pitchFamily="49" charset="0"/>
              </a:rPr>
              <a:t>(fin, </a:t>
            </a:r>
            <a:r>
              <a:rPr lang="en-US" altLang="zh-TW" sz="2000" b="0">
                <a:solidFill>
                  <a:srgbClr val="0099FF"/>
                </a:solidFill>
                <a:highlight>
                  <a:srgbClr val="00FF00"/>
                </a:highlight>
                <a:latin typeface="Consolas" panose="020B0609020204030204" pitchFamily="49" charset="0"/>
              </a:rPr>
              <a:t>"%</a:t>
            </a:r>
            <a:r>
              <a:rPr lang="en-US" altLang="zh-TW" sz="2000" b="0" err="1">
                <a:solidFill>
                  <a:srgbClr val="0099FF"/>
                </a:solidFill>
                <a:highlight>
                  <a:srgbClr val="00FF00"/>
                </a:highlight>
                <a:latin typeface="Consolas" panose="020B0609020204030204" pitchFamily="49" charset="0"/>
              </a:rPr>
              <a:t>d%d</a:t>
            </a:r>
            <a:r>
              <a:rPr lang="en-US" altLang="zh-TW" sz="2000" b="0">
                <a:solidFill>
                  <a:srgbClr val="0099FF"/>
                </a:solidFill>
                <a:highlight>
                  <a:srgbClr val="00FF00"/>
                </a:highlight>
                <a:latin typeface="Consolas" panose="020B0609020204030204" pitchFamily="49" charset="0"/>
              </a:rPr>
              <a:t>"</a:t>
            </a:r>
            <a:r>
              <a:rPr kumimoji="0" lang="en-US" altLang="zh-TW" sz="2000" b="0">
                <a:highlight>
                  <a:srgbClr val="00FF00"/>
                </a:highlight>
                <a:latin typeface="Consolas" panose="020B0609020204030204" pitchFamily="49" charset="0"/>
              </a:rPr>
              <a:t>, &amp;num1, &amp;num2);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latin typeface="Consolas" panose="020B0609020204030204" pitchFamily="49" charset="0"/>
              </a:rPr>
              <a:t>        </a:t>
            </a:r>
            <a:r>
              <a:rPr lang="en-US" altLang="zh-TW" sz="2000" b="0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en-US" altLang="zh-TW" sz="2000" b="0">
                <a:latin typeface="Consolas" panose="020B0609020204030204" pitchFamily="49" charset="0"/>
              </a:rPr>
              <a:t> (num1 &gt; num2)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latin typeface="Consolas" panose="020B0609020204030204" pitchFamily="49" charset="0"/>
              </a:rPr>
              <a:t>            max = num1;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latin typeface="Consolas" panose="020B0609020204030204" pitchFamily="49" charset="0"/>
              </a:rPr>
              <a:t>        </a:t>
            </a:r>
            <a:r>
              <a:rPr lang="en-US" altLang="zh-TW" sz="2000" b="0">
                <a:solidFill>
                  <a:srgbClr val="0000FF"/>
                </a:solidFill>
                <a:latin typeface="Consolas" panose="020B0609020204030204" pitchFamily="49" charset="0"/>
              </a:rPr>
              <a:t>else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latin typeface="Consolas" panose="020B0609020204030204" pitchFamily="49" charset="0"/>
              </a:rPr>
              <a:t>            max = num2;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latin typeface="Consolas" panose="020B0609020204030204" pitchFamily="49" charset="0"/>
              </a:rPr>
              <a:t>        </a:t>
            </a:r>
            <a:r>
              <a:rPr kumimoji="0" lang="en-US" altLang="zh-TW" sz="2000" b="0" err="1">
                <a:highlight>
                  <a:srgbClr val="FFFF00"/>
                </a:highlight>
                <a:latin typeface="Consolas" panose="020B0609020204030204" pitchFamily="49" charset="0"/>
              </a:rPr>
              <a:t>fprintf</a:t>
            </a:r>
            <a:r>
              <a:rPr kumimoji="0" lang="en-US" altLang="zh-TW" sz="2000" b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kumimoji="0" lang="en-US" altLang="zh-TW" sz="2000" b="0" err="1">
                <a:highlight>
                  <a:srgbClr val="FFFF00"/>
                </a:highlight>
                <a:latin typeface="Consolas" panose="020B0609020204030204" pitchFamily="49" charset="0"/>
              </a:rPr>
              <a:t>fout</a:t>
            </a:r>
            <a:r>
              <a:rPr kumimoji="0" lang="en-US" altLang="zh-TW" sz="2000" b="0">
                <a:highlight>
                  <a:srgbClr val="FFFF00"/>
                </a:highlight>
                <a:latin typeface="Consolas" panose="020B0609020204030204" pitchFamily="49" charset="0"/>
              </a:rPr>
              <a:t>, </a:t>
            </a:r>
            <a:r>
              <a:rPr lang="en-US" altLang="zh-TW" sz="2000" b="0">
                <a:solidFill>
                  <a:srgbClr val="0099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"%d\n"</a:t>
            </a:r>
            <a:r>
              <a:rPr kumimoji="0" lang="en-US" altLang="zh-TW" sz="2000" b="0">
                <a:highlight>
                  <a:srgbClr val="FFFF00"/>
                </a:highlight>
                <a:latin typeface="Consolas" panose="020B0609020204030204" pitchFamily="49" charset="0"/>
              </a:rPr>
              <a:t>, max);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latin typeface="Consolas" panose="020B0609020204030204" pitchFamily="49" charset="0"/>
              </a:rPr>
              <a:t>    }</a:t>
            </a:r>
            <a:r>
              <a:rPr lang="en-US" altLang="zh-TW" sz="2000" b="0">
                <a:latin typeface="Consolas" panose="020B0609020204030204" pitchFamily="49" charset="0"/>
              </a:rPr>
              <a:t>    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latin typeface="Consolas" panose="020B0609020204030204" pitchFamily="49" charset="0"/>
              </a:rPr>
              <a:t>    </a:t>
            </a:r>
            <a:r>
              <a:rPr lang="en-US" altLang="zh-TW" sz="2000" b="0" err="1">
                <a:highlight>
                  <a:srgbClr val="00FF00"/>
                </a:highlight>
                <a:latin typeface="Consolas" panose="020B0609020204030204" pitchFamily="49" charset="0"/>
              </a:rPr>
              <a:t>fclose</a:t>
            </a:r>
            <a:r>
              <a:rPr lang="en-US" altLang="zh-TW" sz="2000" b="0">
                <a:highlight>
                  <a:srgbClr val="00FF00"/>
                </a:highlight>
                <a:latin typeface="Consolas" panose="020B0609020204030204" pitchFamily="49" charset="0"/>
              </a:rPr>
              <a:t>(fin);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latin typeface="Consolas" panose="020B0609020204030204" pitchFamily="49" charset="0"/>
              </a:rPr>
              <a:t>    </a:t>
            </a:r>
            <a:r>
              <a:rPr lang="en-US" altLang="zh-TW" sz="2000" b="0" err="1">
                <a:highlight>
                  <a:srgbClr val="FFFF00"/>
                </a:highlight>
                <a:latin typeface="Consolas" panose="020B0609020204030204" pitchFamily="49" charset="0"/>
              </a:rPr>
              <a:t>fclose</a:t>
            </a:r>
            <a:r>
              <a:rPr lang="en-US" altLang="zh-TW" sz="2000" b="0"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altLang="zh-TW" sz="2000" b="0" err="1">
                <a:highlight>
                  <a:srgbClr val="FFFF00"/>
                </a:highlight>
                <a:latin typeface="Consolas" panose="020B0609020204030204" pitchFamily="49" charset="0"/>
              </a:rPr>
              <a:t>fout</a:t>
            </a:r>
            <a:r>
              <a:rPr lang="en-US" altLang="zh-TW" sz="2000" b="0">
                <a:highlight>
                  <a:srgbClr val="FFFF00"/>
                </a:highlight>
                <a:latin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0000FF"/>
                </a:solidFill>
                <a:latin typeface="Consolas" panose="020B0609020204030204" pitchFamily="49" charset="0"/>
              </a:rPr>
              <a:t>    return</a:t>
            </a:r>
            <a:r>
              <a:rPr kumimoji="0" lang="en-US" altLang="zh-TW" sz="2000" b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kumimoji="0" lang="en-US" altLang="zh-TW" sz="2000" b="0">
                <a:solidFill>
                  <a:srgbClr val="0099FF"/>
                </a:solidFill>
                <a:latin typeface="Consolas" panose="020B0609020204030204" pitchFamily="49" charset="0"/>
              </a:rPr>
              <a:t>0</a:t>
            </a:r>
            <a:r>
              <a:rPr kumimoji="0" lang="en-US" altLang="zh-TW" sz="2000" b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108547" name="Rectangle 3"/>
          <p:cNvSpPr>
            <a:spLocks noChangeArrowheads="1"/>
          </p:cNvSpPr>
          <p:nvPr/>
        </p:nvSpPr>
        <p:spPr bwMode="auto">
          <a:xfrm>
            <a:off x="4763" y="609600"/>
            <a:ext cx="461962" cy="5791200"/>
          </a:xfrm>
          <a:prstGeom prst="rect">
            <a:avLst/>
          </a:prstGeom>
          <a:solidFill>
            <a:srgbClr val="FFFF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Ins="0"/>
          <a:lstStyle>
            <a:lvl1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1pPr>
            <a:lvl2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2pPr>
            <a:lvl3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3pPr>
            <a:lvl4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4pPr>
            <a:lvl5pPr defTabSz="463550" eaLnBrk="0" hangingPunct="0"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5pPr>
            <a:lvl6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6pPr>
            <a:lvl7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7pPr>
            <a:lvl8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8pPr>
            <a:lvl9pPr defTabSz="463550" eaLnBrk="0" fontAlgn="base" hangingPunct="0">
              <a:spcBef>
                <a:spcPct val="0"/>
              </a:spcBef>
              <a:spcAft>
                <a:spcPct val="0"/>
              </a:spcAft>
              <a:tabLst>
                <a:tab pos="0" algn="l"/>
              </a:tabLst>
              <a:defRPr b="1">
                <a:solidFill>
                  <a:schemeClr val="tx1"/>
                </a:solidFill>
                <a:latin typeface="Arial" charset="0"/>
                <a:cs typeface="Times New Roman" pitchFamily="18" charset="0"/>
              </a:defRPr>
            </a:lvl9pPr>
          </a:lstStyle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17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18</a:t>
            </a:r>
            <a:endParaRPr kumimoji="0" lang="en-US" altLang="zh-TW" sz="2000" b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19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20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21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22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23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24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25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26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27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28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29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30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31</a:t>
            </a:r>
          </a:p>
          <a:p>
            <a:pPr eaLnBrk="1" hangingPunct="1">
              <a:lnSpc>
                <a:spcPct val="110000"/>
              </a:lnSpc>
            </a:pPr>
            <a:r>
              <a:rPr kumimoji="0"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32</a:t>
            </a:r>
          </a:p>
          <a:p>
            <a:pPr eaLnBrk="1" hangingPunct="1">
              <a:lnSpc>
                <a:spcPct val="110000"/>
              </a:lnSpc>
            </a:pPr>
            <a:r>
              <a:rPr lang="en-US" altLang="zh-TW" sz="2000" b="0">
                <a:solidFill>
                  <a:srgbClr val="5F5F5F"/>
                </a:solidFill>
                <a:latin typeface="Consolas" panose="020B0609020204030204" pitchFamily="49" charset="0"/>
              </a:rPr>
              <a:t>33</a:t>
            </a:r>
            <a:endParaRPr kumimoji="0" lang="en-US" altLang="zh-TW" sz="2000" b="0">
              <a:solidFill>
                <a:srgbClr val="5F5F5F"/>
              </a:solidFill>
              <a:latin typeface="Consolas" panose="020B0609020204030204" pitchFamily="49" charset="0"/>
            </a:endParaRPr>
          </a:p>
        </p:txBody>
      </p:sp>
      <p:sp>
        <p:nvSpPr>
          <p:cNvPr id="6" name="Rectangle 2"/>
          <p:cNvSpPr>
            <a:spLocks noGrp="1" noChangeArrowheads="1"/>
          </p:cNvSpPr>
          <p:nvPr>
            <p:ph type="title"/>
          </p:nvPr>
        </p:nvSpPr>
        <p:spPr>
          <a:xfrm>
            <a:off x="70338" y="76200"/>
            <a:ext cx="8921262" cy="457200"/>
          </a:xfrm>
        </p:spPr>
        <p:txBody>
          <a:bodyPr>
            <a:noAutofit/>
          </a:bodyPr>
          <a:lstStyle/>
          <a:p>
            <a:r>
              <a:rPr lang="en-US" altLang="zh-TW" sz="2800"/>
              <a:t>Example #6: Dealing with multiple files in a program.</a:t>
            </a:r>
            <a:endParaRPr lang="en-US" altLang="zh-TW" sz="1800"/>
          </a:p>
        </p:txBody>
      </p:sp>
    </p:spTree>
    <p:extLst>
      <p:ext uri="{BB962C8B-B14F-4D97-AF65-F5344CB8AC3E}">
        <p14:creationId xmlns:p14="http://schemas.microsoft.com/office/powerpoint/2010/main" val="190952018"/>
      </p:ext>
    </p:extLst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C7709-8093-4ED7-963D-6E92D5798EED}" type="slidenum">
              <a:rPr lang="zh-TW" altLang="en-US"/>
              <a:pPr/>
              <a:t>24</a:t>
            </a:fld>
            <a:endParaRPr lang="en-US" altLang="zh-TW"/>
          </a:p>
        </p:txBody>
      </p:sp>
      <p:sp>
        <p:nvSpPr>
          <p:cNvPr id="1187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/>
              <a:t>Summary</a:t>
            </a:r>
          </a:p>
        </p:txBody>
      </p:sp>
      <p:sp>
        <p:nvSpPr>
          <p:cNvPr id="1187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TW">
                <a:ea typeface="新細明體" pitchFamily="18" charset="-120"/>
              </a:rPr>
              <a:t>Steps for performing File I/O</a:t>
            </a:r>
          </a:p>
          <a:p>
            <a:pPr lvl="1"/>
            <a:r>
              <a:rPr lang="en-US" altLang="zh-TW">
                <a:ea typeface="新細明體" pitchFamily="18" charset="-120"/>
              </a:rPr>
              <a:t>Open a file using </a:t>
            </a:r>
            <a:r>
              <a:rPr lang="en-US" altLang="zh-TW" err="1">
                <a:ea typeface="新細明體" pitchFamily="18" charset="-120"/>
              </a:rPr>
              <a:t>fopen</a:t>
            </a:r>
            <a:r>
              <a:rPr lang="en-US" altLang="zh-TW">
                <a:ea typeface="新細明體" pitchFamily="18" charset="-120"/>
              </a:rPr>
              <a:t>()</a:t>
            </a:r>
          </a:p>
          <a:p>
            <a:pPr lvl="1"/>
            <a:r>
              <a:rPr lang="en-US" altLang="zh-TW">
                <a:ea typeface="新細明體" pitchFamily="18" charset="-120"/>
              </a:rPr>
              <a:t>Perform I/O through a file stream </a:t>
            </a:r>
          </a:p>
          <a:p>
            <a:pPr lvl="1"/>
            <a:r>
              <a:rPr lang="en-US" altLang="zh-TW">
                <a:ea typeface="新細明體" pitchFamily="18" charset="-120"/>
              </a:rPr>
              <a:t>When done, close the file</a:t>
            </a:r>
          </a:p>
          <a:p>
            <a:pPr lvl="1"/>
            <a:endParaRPr lang="en-US" altLang="zh-TW">
              <a:ea typeface="新細明體" pitchFamily="18" charset="-120"/>
            </a:endParaRPr>
          </a:p>
          <a:p>
            <a:r>
              <a:rPr lang="en-US" altLang="zh-TW">
                <a:ea typeface="新細明體" pitchFamily="18" charset="-120"/>
              </a:rPr>
              <a:t>How to check if a file is opened successfully</a:t>
            </a:r>
          </a:p>
          <a:p>
            <a:endParaRPr lang="en-US" altLang="zh-TW">
              <a:ea typeface="新細明體" pitchFamily="18" charset="-120"/>
            </a:endParaRPr>
          </a:p>
          <a:p>
            <a:r>
              <a:rPr lang="en-US" altLang="zh-TW">
                <a:ea typeface="新細明體" pitchFamily="18" charset="-120"/>
              </a:rPr>
              <a:t>Using </a:t>
            </a:r>
            <a:r>
              <a:rPr lang="en-US" altLang="zh-TW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fscanf</a:t>
            </a:r>
            <a:r>
              <a:rPr lang="en-US" altLang="zh-TW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()</a:t>
            </a:r>
            <a:r>
              <a:rPr lang="en-US" altLang="zh-TW">
                <a:ea typeface="新細明體" pitchFamily="18" charset="-120"/>
              </a:rPr>
              <a:t> and </a:t>
            </a:r>
            <a:r>
              <a:rPr lang="en-US" altLang="zh-TW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fprintf</a:t>
            </a:r>
            <a:r>
              <a:rPr lang="en-US" altLang="zh-TW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()</a:t>
            </a:r>
            <a:r>
              <a:rPr lang="en-US" altLang="zh-TW">
                <a:ea typeface="新細明體" pitchFamily="18" charset="-120"/>
              </a:rPr>
              <a:t> to read/write numbers.</a:t>
            </a:r>
          </a:p>
          <a:p>
            <a:endParaRPr lang="en-US" altLang="zh-TW">
              <a:ea typeface="新細明體" pitchFamily="18" charset="-120"/>
            </a:endParaRPr>
          </a:p>
          <a:p>
            <a:r>
              <a:rPr lang="en-US" altLang="zh-TW">
                <a:ea typeface="新細明體" pitchFamily="18" charset="-120"/>
              </a:rPr>
              <a:t>How to check if </a:t>
            </a:r>
            <a:r>
              <a:rPr lang="en-US" altLang="zh-TW" err="1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fscanf</a:t>
            </a:r>
            <a:r>
              <a:rPr lang="en-US" altLang="zh-TW">
                <a:latin typeface="Consolas" panose="020B0609020204030204" pitchFamily="49" charset="0"/>
                <a:ea typeface="新細明體" pitchFamily="18" charset="-120"/>
                <a:cs typeface="Consolas" panose="020B0609020204030204" pitchFamily="49" charset="0"/>
              </a:rPr>
              <a:t>()</a:t>
            </a:r>
            <a:r>
              <a:rPr lang="en-US" altLang="zh-TW">
                <a:ea typeface="新細明體" pitchFamily="18" charset="-120"/>
              </a:rPr>
              <a:t> is reading enough data from the file</a:t>
            </a:r>
          </a:p>
          <a:p>
            <a:pPr marL="533400" indent="-533400">
              <a:buFont typeface="Wingdings" pitchFamily="2" charset="2"/>
              <a:buAutoNum type="arabicPeriod"/>
            </a:pPr>
            <a:endParaRPr lang="en-US" altLang="zh-TW" sz="2400"/>
          </a:p>
        </p:txBody>
      </p:sp>
    </p:spTree>
    <p:extLst>
      <p:ext uri="{BB962C8B-B14F-4D97-AF65-F5344CB8AC3E}">
        <p14:creationId xmlns:p14="http://schemas.microsoft.com/office/powerpoint/2010/main" val="2369003110"/>
      </p:ext>
    </p:extLst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Reading Assignment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C: How to Program, 8</a:t>
            </a:r>
            <a:r>
              <a:rPr lang="en-US" baseline="30000"/>
              <a:t>th</a:t>
            </a:r>
            <a:r>
              <a:rPr lang="en-US"/>
              <a:t> </a:t>
            </a:r>
            <a:r>
              <a:rPr lang="en-US" err="1"/>
              <a:t>ed</a:t>
            </a:r>
            <a:r>
              <a:rPr lang="en-US"/>
              <a:t>, </a:t>
            </a:r>
            <a:r>
              <a:rPr lang="en-US" err="1"/>
              <a:t>Deitel</a:t>
            </a:r>
            <a:r>
              <a:rPr lang="en-US"/>
              <a:t> and </a:t>
            </a:r>
            <a:r>
              <a:rPr lang="en-US" err="1"/>
              <a:t>Deitel</a:t>
            </a:r>
            <a:endParaRPr lang="en-US"/>
          </a:p>
          <a:p>
            <a:r>
              <a:rPr lang="en-US"/>
              <a:t>Chapter 11 C File Processing</a:t>
            </a:r>
          </a:p>
          <a:p>
            <a:pPr lvl="1"/>
            <a:r>
              <a:rPr lang="en-US"/>
              <a:t>Sections 11.1 – 11.2: File Concepts</a:t>
            </a:r>
          </a:p>
          <a:p>
            <a:pPr lvl="1"/>
            <a:r>
              <a:rPr lang="en-US"/>
              <a:t>Sections 11.3: Basic File Operations</a:t>
            </a:r>
          </a:p>
          <a:p>
            <a:pPr lvl="1"/>
            <a:endParaRPr lang="en-US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092020"/>
      </p:ext>
    </p:extLst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pitchFamily="18" charset="-120"/>
              </a:defRPr>
            </a:lvl9pPr>
          </a:lstStyle>
          <a:p>
            <a:pPr eaLnBrk="1" hangingPunct="1"/>
            <a:fld id="{D57D4AF3-C87A-4502-BF52-E55236C70EF1}" type="slidenum">
              <a:rPr kumimoji="0" lang="en-US" altLang="zh-TW" smtClean="0">
                <a:latin typeface="Calibri" panose="020F0502020204030204" pitchFamily="34" charset="0"/>
              </a:rPr>
              <a:pPr eaLnBrk="1" hangingPunct="1"/>
              <a:t>26</a:t>
            </a:fld>
            <a:endParaRPr kumimoji="0" lang="en-US" altLang="zh-TW">
              <a:latin typeface="Calibri" panose="020F0502020204030204" pitchFamily="34" charset="0"/>
            </a:endParaRPr>
          </a:p>
        </p:txBody>
      </p:sp>
      <p:sp>
        <p:nvSpPr>
          <p:cNvPr id="3277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zh-TW" sz="3400">
                <a:solidFill>
                  <a:schemeClr val="tx1"/>
                </a:solidFill>
              </a:rPr>
              <a:t>Appendix: Special streams: </a:t>
            </a:r>
            <a:r>
              <a:rPr lang="en-US" altLang="zh-TW" sz="3400" b="1" err="1">
                <a:solidFill>
                  <a:srgbClr val="0070C0"/>
                </a:solidFill>
                <a:latin typeface="Consolas" panose="020B0609020204030204" pitchFamily="49" charset="0"/>
              </a:rPr>
              <a:t>stdin</a:t>
            </a:r>
            <a:r>
              <a:rPr lang="en-US" altLang="zh-TW" sz="3400">
                <a:solidFill>
                  <a:srgbClr val="0070C0"/>
                </a:solidFill>
              </a:rPr>
              <a:t> </a:t>
            </a:r>
            <a:r>
              <a:rPr lang="en-US" altLang="zh-TW" sz="3400"/>
              <a:t>and </a:t>
            </a:r>
            <a:r>
              <a:rPr lang="en-US" altLang="zh-TW" sz="3400" b="1" err="1">
                <a:solidFill>
                  <a:srgbClr val="0070C0"/>
                </a:solidFill>
                <a:latin typeface="Consolas" panose="020B0609020204030204" pitchFamily="49" charset="0"/>
              </a:rPr>
              <a:t>stdout</a:t>
            </a:r>
            <a:endParaRPr lang="en-US" altLang="zh-TW" sz="3400">
              <a:solidFill>
                <a:srgbClr val="0070C0"/>
              </a:solidFill>
            </a:endParaRPr>
          </a:p>
        </p:txBody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The special streams </a:t>
            </a:r>
            <a:r>
              <a:rPr lang="en-US" altLang="zh-TW" b="1" err="1">
                <a:solidFill>
                  <a:srgbClr val="0070C0"/>
                </a:solidFill>
                <a:latin typeface="Consolas" panose="020B0609020204030204" pitchFamily="49" charset="0"/>
              </a:rPr>
              <a:t>stdin</a:t>
            </a:r>
            <a:r>
              <a:rPr lang="en-US" altLang="zh-TW">
                <a:solidFill>
                  <a:srgbClr val="0070C0"/>
                </a:solidFill>
              </a:rPr>
              <a:t> </a:t>
            </a:r>
            <a:r>
              <a:rPr lang="en-US" altLang="zh-TW"/>
              <a:t>and </a:t>
            </a:r>
            <a:r>
              <a:rPr lang="en-US" altLang="zh-TW" b="1" err="1">
                <a:solidFill>
                  <a:srgbClr val="0070C0"/>
                </a:solidFill>
                <a:latin typeface="Consolas" panose="020B0609020204030204" pitchFamily="49" charset="0"/>
              </a:rPr>
              <a:t>stdout</a:t>
            </a:r>
            <a:r>
              <a:rPr lang="en-US" altLang="zh-TW"/>
              <a:t> are predefined and pre-opened in a C program for standard (console) I/O.</a:t>
            </a:r>
          </a:p>
          <a:p>
            <a:pPr lvl="4" eaLnBrk="1" hangingPunct="1"/>
            <a:endParaRPr lang="en-US" altLang="zh-TW"/>
          </a:p>
          <a:p>
            <a:pPr lvl="1" eaLnBrk="1" hangingPunct="1"/>
            <a:r>
              <a:rPr lang="en-US" altLang="zh-TW" sz="2800" b="1" err="1">
                <a:solidFill>
                  <a:srgbClr val="0000FF"/>
                </a:solidFill>
                <a:latin typeface="Consolas" panose="020B0609020204030204" pitchFamily="49" charset="0"/>
              </a:rPr>
              <a:t>fprintf</a:t>
            </a:r>
            <a:r>
              <a:rPr lang="en-US" altLang="zh-TW" sz="2800" b="1">
                <a:solidFill>
                  <a:srgbClr val="0000FF"/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800" b="1" err="1">
                <a:solidFill>
                  <a:srgbClr val="FF0000"/>
                </a:solidFill>
                <a:latin typeface="Consolas" panose="020B0609020204030204" pitchFamily="49" charset="0"/>
              </a:rPr>
              <a:t>stdout</a:t>
            </a:r>
            <a:r>
              <a:rPr lang="en-US" altLang="zh-TW" sz="2800" b="1">
                <a:solidFill>
                  <a:srgbClr val="0000FF"/>
                </a:solidFill>
                <a:latin typeface="Consolas" panose="020B0609020204030204" pitchFamily="49" charset="0"/>
              </a:rPr>
              <a:t>, …)</a:t>
            </a:r>
            <a:r>
              <a:rPr lang="en-US" altLang="zh-TW" sz="2800"/>
              <a:t> is equivalent to </a:t>
            </a:r>
            <a:r>
              <a:rPr lang="en-US" altLang="zh-TW" sz="2800" b="1" err="1">
                <a:solidFill>
                  <a:srgbClr val="0000FF"/>
                </a:solidFill>
                <a:latin typeface="Consolas" panose="020B0609020204030204" pitchFamily="49" charset="0"/>
              </a:rPr>
              <a:t>printf</a:t>
            </a:r>
            <a:r>
              <a:rPr lang="en-US" altLang="zh-TW" sz="2800" b="1">
                <a:solidFill>
                  <a:srgbClr val="0000FF"/>
                </a:solidFill>
                <a:latin typeface="Consolas" panose="020B0609020204030204" pitchFamily="49" charset="0"/>
              </a:rPr>
              <a:t>(…)</a:t>
            </a:r>
          </a:p>
          <a:p>
            <a:pPr lvl="4" eaLnBrk="1" hangingPunct="1"/>
            <a:endParaRPr lang="en-US" altLang="zh-TW" sz="2100" b="1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lvl="1" eaLnBrk="1" hangingPunct="1"/>
            <a:r>
              <a:rPr lang="en-US" altLang="zh-TW" sz="2800" b="1" err="1">
                <a:solidFill>
                  <a:srgbClr val="0000FF"/>
                </a:solidFill>
                <a:latin typeface="Consolas" panose="020B0609020204030204" pitchFamily="49" charset="0"/>
              </a:rPr>
              <a:t>fscanf</a:t>
            </a:r>
            <a:r>
              <a:rPr lang="en-US" altLang="zh-TW" sz="2800" b="1">
                <a:solidFill>
                  <a:srgbClr val="0000FF"/>
                </a:solidFill>
                <a:latin typeface="Consolas" panose="020B0609020204030204" pitchFamily="49" charset="0"/>
              </a:rPr>
              <a:t>(</a:t>
            </a:r>
            <a:r>
              <a:rPr lang="en-US" altLang="zh-TW" sz="2800" b="1" err="1">
                <a:solidFill>
                  <a:srgbClr val="FF0000"/>
                </a:solidFill>
                <a:latin typeface="Consolas" panose="020B0609020204030204" pitchFamily="49" charset="0"/>
              </a:rPr>
              <a:t>stdin</a:t>
            </a:r>
            <a:r>
              <a:rPr lang="en-US" altLang="zh-TW" sz="2800" b="1">
                <a:solidFill>
                  <a:srgbClr val="0000FF"/>
                </a:solidFill>
                <a:latin typeface="Consolas" panose="020B0609020204030204" pitchFamily="49" charset="0"/>
              </a:rPr>
              <a:t>, …)</a:t>
            </a:r>
            <a:r>
              <a:rPr lang="en-US" altLang="zh-TW" sz="2800"/>
              <a:t> is equivalent to </a:t>
            </a:r>
            <a:r>
              <a:rPr lang="en-US" altLang="zh-TW" sz="2800" b="1" err="1">
                <a:solidFill>
                  <a:srgbClr val="0000FF"/>
                </a:solidFill>
                <a:latin typeface="Consolas" panose="020B0609020204030204" pitchFamily="49" charset="0"/>
              </a:rPr>
              <a:t>scanf</a:t>
            </a:r>
            <a:r>
              <a:rPr lang="en-US" altLang="zh-TW" sz="2800" b="1">
                <a:solidFill>
                  <a:srgbClr val="0000FF"/>
                </a:solidFill>
                <a:latin typeface="Consolas" panose="020B0609020204030204" pitchFamily="49" charset="0"/>
              </a:rPr>
              <a:t>(…)</a:t>
            </a:r>
            <a:endParaRPr lang="en-US" altLang="zh-TW" sz="2800"/>
          </a:p>
        </p:txBody>
      </p:sp>
    </p:spTree>
    <p:extLst>
      <p:ext uri="{BB962C8B-B14F-4D97-AF65-F5344CB8AC3E}">
        <p14:creationId xmlns:p14="http://schemas.microsoft.com/office/powerpoint/2010/main" val="2349464709"/>
      </p:ext>
    </p:extLst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338" y="76200"/>
            <a:ext cx="8921262" cy="838200"/>
          </a:xfrm>
        </p:spPr>
        <p:txBody>
          <a:bodyPr>
            <a:normAutofit/>
          </a:bodyPr>
          <a:lstStyle/>
          <a:p>
            <a:r>
              <a:rPr lang="en-US" sz="3600"/>
              <a:t>Appendix: About filenames 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/>
              <a:t>On Windows/</a:t>
            </a:r>
            <a:r>
              <a:rPr lang="en-US" sz="2400" err="1"/>
              <a:t>MacOS</a:t>
            </a:r>
            <a:r>
              <a:rPr lang="en-US" sz="2400"/>
              <a:t>, the file extension of known file types is hidden by default.</a:t>
            </a:r>
          </a:p>
          <a:p>
            <a:pPr lvl="1"/>
            <a:r>
              <a:rPr lang="en-US" sz="2000"/>
              <a:t>A file named "input.txt" may only shown in the "Windows Explorer" as "input".</a:t>
            </a:r>
            <a:endParaRPr lang="en-US" sz="1600"/>
          </a:p>
          <a:p>
            <a:endParaRPr lang="en-US" sz="2400"/>
          </a:p>
          <a:p>
            <a:r>
              <a:rPr lang="en-US" sz="2400"/>
              <a:t>When we create a sample data file using Notepad, Notepad will automatically append the ".txt" extension to our file; we do not need to enter ".txt" when giving a file name in Notepad.</a:t>
            </a:r>
          </a:p>
          <a:p>
            <a:endParaRPr lang="en-US" sz="2400"/>
          </a:p>
          <a:p>
            <a:r>
              <a:rPr lang="en-US" sz="2400"/>
              <a:t>If we use Code::Blocks, when we execute our program by clicking “Run”, the default "working folder" of our program is the one with the .c source file</a:t>
            </a:r>
          </a:p>
          <a:p>
            <a:pPr lvl="1"/>
            <a:r>
              <a:rPr lang="en-US" sz="2000"/>
              <a:t>The input and output files should be located in this folder</a:t>
            </a:r>
            <a:endParaRPr lang="en-US" sz="2000">
              <a:solidFill>
                <a:srgbClr val="0070C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208864"/>
      </p:ext>
    </p:extLst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338" y="76200"/>
            <a:ext cx="8921262" cy="838200"/>
          </a:xfrm>
        </p:spPr>
        <p:txBody>
          <a:bodyPr/>
          <a:lstStyle/>
          <a:p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Appendix: </a:t>
            </a:r>
            <a:r>
              <a:rPr lang="en-US" err="1">
                <a:latin typeface="Consolas" panose="020B0609020204030204" pitchFamily="49" charset="0"/>
                <a:cs typeface="Consolas" panose="020B0609020204030204" pitchFamily="49" charset="0"/>
              </a:rPr>
              <a:t>fopen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338" y="1604665"/>
            <a:ext cx="8932985" cy="4567535"/>
          </a:xfrm>
        </p:spPr>
        <p:txBody>
          <a:bodyPr>
            <a:normAutofit fontScale="92500" lnSpcReduction="10000"/>
          </a:bodyPr>
          <a:lstStyle/>
          <a:p>
            <a:r>
              <a:rPr lang="en-US" sz="3000"/>
              <a:t>Open the file with the name specified in </a:t>
            </a:r>
            <a:r>
              <a:rPr lang="en-US" sz="3000" b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filename</a:t>
            </a:r>
            <a:r>
              <a:rPr lang="en-US" sz="3000"/>
              <a:t>.</a:t>
            </a:r>
          </a:p>
          <a:p>
            <a:r>
              <a:rPr lang="en-US" sz="3000" b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mode</a:t>
            </a:r>
            <a:r>
              <a:rPr lang="en-US" sz="3000"/>
              <a:t> specifies how the file should be opened</a:t>
            </a:r>
          </a:p>
          <a:p>
            <a:pPr lvl="1"/>
            <a:r>
              <a:rPr lang="en-US" sz="2600"/>
              <a:t>If </a:t>
            </a:r>
            <a:r>
              <a:rPr lang="en-US" sz="2600">
                <a:latin typeface="Consolas" panose="020B0609020204030204" pitchFamily="49" charset="0"/>
                <a:cs typeface="Consolas" panose="020B0609020204030204" pitchFamily="49" charset="0"/>
              </a:rPr>
              <a:t>mode</a:t>
            </a:r>
            <a:r>
              <a:rPr lang="en-US" sz="2600"/>
              <a:t> is </a:t>
            </a:r>
            <a:r>
              <a:rPr lang="en-US" sz="2600" b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"r"</a:t>
            </a:r>
            <a:r>
              <a:rPr lang="en-US" sz="2600"/>
              <a:t>, the file is opened for input only.</a:t>
            </a:r>
          </a:p>
          <a:p>
            <a:pPr lvl="1"/>
            <a:r>
              <a:rPr lang="en-US" sz="2600"/>
              <a:t>If </a:t>
            </a:r>
            <a:r>
              <a:rPr lang="en-US" sz="2600">
                <a:latin typeface="Consolas" panose="020B0609020204030204" pitchFamily="49" charset="0"/>
                <a:cs typeface="Consolas" panose="020B0609020204030204" pitchFamily="49" charset="0"/>
              </a:rPr>
              <a:t>mode</a:t>
            </a:r>
            <a:r>
              <a:rPr lang="en-US" sz="2600"/>
              <a:t> is </a:t>
            </a:r>
            <a:r>
              <a:rPr lang="en-US" sz="2600" b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"w"</a:t>
            </a:r>
            <a:r>
              <a:rPr lang="en-US" sz="2600"/>
              <a:t>, the file is opened for output only. With this mode,</a:t>
            </a:r>
            <a:r>
              <a:rPr lang="en-US" sz="260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600" err="1">
                <a:latin typeface="Consolas" panose="020B0609020204030204" pitchFamily="49" charset="0"/>
                <a:cs typeface="Consolas" panose="020B0609020204030204" pitchFamily="49" charset="0"/>
              </a:rPr>
              <a:t>fopen</a:t>
            </a:r>
            <a:r>
              <a:rPr lang="en-US" sz="2600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en-US" sz="2600"/>
              <a:t> will always create a new file. If a file with the same name exists, the file will be replaced.</a:t>
            </a:r>
          </a:p>
          <a:p>
            <a:pPr lvl="1"/>
            <a:r>
              <a:rPr lang="en-US" sz="2600"/>
              <a:t>There are other modes, but those are less common modes.</a:t>
            </a:r>
          </a:p>
          <a:p>
            <a:pPr lvl="1"/>
            <a:endParaRPr lang="en-US" sz="2400"/>
          </a:p>
          <a:p>
            <a:pPr>
              <a:lnSpc>
                <a:spcPct val="90000"/>
              </a:lnSpc>
            </a:pPr>
            <a:r>
              <a:rPr lang="en-US" altLang="zh-TW" sz="3000"/>
              <a:t>The function returns a non-</a:t>
            </a:r>
            <a:r>
              <a:rPr lang="en-US" altLang="zh-TW" sz="300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NULL</a:t>
            </a:r>
            <a:r>
              <a:rPr lang="en-US" altLang="zh-TW" sz="3000"/>
              <a:t> pointer (of type </a:t>
            </a:r>
            <a:r>
              <a:rPr lang="en-US" altLang="zh-TW" sz="300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FILE</a:t>
            </a:r>
            <a:r>
              <a:rPr lang="en-US" altLang="zh-TW" sz="3000" b="1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altLang="zh-TW" sz="300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*</a:t>
            </a:r>
            <a:r>
              <a:rPr lang="en-US" altLang="zh-TW" sz="3000"/>
              <a:t>, usually referred to as a </a:t>
            </a:r>
            <a:r>
              <a:rPr lang="en-US" altLang="zh-TW" sz="3000" i="1">
                <a:solidFill>
                  <a:srgbClr val="990000"/>
                </a:solidFill>
              </a:rPr>
              <a:t>stream</a:t>
            </a:r>
            <a:r>
              <a:rPr lang="en-US" altLang="zh-TW" sz="3000"/>
              <a:t>) if the file can be opened successfully. Otherwise the function returns </a:t>
            </a:r>
            <a:r>
              <a:rPr lang="en-US" altLang="zh-TW" sz="3000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NULL</a:t>
            </a:r>
            <a:r>
              <a:rPr lang="en-US" altLang="zh-TW" sz="3000"/>
              <a:t>.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53237" y="1143000"/>
            <a:ext cx="883836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altLang="zh-TW" sz="2400" b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FILE * </a:t>
            </a:r>
            <a:r>
              <a:rPr lang="fr-FR" altLang="zh-TW" sz="2400" b="1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fopen</a:t>
            </a:r>
            <a:r>
              <a:rPr lang="fr-FR" altLang="zh-TW" sz="2400" b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(char *</a:t>
            </a:r>
            <a:r>
              <a:rPr lang="fr-FR" altLang="zh-TW" sz="2400" b="1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filename</a:t>
            </a:r>
            <a:r>
              <a:rPr lang="fr-FR" altLang="zh-TW" sz="2400" b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char *mode);</a:t>
            </a:r>
          </a:p>
        </p:txBody>
      </p:sp>
    </p:spTree>
    <p:extLst>
      <p:ext uri="{BB962C8B-B14F-4D97-AF65-F5344CB8AC3E}">
        <p14:creationId xmlns:p14="http://schemas.microsoft.com/office/powerpoint/2010/main" val="3991833874"/>
      </p:ext>
    </p:extLst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338" y="76200"/>
            <a:ext cx="8921262" cy="838200"/>
          </a:xfrm>
        </p:spPr>
        <p:txBody>
          <a:bodyPr/>
          <a:lstStyle/>
          <a:p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Appendix: </a:t>
            </a:r>
            <a:r>
              <a:rPr lang="en-US" err="1">
                <a:latin typeface="Consolas" panose="020B0609020204030204" pitchFamily="49" charset="0"/>
                <a:cs typeface="Consolas" panose="020B0609020204030204" pitchFamily="49" charset="0"/>
              </a:rPr>
              <a:t>fclose</a:t>
            </a:r>
            <a:r>
              <a:rPr lang="en-US"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0338" y="1752600"/>
            <a:ext cx="8932985" cy="4419600"/>
          </a:xfrm>
        </p:spPr>
        <p:txBody>
          <a:bodyPr>
            <a:normAutofit/>
          </a:bodyPr>
          <a:lstStyle/>
          <a:p>
            <a:r>
              <a:rPr lang="en-US" sz="2800"/>
              <a:t>Releases the "resource" associated the file stream.</a:t>
            </a:r>
          </a:p>
          <a:p>
            <a:endParaRPr lang="en-US" sz="2800"/>
          </a:p>
          <a:p>
            <a:r>
              <a:rPr lang="en-US" sz="2800"/>
              <a:t>If the file stream is an output stream, then the function also causes the buffered data associated with the stream </a:t>
            </a:r>
            <a:r>
              <a:rPr lang="en-US" sz="2800" b="1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fp</a:t>
            </a:r>
            <a:r>
              <a:rPr lang="en-US" sz="2800"/>
              <a:t> to be written to the disk.</a:t>
            </a:r>
          </a:p>
          <a:p>
            <a:endParaRPr lang="en-US" sz="2800"/>
          </a:p>
          <a:p>
            <a:r>
              <a:rPr lang="en-US" sz="2800"/>
              <a:t>Not closing a stream after use may cause loss of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2A0C27-9874-4A2B-82B4-36D1DE995B6F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153237" y="1143000"/>
            <a:ext cx="883836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altLang="zh-TW" sz="2400" b="1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fr-FR" altLang="zh-TW" sz="2400" b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fr-FR" altLang="zh-TW" sz="2400" b="1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fclose</a:t>
            </a:r>
            <a:r>
              <a:rPr lang="fr-FR" altLang="zh-TW" sz="2400" b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(FILE *</a:t>
            </a:r>
            <a:r>
              <a:rPr lang="fr-FR" altLang="zh-TW" sz="2400" b="1" err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fp</a:t>
            </a:r>
            <a:r>
              <a:rPr lang="fr-FR" altLang="zh-TW" sz="2400" b="1">
                <a:solidFill>
                  <a:srgbClr val="0070C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</p:txBody>
      </p:sp>
    </p:spTree>
    <p:extLst>
      <p:ext uri="{BB962C8B-B14F-4D97-AF65-F5344CB8AC3E}">
        <p14:creationId xmlns:p14="http://schemas.microsoft.com/office/powerpoint/2010/main" val="3704575027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EFAULTFONTSIZE" val="10"/>
  <p:tag name="DEFAULTWIDTH" val="418"/>
  <p:tag name="DEFAULTHEIGHT" val="315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3290</Words>
  <Application>Microsoft Office PowerPoint</Application>
  <PresentationFormat>如螢幕大小 (4:3)</PresentationFormat>
  <Paragraphs>662</Paragraphs>
  <Slides>29</Slides>
  <Notes>19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29</vt:i4>
      </vt:variant>
    </vt:vector>
  </HeadingPairs>
  <TitlesOfParts>
    <vt:vector size="36" baseType="lpstr">
      <vt:lpstr>Wingdings</vt:lpstr>
      <vt:lpstr>Consolas</vt:lpstr>
      <vt:lpstr>PMingLiU</vt:lpstr>
      <vt:lpstr>Calibri</vt:lpstr>
      <vt:lpstr>Arial</vt:lpstr>
      <vt:lpstr>Helvetica</vt:lpstr>
      <vt:lpstr>Office Theme</vt:lpstr>
      <vt:lpstr>File Input/Output </vt:lpstr>
      <vt:lpstr>Outline</vt:lpstr>
      <vt:lpstr>1. File I/O (Introduction)</vt:lpstr>
      <vt:lpstr>1.1. File I/O is similar to Console I/O</vt:lpstr>
      <vt:lpstr>1.2. Steps involving in File I/O</vt:lpstr>
      <vt:lpstr>Example #1: Reading data from a file</vt:lpstr>
      <vt:lpstr>Example #1: Reading data from a file</vt:lpstr>
      <vt:lpstr>Example #1: Reading data from a file</vt:lpstr>
      <vt:lpstr>Example #1: Reading data from a file</vt:lpstr>
      <vt:lpstr>Example #1: Reading data from a file</vt:lpstr>
      <vt:lpstr>Example #2: Checking if a file is opened successfully</vt:lpstr>
      <vt:lpstr>Example #2: Checking if a file is opened successfully</vt:lpstr>
      <vt:lpstr>fscanf()</vt:lpstr>
      <vt:lpstr>Example #3: Reading all integers from a file</vt:lpstr>
      <vt:lpstr>Example #3: Reading all integers from a file</vt:lpstr>
      <vt:lpstr>Example #4: Reading all numbers from a file</vt:lpstr>
      <vt:lpstr>Example #4: Reading all numbers from a file</vt:lpstr>
      <vt:lpstr>Example #5: Writing data to a file</vt:lpstr>
      <vt:lpstr>Example #5: Writing data to a file</vt:lpstr>
      <vt:lpstr>Example #5: Writing data to a file</vt:lpstr>
      <vt:lpstr>Example #6: Dealing with multiple files in a program.</vt:lpstr>
      <vt:lpstr>Example #6: Dealing with multiple files in a program.</vt:lpstr>
      <vt:lpstr>Example #6: Dealing with multiple files in a program.</vt:lpstr>
      <vt:lpstr>Summary</vt:lpstr>
      <vt:lpstr>Reading Assignment</vt:lpstr>
      <vt:lpstr>Appendix: Special streams: stdin and stdout</vt:lpstr>
      <vt:lpstr>Appendix: About filenames …</vt:lpstr>
      <vt:lpstr>Appendix: fopen()</vt:lpstr>
      <vt:lpstr>Appendix: fclose()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File Input/Output </dc:title>
  <cp:lastModifiedBy>Yim Pan Chui, Dr. (CSD)</cp:lastModifiedBy>
  <cp:revision>1</cp:revision>
  <dcterms:created xsi:type="dcterms:W3CDTF">2011-07-19T12:51:33Z</dcterms:created>
  <dcterms:modified xsi:type="dcterms:W3CDTF">2024-07-04T07:46:00Z</dcterms:modified>
</cp:coreProperties>
</file>